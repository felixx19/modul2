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6121400" cy="8642350"/>
  <p:notesSz cx="6121400" cy="8642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3" d="100"/>
          <a:sy n="63" d="100"/>
        </p:scale>
        <p:origin x="-798" y="-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9581" y="2679128"/>
            <a:ext cx="5208587" cy="18148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19162" y="4839716"/>
            <a:ext cx="4289425" cy="21605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6387" y="1987740"/>
            <a:ext cx="2665571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55791" y="1987740"/>
            <a:ext cx="2665571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6387" y="345694"/>
            <a:ext cx="5514975" cy="1382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387" y="1987740"/>
            <a:ext cx="5514975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83435" y="8037385"/>
            <a:ext cx="1960880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6387" y="8037385"/>
            <a:ext cx="1409382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11980" y="8037385"/>
            <a:ext cx="1409382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hasaweb.com/operator-increment-dan-decrement/" TargetMode="External"/><Relationship Id="rId2" Type="http://schemas.openxmlformats.org/officeDocument/2006/relationships/hyperlink" Target="https://bahasaweb.com/operator-perbandingan-php/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bahasaweb.com/operator-increment-dan-decrement/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9930" y="480059"/>
            <a:ext cx="4710430" cy="774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0" marR="1726564" indent="1270" algn="ctr">
              <a:lnSpc>
                <a:spcPct val="1435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BAB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VII </a:t>
            </a:r>
            <a:r>
              <a:rPr sz="1400" b="1" spc="-20" dirty="0">
                <a:latin typeface="Times New Roman"/>
                <a:cs typeface="Times New Roman"/>
              </a:rPr>
              <a:t>PERULANGAN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4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Deskripsi:</a:t>
            </a:r>
            <a:endParaRPr sz="1200">
              <a:latin typeface="Times New Roman"/>
              <a:cs typeface="Times New Roman"/>
            </a:endParaRPr>
          </a:p>
          <a:p>
            <a:pPr marL="13970" marR="5080" algn="just">
              <a:lnSpc>
                <a:spcPts val="2070"/>
              </a:lnSpc>
              <a:spcBef>
                <a:spcPts val="145"/>
              </a:spcBef>
            </a:pPr>
            <a:r>
              <a:rPr sz="1200" dirty="0">
                <a:latin typeface="Times New Roman"/>
                <a:cs typeface="Times New Roman"/>
              </a:rPr>
              <a:t>Membahas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pengertian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dasar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dikenal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juga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dengan </a:t>
            </a:r>
            <a:r>
              <a:rPr sz="1200" dirty="0">
                <a:latin typeface="Times New Roman"/>
                <a:cs typeface="Times New Roman"/>
              </a:rPr>
              <a:t>istilah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loop, mempraktikan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penggunaan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b="1" dirty="0">
                <a:latin typeface="Times New Roman"/>
                <a:cs typeface="Times New Roman"/>
              </a:rPr>
              <a:t>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b="1" dirty="0">
                <a:latin typeface="Times New Roman"/>
                <a:cs typeface="Times New Roman"/>
              </a:rPr>
              <a:t>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-10" dirty="0">
                <a:latin typeface="Times New Roman"/>
                <a:cs typeface="Times New Roman"/>
              </a:rPr>
              <a:t> while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Foreach.</a:t>
            </a:r>
            <a:endParaRPr sz="1200">
              <a:latin typeface="Times New Roman"/>
              <a:cs typeface="Times New Roman"/>
            </a:endParaRPr>
          </a:p>
          <a:p>
            <a:pPr marL="13970" algn="just">
              <a:lnSpc>
                <a:spcPct val="100000"/>
              </a:lnSpc>
              <a:spcBef>
                <a:spcPts val="495"/>
              </a:spcBef>
            </a:pPr>
            <a:r>
              <a:rPr sz="1200" b="1" dirty="0">
                <a:latin typeface="Times New Roman"/>
                <a:cs typeface="Times New Roman"/>
              </a:rPr>
              <a:t>Tujuan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Pembelajaran:</a:t>
            </a:r>
            <a:endParaRPr sz="1200">
              <a:latin typeface="Times New Roman"/>
              <a:cs typeface="Times New Roman"/>
            </a:endParaRPr>
          </a:p>
          <a:p>
            <a:pPr marL="13970" marR="363220">
              <a:lnSpc>
                <a:spcPts val="206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Setelah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memahami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pokok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bab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diharapkan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mahasiswa mampu:</a:t>
            </a:r>
            <a:endParaRPr sz="1200">
              <a:latin typeface="Times New Roman"/>
              <a:cs typeface="Times New Roman"/>
            </a:endParaRPr>
          </a:p>
          <a:p>
            <a:pPr marL="285750" indent="-271780">
              <a:lnSpc>
                <a:spcPct val="100000"/>
              </a:lnSpc>
              <a:spcBef>
                <a:spcPts val="455"/>
              </a:spcBef>
              <a:buAutoNum type="arabicPeriod" startAt="3"/>
              <a:tabLst>
                <a:tab pos="285750" algn="l"/>
              </a:tabLst>
            </a:pPr>
            <a:r>
              <a:rPr sz="1200" dirty="0">
                <a:latin typeface="Times New Roman"/>
                <a:cs typeface="Times New Roman"/>
              </a:rPr>
              <a:t>Memahami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pengertian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dasar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perulangan</a:t>
            </a:r>
            <a:endParaRPr sz="1200">
              <a:latin typeface="Times New Roman"/>
              <a:cs typeface="Times New Roman"/>
            </a:endParaRPr>
          </a:p>
          <a:p>
            <a:pPr marL="285750" indent="-271780">
              <a:lnSpc>
                <a:spcPct val="100000"/>
              </a:lnSpc>
              <a:spcBef>
                <a:spcPts val="645"/>
              </a:spcBef>
              <a:buAutoNum type="arabicPeriod" startAt="3"/>
              <a:tabLst>
                <a:tab pos="285750" algn="l"/>
              </a:tabLst>
            </a:pPr>
            <a:r>
              <a:rPr sz="1200" dirty="0">
                <a:latin typeface="Times New Roman"/>
                <a:cs typeface="Times New Roman"/>
              </a:rPr>
              <a:t>Mengenal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jenis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jenis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pemprograman</a:t>
            </a:r>
            <a:endParaRPr sz="1200">
              <a:latin typeface="Times New Roman"/>
              <a:cs typeface="Times New Roman"/>
            </a:endParaRPr>
          </a:p>
          <a:p>
            <a:pPr marL="285750" marR="293370" indent="-273685">
              <a:lnSpc>
                <a:spcPct val="143100"/>
              </a:lnSpc>
              <a:spcBef>
                <a:spcPts val="5"/>
              </a:spcBef>
              <a:buAutoNum type="arabicPeriod" startAt="3"/>
              <a:tabLst>
                <a:tab pos="285750" algn="l"/>
              </a:tabLst>
            </a:pPr>
            <a:r>
              <a:rPr sz="1200" spc="-10" dirty="0">
                <a:latin typeface="Times New Roman"/>
                <a:cs typeface="Times New Roman"/>
              </a:rPr>
              <a:t>Mengimplementasikan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jenis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jenis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perulangan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tersebut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dalam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bahasa pemrograman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web.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200">
              <a:latin typeface="Times New Roman"/>
              <a:cs typeface="Times New Roman"/>
            </a:endParaRPr>
          </a:p>
          <a:p>
            <a:pPr marL="471170" lvl="1" indent="-457200" algn="just">
              <a:lnSpc>
                <a:spcPct val="100000"/>
              </a:lnSpc>
              <a:buAutoNum type="arabicPeriod"/>
              <a:tabLst>
                <a:tab pos="47117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Pengertian </a:t>
            </a:r>
            <a:r>
              <a:rPr sz="1200" b="1" dirty="0">
                <a:latin typeface="Times New Roman"/>
                <a:cs typeface="Times New Roman"/>
              </a:rPr>
              <a:t>Dasar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Perulangan</a:t>
            </a:r>
            <a:endParaRPr sz="1200">
              <a:latin typeface="Times New Roman"/>
              <a:cs typeface="Times New Roman"/>
            </a:endParaRPr>
          </a:p>
          <a:p>
            <a:pPr marL="13970" marR="5080" indent="457200" algn="just">
              <a:lnSpc>
                <a:spcPts val="2070"/>
              </a:lnSpc>
              <a:spcBef>
                <a:spcPts val="145"/>
              </a:spcBef>
            </a:pP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3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3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looping.</a:t>
            </a:r>
            <a:r>
              <a:rPr sz="1200" spc="3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Ketika</a:t>
            </a:r>
            <a:r>
              <a:rPr sz="1200" spc="31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3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mempelajari</a:t>
            </a:r>
            <a:r>
              <a:rPr sz="1200" spc="31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bahasa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pasti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menemui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dinamakan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perulangan, </a:t>
            </a:r>
            <a:r>
              <a:rPr sz="1200" dirty="0">
                <a:latin typeface="Times New Roman"/>
                <a:cs typeface="Times New Roman"/>
              </a:rPr>
              <a:t>terutama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php.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tentunya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wajib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dikuasai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dalam </a:t>
            </a: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salah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satunya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mengenai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Banyak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algoritma</a:t>
            </a:r>
            <a:endParaRPr sz="1200">
              <a:latin typeface="Times New Roman"/>
              <a:cs typeface="Times New Roman"/>
            </a:endParaRPr>
          </a:p>
          <a:p>
            <a:pPr marL="13970" marR="6985" algn="just">
              <a:lnSpc>
                <a:spcPts val="207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tentunya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mengandalkan</a:t>
            </a:r>
            <a:r>
              <a:rPr sz="1200" spc="2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looping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guna </a:t>
            </a:r>
            <a:r>
              <a:rPr sz="1200" dirty="0">
                <a:latin typeface="Times New Roman"/>
                <a:cs typeface="Times New Roman"/>
              </a:rPr>
              <a:t>terciptanya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sarana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alogirtma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 menggunakan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array,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searching,</a:t>
            </a:r>
            <a:r>
              <a:rPr sz="1200" spc="-10" dirty="0">
                <a:latin typeface="Times New Roman"/>
                <a:cs typeface="Times New Roman"/>
              </a:rPr>
              <a:t> filtering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banyak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lagi.</a:t>
            </a:r>
            <a:endParaRPr sz="1200">
              <a:latin typeface="Times New Roman"/>
              <a:cs typeface="Times New Roman"/>
            </a:endParaRPr>
          </a:p>
          <a:p>
            <a:pPr marL="471170" lvl="1" indent="-457200" algn="just">
              <a:lnSpc>
                <a:spcPct val="100000"/>
              </a:lnSpc>
              <a:spcBef>
                <a:spcPts val="495"/>
              </a:spcBef>
              <a:buAutoNum type="arabicPeriod" startAt="2"/>
              <a:tabLst>
                <a:tab pos="471170" algn="l"/>
              </a:tabLst>
            </a:pPr>
            <a:r>
              <a:rPr sz="1200" b="1" dirty="0">
                <a:latin typeface="Times New Roman"/>
                <a:cs typeface="Times New Roman"/>
              </a:rPr>
              <a:t>Pengertian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Dasar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Perulangan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Pada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PHP</a:t>
            </a:r>
            <a:endParaRPr sz="1200">
              <a:latin typeface="Times New Roman"/>
              <a:cs typeface="Times New Roman"/>
            </a:endParaRPr>
          </a:p>
          <a:p>
            <a:pPr marL="13970" marR="6350" algn="just">
              <a:lnSpc>
                <a:spcPts val="2060"/>
              </a:lnSpc>
              <a:spcBef>
                <a:spcPts val="150"/>
              </a:spcBef>
            </a:pP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looping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mempermudah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melakukan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berulang-</a:t>
            </a:r>
            <a:r>
              <a:rPr sz="1200" dirty="0">
                <a:latin typeface="Times New Roman"/>
                <a:cs typeface="Times New Roman"/>
              </a:rPr>
              <a:t>ulang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sesuai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perintahnya.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kecilnya</a:t>
            </a:r>
            <a:endParaRPr sz="1200">
              <a:latin typeface="Times New Roman"/>
              <a:cs typeface="Times New Roman"/>
            </a:endParaRPr>
          </a:p>
          <a:p>
            <a:pPr marL="13970" marR="5715" algn="just">
              <a:lnSpc>
                <a:spcPts val="2070"/>
              </a:lnSpc>
            </a:pPr>
            <a:r>
              <a:rPr sz="1200" dirty="0">
                <a:latin typeface="Times New Roman"/>
                <a:cs typeface="Times New Roman"/>
              </a:rPr>
              <a:t>adalah,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apabila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mengurutkan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angka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01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sampai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50,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paling </a:t>
            </a:r>
            <a:r>
              <a:rPr sz="1200" dirty="0">
                <a:latin typeface="Times New Roman"/>
                <a:cs typeface="Times New Roman"/>
              </a:rPr>
              <a:t>mudah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ialah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perulangan,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yaitu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Algoritma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menambahkan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setiap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angka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diulang.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4059" y="3725545"/>
            <a:ext cx="4537710" cy="240601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ts val="1405"/>
              </a:lnSpc>
              <a:spcBef>
                <a:spcPts val="250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8640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&lt;title&gt;contohfor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&lt;/title&gt;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&lt;?php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for($i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9;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$i++)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24384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'&lt;br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/&gt;';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80"/>
              </a:lnSpc>
            </a:pPr>
            <a:r>
              <a:rPr sz="1200" spc="-25" dirty="0"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395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ts val="1425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490219"/>
            <a:ext cx="4702810" cy="2127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31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Misalnya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awali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1,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ditambah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memperoleh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seterusnya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hingga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mencapai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50.</a:t>
            </a: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43800"/>
              </a:lnSpc>
            </a:pP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jenis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looping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digunakan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pembuatan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prorama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PHP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diantaranya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yaitu: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while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do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while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dan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Foreach.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b="1" dirty="0">
                <a:latin typeface="Times New Roman"/>
                <a:cs typeface="Times New Roman"/>
              </a:rPr>
              <a:t>a.</a:t>
            </a:r>
            <a:r>
              <a:rPr sz="1200" b="1" spc="135" dirty="0">
                <a:latin typeface="Times New Roman"/>
                <a:cs typeface="Times New Roman"/>
              </a:rPr>
              <a:t>  </a:t>
            </a:r>
            <a:r>
              <a:rPr sz="1200" b="1" dirty="0">
                <a:latin typeface="Times New Roman"/>
                <a:cs typeface="Times New Roman"/>
              </a:rPr>
              <a:t>Perulangan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pada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PHP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2070"/>
              </a:lnSpc>
              <a:spcBef>
                <a:spcPts val="90"/>
              </a:spcBef>
            </a:pP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Biasanya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Dipakai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mengulang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pernyataan </a:t>
            </a:r>
            <a:r>
              <a:rPr sz="1200" dirty="0">
                <a:latin typeface="Times New Roman"/>
                <a:cs typeface="Times New Roman"/>
              </a:rPr>
              <a:t>sebanyak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mau.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Penggunaan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sintak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 </a:t>
            </a:r>
            <a:r>
              <a:rPr sz="1200" spc="-10" dirty="0">
                <a:latin typeface="Times New Roman"/>
                <a:cs typeface="Times New Roman"/>
              </a:rPr>
              <a:t>pemprograman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2592324"/>
            <a:ext cx="3507740" cy="1081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38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php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menentukan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kondisi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jumlah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atau </a:t>
            </a:r>
            <a:r>
              <a:rPr sz="1200" dirty="0">
                <a:latin typeface="Times New Roman"/>
                <a:cs typeface="Times New Roman"/>
              </a:rPr>
              <a:t>diulang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“Variable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nilai;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batas;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Variable++”. Contohfor.php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60"/>
              </a:spcBef>
            </a:pPr>
            <a:r>
              <a:rPr sz="1200" b="1" dirty="0">
                <a:latin typeface="Times New Roman"/>
                <a:cs typeface="Times New Roman"/>
              </a:rPr>
              <a:t>Ketikan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koding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7426" y="2672334"/>
            <a:ext cx="1118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ingin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200" y="6273672"/>
            <a:ext cx="470789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kode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php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mencetak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angka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9,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dibawah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ini: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2038603"/>
            <a:ext cx="4709795" cy="3554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Gambar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7.1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Perulangan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Penjelasan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Koding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Diatas: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dirty="0">
                <a:latin typeface="Times New Roman"/>
                <a:cs typeface="Times New Roman"/>
              </a:rPr>
              <a:t>$i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 </a:t>
            </a: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00" spc="-10" dirty="0">
                <a:latin typeface="Times New Roman"/>
                <a:cs typeface="Times New Roman"/>
              </a:rPr>
              <a:t>Variable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latin typeface="Times New Roman"/>
                <a:cs typeface="Times New Roman"/>
              </a:rPr>
              <a:t>$i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  <a:p>
            <a:pPr marL="12700" marR="37465">
              <a:lnSpc>
                <a:spcPts val="2100"/>
              </a:lnSpc>
              <a:spcBef>
                <a:spcPts val="150"/>
              </a:spcBef>
            </a:pPr>
            <a:r>
              <a:rPr sz="1200" dirty="0">
                <a:latin typeface="Times New Roman"/>
                <a:cs typeface="Times New Roman"/>
              </a:rPr>
              <a:t>Lalu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disini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melakukan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batas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$i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dengan menggunakan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operator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perbandingan</a:t>
            </a:r>
            <a:r>
              <a:rPr sz="1000" spc="1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25" dirty="0">
                <a:latin typeface="Times New Roman"/>
                <a:cs typeface="Times New Roman"/>
              </a:rPr>
              <a:t> php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spc="-20" dirty="0">
                <a:latin typeface="Times New Roman"/>
                <a:cs typeface="Times New Roman"/>
              </a:rPr>
              <a:t>$i++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207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Selanjutnya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disinilah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$i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berubah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menambahkan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setiap </a:t>
            </a:r>
            <a:r>
              <a:rPr sz="1200" dirty="0">
                <a:latin typeface="Times New Roman"/>
                <a:cs typeface="Times New Roman"/>
              </a:rPr>
              <a:t>angka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dimulai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 ditambah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 menggunakan metode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post-</a:t>
            </a:r>
            <a:endParaRPr sz="1100">
              <a:latin typeface="Calibri"/>
              <a:cs typeface="Calibri"/>
            </a:endParaRPr>
          </a:p>
          <a:p>
            <a:pPr marL="12700" marR="9525">
              <a:lnSpc>
                <a:spcPts val="2070"/>
              </a:lnSpc>
              <a:spcBef>
                <a:spcPts val="20"/>
              </a:spcBef>
            </a:pP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increment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tetapi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looping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pertama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terjadi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penambahan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dan </a:t>
            </a:r>
            <a:r>
              <a:rPr sz="1200" dirty="0">
                <a:latin typeface="Times New Roman"/>
                <a:cs typeface="Times New Roman"/>
              </a:rPr>
              <a:t>angka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tetap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dicetak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angka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00" b="1" dirty="0">
                <a:latin typeface="Times New Roman"/>
                <a:cs typeface="Times New Roman"/>
              </a:rPr>
              <a:t>b.</a:t>
            </a:r>
            <a:r>
              <a:rPr sz="1200" b="1" spc="48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Perulangan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While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pada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PHP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5365" y="5561711"/>
            <a:ext cx="1863725" cy="55435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740"/>
              </a:spcBef>
              <a:tabLst>
                <a:tab pos="621030" algn="l"/>
                <a:tab pos="1102360" algn="l"/>
              </a:tabLst>
            </a:pPr>
            <a:r>
              <a:rPr sz="1200" spc="-10" dirty="0">
                <a:latin typeface="Times New Roman"/>
                <a:cs typeface="Times New Roman"/>
              </a:rPr>
              <a:t>namun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untuk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menentukan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  <a:tabLst>
                <a:tab pos="661670" algn="l"/>
              </a:tabLst>
            </a:pP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operator</a:t>
            </a: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	perbandingan</a:t>
            </a:r>
            <a:r>
              <a:rPr sz="1100" spc="220" dirty="0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saja,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5561711"/>
            <a:ext cx="2797175" cy="8172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28600">
              <a:lnSpc>
                <a:spcPct val="144200"/>
              </a:lnSpc>
              <a:spcBef>
                <a:spcPts val="105"/>
              </a:spcBef>
              <a:tabLst>
                <a:tab pos="808355" algn="l"/>
                <a:tab pos="1059180" algn="l"/>
                <a:tab pos="1301750" algn="l"/>
                <a:tab pos="1532255" algn="l"/>
                <a:tab pos="1870710" algn="l"/>
                <a:tab pos="1994535" algn="l"/>
                <a:tab pos="2567940" algn="l"/>
              </a:tabLst>
            </a:pPr>
            <a:r>
              <a:rPr sz="1200" spc="-10" dirty="0">
                <a:latin typeface="Times New Roman"/>
                <a:cs typeface="Times New Roman"/>
              </a:rPr>
              <a:t>Perulangan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while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mirip</a:t>
            </a:r>
            <a:r>
              <a:rPr sz="1200" dirty="0">
                <a:latin typeface="Times New Roman"/>
                <a:cs typeface="Times New Roman"/>
              </a:rPr>
              <a:t>		</a:t>
            </a:r>
            <a:r>
              <a:rPr sz="1200" spc="-10" dirty="0">
                <a:latin typeface="Times New Roman"/>
                <a:cs typeface="Times New Roman"/>
              </a:rPr>
              <a:t>dengan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for, </a:t>
            </a:r>
            <a:r>
              <a:rPr sz="1200" spc="-10" dirty="0">
                <a:latin typeface="Times New Roman"/>
                <a:cs typeface="Times New Roman"/>
              </a:rPr>
              <a:t>kondisinya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hanya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dengan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menggunakan </a:t>
            </a:r>
            <a:r>
              <a:rPr sz="1200" dirty="0">
                <a:latin typeface="Times New Roman"/>
                <a:cs typeface="Times New Roman"/>
              </a:rPr>
              <a:t>misalnya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batas.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00" y="6350889"/>
            <a:ext cx="358140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Buat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didalam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folder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htdoc/perulangan/</a:t>
            </a:r>
            <a:r>
              <a:rPr sz="1200" b="1" spc="-10" dirty="0">
                <a:latin typeface="Times New Roman"/>
                <a:cs typeface="Times New Roman"/>
              </a:rPr>
              <a:t>while.php </a:t>
            </a:r>
            <a:r>
              <a:rPr sz="1200" b="1" dirty="0">
                <a:latin typeface="Times New Roman"/>
                <a:cs typeface="Times New Roman"/>
              </a:rPr>
              <a:t>Ketikan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koding</a:t>
            </a:r>
            <a:r>
              <a:rPr sz="1200" b="1" spc="-10" dirty="0">
                <a:latin typeface="Times New Roman"/>
                <a:cs typeface="Times New Roman"/>
              </a:rPr>
              <a:t> berikut: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08150" y="598169"/>
            <a:ext cx="2705100" cy="1381760"/>
            <a:chOff x="1708150" y="598169"/>
            <a:chExt cx="2705100" cy="13817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7166" y="607948"/>
              <a:ext cx="2685414" cy="13620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08150" y="598169"/>
              <a:ext cx="2705100" cy="1381760"/>
            </a:xfrm>
            <a:custGeom>
              <a:avLst/>
              <a:gdLst/>
              <a:ahLst/>
              <a:cxnLst/>
              <a:rect l="l" t="t" r="r" b="b"/>
              <a:pathLst>
                <a:path w="2705100" h="1381760">
                  <a:moveTo>
                    <a:pt x="2695321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1372870"/>
                  </a:lnTo>
                  <a:lnTo>
                    <a:pt x="0" y="1381760"/>
                  </a:lnTo>
                  <a:lnTo>
                    <a:pt x="2695321" y="1381760"/>
                  </a:lnTo>
                  <a:lnTo>
                    <a:pt x="2695321" y="1372870"/>
                  </a:lnTo>
                  <a:lnTo>
                    <a:pt x="9144" y="1372870"/>
                  </a:lnTo>
                  <a:lnTo>
                    <a:pt x="9144" y="10160"/>
                  </a:lnTo>
                  <a:lnTo>
                    <a:pt x="2695321" y="10160"/>
                  </a:lnTo>
                  <a:lnTo>
                    <a:pt x="2695321" y="0"/>
                  </a:lnTo>
                  <a:close/>
                </a:path>
                <a:path w="2705100" h="1381760">
                  <a:moveTo>
                    <a:pt x="2704592" y="508"/>
                  </a:moveTo>
                  <a:lnTo>
                    <a:pt x="2695448" y="508"/>
                  </a:lnTo>
                  <a:lnTo>
                    <a:pt x="2695448" y="1381506"/>
                  </a:lnTo>
                  <a:lnTo>
                    <a:pt x="2704592" y="1381506"/>
                  </a:lnTo>
                  <a:lnTo>
                    <a:pt x="2704592" y="508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2838831"/>
            <a:ext cx="4638040" cy="548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1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mencetak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angka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9,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dibawah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ini: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5047615"/>
            <a:ext cx="4706620" cy="3105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7.2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While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4000"/>
              </a:lnSpc>
            </a:pPr>
            <a:r>
              <a:rPr sz="1200" dirty="0">
                <a:latin typeface="Times New Roman"/>
                <a:cs typeface="Times New Roman"/>
              </a:rPr>
              <a:t>Ket: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perbedaan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mencolok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kondisi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ditulis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didalam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perulangannya,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penambahan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angka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9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19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195" dirty="0">
                <a:latin typeface="Times New Roman"/>
                <a:cs typeface="Times New Roman"/>
              </a:rPr>
              <a:t>  </a:t>
            </a:r>
            <a:r>
              <a:rPr sz="1000" i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post-</a:t>
            </a:r>
            <a:r>
              <a:rPr sz="1000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increment</a:t>
            </a:r>
            <a:r>
              <a:rPr sz="1000" i="1" spc="229" dirty="0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ditulis</a:t>
            </a:r>
            <a:r>
              <a:rPr sz="1200" spc="19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19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8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proses perulangan.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c.</a:t>
            </a:r>
            <a:r>
              <a:rPr sz="1200" b="1" spc="160" dirty="0">
                <a:latin typeface="Times New Roman"/>
                <a:cs typeface="Times New Roman"/>
              </a:rPr>
              <a:t>  </a:t>
            </a:r>
            <a:r>
              <a:rPr sz="1200" b="1" dirty="0">
                <a:latin typeface="Times New Roman"/>
                <a:cs typeface="Times New Roman"/>
              </a:rPr>
              <a:t>Perulangan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Do-</a:t>
            </a:r>
            <a:r>
              <a:rPr sz="1200" b="1" dirty="0">
                <a:latin typeface="Times New Roman"/>
                <a:cs typeface="Times New Roman"/>
              </a:rPr>
              <a:t>While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pada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PHP</a:t>
            </a:r>
            <a:endParaRPr sz="1200">
              <a:latin typeface="Times New Roman"/>
              <a:cs typeface="Times New Roman"/>
            </a:endParaRPr>
          </a:p>
          <a:p>
            <a:pPr marL="12700" marR="5080" indent="228600">
              <a:lnSpc>
                <a:spcPts val="2060"/>
              </a:lnSpc>
              <a:spcBef>
                <a:spcPts val="165"/>
              </a:spcBef>
            </a:pPr>
            <a:r>
              <a:rPr sz="1200" dirty="0">
                <a:latin typeface="Times New Roman"/>
                <a:cs typeface="Times New Roman"/>
              </a:rPr>
              <a:t>Perbedaan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mendasar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Do-</a:t>
            </a:r>
            <a:r>
              <a:rPr sz="1200" b="1" dirty="0">
                <a:latin typeface="Times New Roman"/>
                <a:cs typeface="Times New Roman"/>
              </a:rPr>
              <a:t>While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While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 </a:t>
            </a:r>
            <a:r>
              <a:rPr sz="1200" dirty="0">
                <a:latin typeface="Times New Roman"/>
                <a:cs typeface="Times New Roman"/>
              </a:rPr>
              <a:t>dimana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dilakukan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mengeksekusi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terlebih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200" dirty="0">
                <a:latin typeface="Times New Roman"/>
                <a:cs typeface="Times New Roman"/>
              </a:rPr>
              <a:t>dahulu,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setelah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itu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membaca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kondisi,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dirty="0">
                <a:latin typeface="Times New Roman"/>
                <a:cs typeface="Times New Roman"/>
              </a:rPr>
              <a:t>Buat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didalam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folder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htdoct/perulangan/</a:t>
            </a:r>
            <a:r>
              <a:rPr sz="1200" b="1" spc="-10" dirty="0">
                <a:latin typeface="Times New Roman"/>
                <a:cs typeface="Times New Roman"/>
              </a:rPr>
              <a:t>dowhile.php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3255" y="228600"/>
            <a:ext cx="4807585" cy="267843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0170">
              <a:lnSpc>
                <a:spcPts val="1405"/>
              </a:lnSpc>
              <a:spcBef>
                <a:spcPts val="240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8005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while&lt;/title&gt;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&lt;?php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$i</a:t>
            </a: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= </a:t>
            </a:r>
            <a:r>
              <a:rPr sz="1200" spc="-25" dirty="0">
                <a:solidFill>
                  <a:srgbClr val="313131"/>
                </a:solidFill>
                <a:latin typeface="Times New Roman"/>
                <a:cs typeface="Times New Roman"/>
              </a:rPr>
              <a:t>1;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while($i</a:t>
            </a:r>
            <a:r>
              <a:rPr sz="1200" spc="-45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&lt;=</a:t>
            </a:r>
            <a:r>
              <a:rPr sz="1200" spc="-4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spc="-35" dirty="0">
                <a:solidFill>
                  <a:srgbClr val="313131"/>
                </a:solidFill>
                <a:latin typeface="Times New Roman"/>
                <a:cs typeface="Times New Roman"/>
              </a:rPr>
              <a:t>9)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50" dirty="0">
                <a:solidFill>
                  <a:srgbClr val="313131"/>
                </a:solidFill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243204">
              <a:lnSpc>
                <a:spcPts val="1380"/>
              </a:lnSpc>
            </a:pP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echo</a:t>
            </a:r>
            <a:r>
              <a:rPr sz="1200" spc="-3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$i</a:t>
            </a: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.</a:t>
            </a:r>
            <a:r>
              <a:rPr sz="1200" spc="-15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'&lt;br</a:t>
            </a: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313131"/>
                </a:solidFill>
                <a:latin typeface="Times New Roman"/>
                <a:cs typeface="Times New Roman"/>
              </a:rPr>
              <a:t>/&gt;';</a:t>
            </a:r>
            <a:endParaRPr sz="1200">
              <a:latin typeface="Times New Roman"/>
              <a:cs typeface="Times New Roman"/>
            </a:endParaRPr>
          </a:p>
          <a:p>
            <a:pPr marL="243204">
              <a:lnSpc>
                <a:spcPts val="1380"/>
              </a:lnSpc>
            </a:pP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$i++;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5"/>
              </a:lnSpc>
            </a:pPr>
            <a:r>
              <a:rPr sz="1200" spc="-50" dirty="0">
                <a:solidFill>
                  <a:srgbClr val="313131"/>
                </a:solidFill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25" dirty="0">
                <a:solidFill>
                  <a:srgbClr val="313131"/>
                </a:solidFill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90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425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79219" y="3472179"/>
            <a:ext cx="3364865" cy="1533525"/>
            <a:chOff x="1379219" y="3472179"/>
            <a:chExt cx="3364865" cy="15335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7855" y="3480815"/>
              <a:ext cx="3345179" cy="148323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79220" y="3472179"/>
              <a:ext cx="3364865" cy="1533525"/>
            </a:xfrm>
            <a:custGeom>
              <a:avLst/>
              <a:gdLst/>
              <a:ahLst/>
              <a:cxnLst/>
              <a:rect l="l" t="t" r="r" b="b"/>
              <a:pathLst>
                <a:path w="3364865" h="1533525">
                  <a:moveTo>
                    <a:pt x="3355213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524000"/>
                  </a:lnTo>
                  <a:lnTo>
                    <a:pt x="0" y="1532890"/>
                  </a:lnTo>
                  <a:lnTo>
                    <a:pt x="3355213" y="1532890"/>
                  </a:lnTo>
                  <a:lnTo>
                    <a:pt x="3355213" y="1524000"/>
                  </a:lnTo>
                  <a:lnTo>
                    <a:pt x="9144" y="1524000"/>
                  </a:lnTo>
                  <a:lnTo>
                    <a:pt x="9144" y="8890"/>
                  </a:lnTo>
                  <a:lnTo>
                    <a:pt x="3355213" y="8890"/>
                  </a:lnTo>
                  <a:lnTo>
                    <a:pt x="3355213" y="0"/>
                  </a:lnTo>
                  <a:close/>
                </a:path>
                <a:path w="3364865" h="1533525">
                  <a:moveTo>
                    <a:pt x="3364484" y="0"/>
                  </a:moveTo>
                  <a:lnTo>
                    <a:pt x="3355340" y="0"/>
                  </a:lnTo>
                  <a:lnTo>
                    <a:pt x="3355340" y="1533398"/>
                  </a:lnTo>
                  <a:lnTo>
                    <a:pt x="3364484" y="1533398"/>
                  </a:lnTo>
                  <a:lnTo>
                    <a:pt x="336448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090" y="915669"/>
            <a:ext cx="4781550" cy="269557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0170">
              <a:lnSpc>
                <a:spcPts val="1405"/>
              </a:lnSpc>
              <a:spcBef>
                <a:spcPts val="240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737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While&lt;/title&gt;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&lt;?php</a:t>
            </a:r>
            <a:endParaRPr sz="1200">
              <a:latin typeface="Times New Roman"/>
              <a:cs typeface="Times New Roman"/>
            </a:endParaRPr>
          </a:p>
          <a:p>
            <a:pPr marL="90170" marR="4265930" indent="3810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$i</a:t>
            </a:r>
            <a:r>
              <a:rPr sz="1200" spc="-8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=</a:t>
            </a:r>
            <a:r>
              <a:rPr sz="1200" spc="-75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13131"/>
                </a:solidFill>
                <a:latin typeface="Times New Roman"/>
                <a:cs typeface="Times New Roman"/>
              </a:rPr>
              <a:t>1; do{</a:t>
            </a:r>
            <a:endParaRPr sz="1200">
              <a:latin typeface="Times New Roman"/>
              <a:cs typeface="Times New Roman"/>
            </a:endParaRPr>
          </a:p>
          <a:p>
            <a:pPr marL="242570">
              <a:lnSpc>
                <a:spcPts val="1325"/>
              </a:lnSpc>
            </a:pP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echo</a:t>
            </a:r>
            <a:r>
              <a:rPr sz="1200" spc="-3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$i</a:t>
            </a: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.</a:t>
            </a: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'&lt;br</a:t>
            </a: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313131"/>
                </a:solidFill>
                <a:latin typeface="Times New Roman"/>
                <a:cs typeface="Times New Roman"/>
              </a:rPr>
              <a:t>/&gt;';</a:t>
            </a:r>
            <a:endParaRPr sz="1200">
              <a:latin typeface="Times New Roman"/>
              <a:cs typeface="Times New Roman"/>
            </a:endParaRPr>
          </a:p>
          <a:p>
            <a:pPr marL="242570">
              <a:lnSpc>
                <a:spcPts val="1380"/>
              </a:lnSpc>
            </a:pP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$i++;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50" dirty="0">
                <a:solidFill>
                  <a:srgbClr val="313131"/>
                </a:solidFill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while($i</a:t>
            </a:r>
            <a:r>
              <a:rPr sz="1200" spc="-45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&lt;=</a:t>
            </a:r>
            <a:r>
              <a:rPr sz="1200" spc="-35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13131"/>
                </a:solidFill>
                <a:latin typeface="Times New Roman"/>
                <a:cs typeface="Times New Roman"/>
              </a:rPr>
              <a:t>9);</a:t>
            </a:r>
            <a:endParaRPr sz="1200">
              <a:latin typeface="Times New Roman"/>
              <a:cs typeface="Times New Roman"/>
            </a:endParaRPr>
          </a:p>
          <a:p>
            <a:pPr marL="128270">
              <a:lnSpc>
                <a:spcPts val="1380"/>
              </a:lnSpc>
            </a:pPr>
            <a:r>
              <a:rPr sz="1200" spc="-25" dirty="0">
                <a:solidFill>
                  <a:srgbClr val="313131"/>
                </a:solidFill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400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430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74495" y="4015740"/>
            <a:ext cx="2773680" cy="1856739"/>
            <a:chOff x="1674495" y="4015740"/>
            <a:chExt cx="2773680" cy="18567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3385" y="4024249"/>
              <a:ext cx="2753994" cy="17843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74495" y="4015739"/>
              <a:ext cx="2773680" cy="1856739"/>
            </a:xfrm>
            <a:custGeom>
              <a:avLst/>
              <a:gdLst/>
              <a:ahLst/>
              <a:cxnLst/>
              <a:rect l="l" t="t" r="r" b="b"/>
              <a:pathLst>
                <a:path w="2773679" h="1856739">
                  <a:moveTo>
                    <a:pt x="2763901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9144"/>
                  </a:lnTo>
                  <a:lnTo>
                    <a:pt x="0" y="1847850"/>
                  </a:lnTo>
                  <a:lnTo>
                    <a:pt x="0" y="1856740"/>
                  </a:lnTo>
                  <a:lnTo>
                    <a:pt x="2763901" y="1856740"/>
                  </a:lnTo>
                  <a:lnTo>
                    <a:pt x="2763901" y="1847850"/>
                  </a:lnTo>
                  <a:lnTo>
                    <a:pt x="9144" y="1847850"/>
                  </a:lnTo>
                  <a:lnTo>
                    <a:pt x="9144" y="9144"/>
                  </a:lnTo>
                  <a:lnTo>
                    <a:pt x="2763901" y="9144"/>
                  </a:lnTo>
                  <a:lnTo>
                    <a:pt x="2763901" y="0"/>
                  </a:lnTo>
                  <a:close/>
                </a:path>
                <a:path w="2773679" h="1856739">
                  <a:moveTo>
                    <a:pt x="2773172" y="9271"/>
                  </a:moveTo>
                  <a:lnTo>
                    <a:pt x="2764028" y="9271"/>
                  </a:lnTo>
                  <a:lnTo>
                    <a:pt x="2764028" y="1856613"/>
                  </a:lnTo>
                  <a:lnTo>
                    <a:pt x="2773172" y="1856613"/>
                  </a:lnTo>
                  <a:lnTo>
                    <a:pt x="2773172" y="9271"/>
                  </a:lnTo>
                  <a:close/>
                </a:path>
                <a:path w="2773679" h="1856739">
                  <a:moveTo>
                    <a:pt x="2773172" y="0"/>
                  </a:moveTo>
                  <a:lnTo>
                    <a:pt x="2764028" y="0"/>
                  </a:lnTo>
                  <a:lnTo>
                    <a:pt x="2764028" y="9144"/>
                  </a:lnTo>
                  <a:lnTo>
                    <a:pt x="2773172" y="9144"/>
                  </a:lnTo>
                  <a:lnTo>
                    <a:pt x="2773172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1200" y="572769"/>
            <a:ext cx="1599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Ketikan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koding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200" y="3725545"/>
            <a:ext cx="16827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browser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200" y="5852033"/>
            <a:ext cx="4705985" cy="160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253365" algn="just">
              <a:lnSpc>
                <a:spcPct val="1437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39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7.3</a:t>
            </a:r>
            <a:r>
              <a:rPr sz="1200" spc="39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39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39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Mengunakan</a:t>
            </a:r>
            <a:r>
              <a:rPr sz="1200" spc="39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Do-</a:t>
            </a:r>
            <a:r>
              <a:rPr sz="1200" spc="-10" dirty="0">
                <a:latin typeface="Times New Roman"/>
                <a:cs typeface="Times New Roman"/>
              </a:rPr>
              <a:t>While </a:t>
            </a:r>
            <a:r>
              <a:rPr sz="1200" dirty="0">
                <a:latin typeface="Times New Roman"/>
                <a:cs typeface="Times New Roman"/>
              </a:rPr>
              <a:t>Sebenarnya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menentukan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perhitungan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posisi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operator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</a:pPr>
            <a:r>
              <a:rPr sz="1200" i="1" spc="-10" dirty="0">
                <a:latin typeface="Times New Roman"/>
                <a:cs typeface="Times New Roman"/>
              </a:rPr>
              <a:t>post-</a:t>
            </a:r>
            <a:r>
              <a:rPr sz="1200" i="1" dirty="0">
                <a:latin typeface="Times New Roman"/>
                <a:cs typeface="Times New Roman"/>
              </a:rPr>
              <a:t>increment</a:t>
            </a:r>
            <a:r>
              <a:rPr sz="1200" i="1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($i++),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dicetak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terlebih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dahulu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baru </a:t>
            </a:r>
            <a:r>
              <a:rPr sz="1200" dirty="0">
                <a:latin typeface="Times New Roman"/>
                <a:cs typeface="Times New Roman"/>
              </a:rPr>
              <a:t>ditambahkan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Namun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posisi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post-</a:t>
            </a:r>
            <a:r>
              <a:rPr sz="1200" i="1" dirty="0">
                <a:latin typeface="Times New Roman"/>
                <a:cs typeface="Times New Roman"/>
              </a:rPr>
              <a:t>increment</a:t>
            </a:r>
            <a:r>
              <a:rPr sz="1200" i="1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($i++)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berada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diatas </a:t>
            </a:r>
            <a:r>
              <a:rPr sz="1200" dirty="0">
                <a:latin typeface="Times New Roman"/>
                <a:cs typeface="Times New Roman"/>
              </a:rPr>
              <a:t>perintah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cetak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terjadi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terlebih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dahulu menambahkan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$i,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misalnya: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3366135"/>
            <a:ext cx="464629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perpindahan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post-</a:t>
            </a:r>
            <a:r>
              <a:rPr sz="1200" i="1" dirty="0">
                <a:latin typeface="Times New Roman"/>
                <a:cs typeface="Times New Roman"/>
              </a:rPr>
              <a:t>increment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tercetak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dibawah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ini: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5831204"/>
            <a:ext cx="4705350" cy="1523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7.4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Mengunakan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Do-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</a:pPr>
            <a:r>
              <a:rPr sz="1200" dirty="0">
                <a:latin typeface="Times New Roman"/>
                <a:cs typeface="Times New Roman"/>
              </a:rPr>
              <a:t>Terlihat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terjadi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perubahan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proses,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ditambahkan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lebih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dulu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menghasilkan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angka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10,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berbeda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sebelumnya. </a:t>
            </a:r>
            <a:r>
              <a:rPr sz="1200" dirty="0">
                <a:latin typeface="Times New Roman"/>
                <a:cs typeface="Times New Roman"/>
              </a:rPr>
              <a:t>Sehingga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disimpulkan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bahwa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bergantung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posisi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post-increment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6139" y="203200"/>
            <a:ext cx="3084195" cy="319595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0170">
              <a:lnSpc>
                <a:spcPts val="1410"/>
              </a:lnSpc>
              <a:spcBef>
                <a:spcPts val="240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737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2&lt;/title&gt;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410"/>
              </a:lnSpc>
              <a:spcBef>
                <a:spcPts val="1320"/>
              </a:spcBef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&lt;?php</a:t>
            </a:r>
            <a:endParaRPr sz="1200">
              <a:latin typeface="Times New Roman"/>
              <a:cs typeface="Times New Roman"/>
            </a:endParaRPr>
          </a:p>
          <a:p>
            <a:pPr marL="90170" marR="2606675">
              <a:lnSpc>
                <a:spcPts val="1370"/>
              </a:lnSpc>
              <a:spcBef>
                <a:spcPts val="75"/>
              </a:spcBef>
            </a:pP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$i</a:t>
            </a:r>
            <a:r>
              <a:rPr sz="1200" spc="-8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=</a:t>
            </a:r>
            <a:r>
              <a:rPr sz="1200" spc="-75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13131"/>
                </a:solidFill>
                <a:latin typeface="Times New Roman"/>
                <a:cs typeface="Times New Roman"/>
              </a:rPr>
              <a:t>1; do{</a:t>
            </a:r>
            <a:endParaRPr sz="1200">
              <a:latin typeface="Times New Roman"/>
              <a:cs typeface="Times New Roman"/>
            </a:endParaRPr>
          </a:p>
          <a:p>
            <a:pPr marL="242570">
              <a:lnSpc>
                <a:spcPts val="1310"/>
              </a:lnSpc>
            </a:pP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$i++;</a:t>
            </a:r>
            <a:endParaRPr sz="1200">
              <a:latin typeface="Times New Roman"/>
              <a:cs typeface="Times New Roman"/>
            </a:endParaRPr>
          </a:p>
          <a:p>
            <a:pPr marL="242570">
              <a:lnSpc>
                <a:spcPts val="1375"/>
              </a:lnSpc>
            </a:pP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echo</a:t>
            </a:r>
            <a:r>
              <a:rPr sz="1200" spc="-3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$i</a:t>
            </a: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.</a:t>
            </a: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'&lt;br</a:t>
            </a:r>
            <a:r>
              <a:rPr sz="1200" spc="-1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313131"/>
                </a:solidFill>
                <a:latin typeface="Times New Roman"/>
                <a:cs typeface="Times New Roman"/>
              </a:rPr>
              <a:t>/&gt;';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50" dirty="0">
                <a:solidFill>
                  <a:srgbClr val="313131"/>
                </a:solidFill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410"/>
              </a:lnSpc>
            </a:pP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while($i</a:t>
            </a:r>
            <a:r>
              <a:rPr sz="1200" spc="-45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13131"/>
                </a:solidFill>
                <a:latin typeface="Times New Roman"/>
                <a:cs typeface="Times New Roman"/>
              </a:rPr>
              <a:t>&lt;=</a:t>
            </a:r>
            <a:r>
              <a:rPr sz="1200" spc="-35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13131"/>
                </a:solidFill>
                <a:latin typeface="Times New Roman"/>
                <a:cs typeface="Times New Roman"/>
              </a:rPr>
              <a:t>9);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410"/>
              </a:lnSpc>
              <a:spcBef>
                <a:spcPts val="1320"/>
              </a:spcBef>
            </a:pPr>
            <a:r>
              <a:rPr sz="1200" spc="-25" dirty="0">
                <a:solidFill>
                  <a:srgbClr val="313131"/>
                </a:solidFill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95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425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27175" y="3999865"/>
            <a:ext cx="3067685" cy="1797685"/>
            <a:chOff x="1527175" y="3999865"/>
            <a:chExt cx="3067685" cy="17976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5937" y="4007866"/>
              <a:ext cx="3048000" cy="172059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27175" y="3999864"/>
              <a:ext cx="3067685" cy="1797685"/>
            </a:xfrm>
            <a:custGeom>
              <a:avLst/>
              <a:gdLst/>
              <a:ahLst/>
              <a:cxnLst/>
              <a:rect l="l" t="t" r="r" b="b"/>
              <a:pathLst>
                <a:path w="3067685" h="1797685">
                  <a:moveTo>
                    <a:pt x="3058033" y="1787525"/>
                  </a:moveTo>
                  <a:lnTo>
                    <a:pt x="9144" y="1787525"/>
                  </a:lnTo>
                  <a:lnTo>
                    <a:pt x="9144" y="9525"/>
                  </a:lnTo>
                  <a:lnTo>
                    <a:pt x="0" y="9525"/>
                  </a:lnTo>
                  <a:lnTo>
                    <a:pt x="0" y="1787525"/>
                  </a:lnTo>
                  <a:lnTo>
                    <a:pt x="0" y="1797685"/>
                  </a:lnTo>
                  <a:lnTo>
                    <a:pt x="3058033" y="1797685"/>
                  </a:lnTo>
                  <a:lnTo>
                    <a:pt x="3058033" y="1787525"/>
                  </a:lnTo>
                  <a:close/>
                </a:path>
                <a:path w="3067685" h="1797685">
                  <a:moveTo>
                    <a:pt x="3058033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3058033" y="9144"/>
                  </a:lnTo>
                  <a:lnTo>
                    <a:pt x="3058033" y="0"/>
                  </a:lnTo>
                  <a:close/>
                </a:path>
                <a:path w="3067685" h="1797685">
                  <a:moveTo>
                    <a:pt x="3067304" y="9271"/>
                  </a:moveTo>
                  <a:lnTo>
                    <a:pt x="3058160" y="9271"/>
                  </a:lnTo>
                  <a:lnTo>
                    <a:pt x="3058160" y="1797177"/>
                  </a:lnTo>
                  <a:lnTo>
                    <a:pt x="3067304" y="1797177"/>
                  </a:lnTo>
                  <a:lnTo>
                    <a:pt x="3067304" y="9271"/>
                  </a:lnTo>
                  <a:close/>
                </a:path>
                <a:path w="3067685" h="1797685">
                  <a:moveTo>
                    <a:pt x="3067304" y="0"/>
                  </a:moveTo>
                  <a:lnTo>
                    <a:pt x="3058160" y="0"/>
                  </a:lnTo>
                  <a:lnTo>
                    <a:pt x="3058160" y="9144"/>
                  </a:lnTo>
                  <a:lnTo>
                    <a:pt x="3067304" y="9144"/>
                  </a:lnTo>
                  <a:lnTo>
                    <a:pt x="306730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900" y="2187575"/>
            <a:ext cx="2165985" cy="114300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1200" spc="-10" dirty="0">
                <a:latin typeface="Times New Roman"/>
                <a:cs typeface="Times New Roman"/>
              </a:rPr>
              <a:t>foreach(Array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=&gt;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Value)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620"/>
              </a:spcBef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24384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0" dirty="0">
                <a:latin typeface="Times New Roman"/>
                <a:cs typeface="Times New Roman"/>
              </a:rPr>
              <a:t> Code...</a:t>
            </a:r>
            <a:endParaRPr sz="12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650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497839"/>
            <a:ext cx="4706620" cy="80454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00" b="1" dirty="0">
                <a:latin typeface="Times New Roman"/>
                <a:cs typeface="Times New Roman"/>
              </a:rPr>
              <a:t>d.</a:t>
            </a:r>
            <a:r>
              <a:rPr sz="1200" b="1" spc="48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Perulangan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Foreach</a:t>
            </a:r>
            <a:r>
              <a:rPr sz="1200" b="1" i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pada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PHP</a:t>
            </a:r>
            <a:endParaRPr sz="1200">
              <a:latin typeface="Times New Roman"/>
              <a:cs typeface="Times New Roman"/>
            </a:endParaRPr>
          </a:p>
          <a:p>
            <a:pPr marL="12700" marR="5080" indent="228600">
              <a:lnSpc>
                <a:spcPts val="207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Jenis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Foreach</a:t>
            </a:r>
            <a:r>
              <a:rPr sz="1200" i="1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PHP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paling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berbeda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dari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sebelumnya,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Foreach</a:t>
            </a:r>
            <a:r>
              <a:rPr sz="1200" i="1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PHP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berguna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1276731"/>
            <a:ext cx="3863975" cy="814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100"/>
              </a:spcBef>
              <a:tabLst>
                <a:tab pos="512445" algn="l"/>
                <a:tab pos="1247140" algn="l"/>
                <a:tab pos="1544320" algn="l"/>
                <a:tab pos="2047875" algn="l"/>
                <a:tab pos="2454275" algn="l"/>
                <a:tab pos="2910840" algn="l"/>
              </a:tabLst>
            </a:pPr>
            <a:r>
              <a:rPr sz="1200" spc="-10" dirty="0">
                <a:latin typeface="Times New Roman"/>
                <a:cs typeface="Times New Roman"/>
              </a:rPr>
              <a:t>untuk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memecah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isi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array,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atau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lebih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sederhananya menyederhanakan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array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dibaca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mudah.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umum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penulisanya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nya: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1893" y="1356741"/>
            <a:ext cx="8216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0375" algn="l"/>
              </a:tabLst>
            </a:pPr>
            <a:r>
              <a:rPr sz="1200" spc="-10" dirty="0">
                <a:latin typeface="Times New Roman"/>
                <a:cs typeface="Times New Roman"/>
              </a:rPr>
              <a:t>ialah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untuk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200" y="3388995"/>
            <a:ext cx="3773804" cy="8102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1.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Perulangan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Foreach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Array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Tanpa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Key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2100"/>
              </a:lnSpc>
              <a:spcBef>
                <a:spcPts val="40"/>
              </a:spcBef>
            </a:pPr>
            <a:r>
              <a:rPr sz="1200" dirty="0">
                <a:latin typeface="Times New Roman"/>
                <a:cs typeface="Times New Roman"/>
              </a:rPr>
              <a:t>Buat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baru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didalam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folder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htdoc/perulangan/</a:t>
            </a:r>
            <a:r>
              <a:rPr sz="1200" b="1" spc="-10" dirty="0">
                <a:latin typeface="Times New Roman"/>
                <a:cs typeface="Times New Roman"/>
              </a:rPr>
              <a:t>foreach1.php </a:t>
            </a:r>
            <a:r>
              <a:rPr sz="1200" b="1" dirty="0">
                <a:latin typeface="Times New Roman"/>
                <a:cs typeface="Times New Roman"/>
              </a:rPr>
              <a:t>Ketikan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koding</a:t>
            </a:r>
            <a:r>
              <a:rPr sz="1200" b="1" spc="-10" dirty="0">
                <a:latin typeface="Times New Roman"/>
                <a:cs typeface="Times New Roman"/>
              </a:rPr>
              <a:t> 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200" y="7054405"/>
            <a:ext cx="4709160" cy="1075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35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umum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penulisan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didalam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Foreach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ialah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mengambil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kunci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array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tersebut,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namun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juga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langsung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mengambil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nilainya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saja,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akan </a:t>
            </a:r>
            <a:r>
              <a:rPr sz="1200" spc="-10" dirty="0">
                <a:latin typeface="Times New Roman"/>
                <a:cs typeface="Times New Roman"/>
              </a:rPr>
              <a:t>menghasilkan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dibawah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ini: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7715" y="4277359"/>
            <a:ext cx="3400425" cy="272415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1114" rIns="0" bIns="0" rtlCol="0">
            <a:spAutoFit/>
          </a:bodyPr>
          <a:lstStyle/>
          <a:p>
            <a:pPr marL="92075">
              <a:lnSpc>
                <a:spcPts val="1410"/>
              </a:lnSpc>
              <a:spcBef>
                <a:spcPts val="244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927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Foreach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Tanpa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Key&lt;/title&gt;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415"/>
              </a:lnSpc>
              <a:spcBef>
                <a:spcPts val="1320"/>
              </a:spcBef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&lt;?php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$array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array('PHP',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'Python',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'Ruby');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foreach($array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$value)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24447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$value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'&lt;br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/&gt;';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380"/>
              </a:lnSpc>
            </a:pPr>
            <a:r>
              <a:rPr sz="1200" spc="-25" dirty="0"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395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92075">
              <a:lnSpc>
                <a:spcPts val="1425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090" y="2506979"/>
            <a:ext cx="4638675" cy="252412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0170">
              <a:lnSpc>
                <a:spcPts val="1410"/>
              </a:lnSpc>
              <a:spcBef>
                <a:spcPts val="240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737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Foreach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Key&lt;/title&gt;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&lt;?php</a:t>
            </a:r>
            <a:endParaRPr sz="1200">
              <a:latin typeface="Times New Roman"/>
              <a:cs typeface="Times New Roman"/>
            </a:endParaRPr>
          </a:p>
          <a:p>
            <a:pPr marL="90170" marR="2417445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/>
                <a:cs typeface="Times New Roman"/>
              </a:rPr>
              <a:t>$array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array('Java',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'PHP',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'C++'); foreach($array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$key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=&gt;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$value)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15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24257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$key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 yaitu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Bagian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$value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'&lt;br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/&gt;';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380"/>
              </a:lnSpc>
            </a:pPr>
            <a:r>
              <a:rPr sz="1200" spc="-25" dirty="0"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  <a:p>
            <a:pPr marL="128270">
              <a:lnSpc>
                <a:spcPts val="1395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90170">
              <a:lnSpc>
                <a:spcPts val="1425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1374266"/>
            <a:ext cx="4465320" cy="108902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77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7.5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Mengunakan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Foreach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Array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Tanpa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Key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2.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Perulangan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Foreach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Array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Dengan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Key</a:t>
            </a:r>
            <a:endParaRPr sz="1200">
              <a:latin typeface="Times New Roman"/>
              <a:cs typeface="Times New Roman"/>
            </a:endParaRPr>
          </a:p>
          <a:p>
            <a:pPr marL="12700" marR="652145">
              <a:lnSpc>
                <a:spcPts val="212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Buat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baru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didalam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folder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htdoct/perulangan/</a:t>
            </a:r>
            <a:r>
              <a:rPr sz="1200" b="1" spc="-10" dirty="0">
                <a:latin typeface="Times New Roman"/>
                <a:cs typeface="Times New Roman"/>
              </a:rPr>
              <a:t>foreach2.php </a:t>
            </a:r>
            <a:r>
              <a:rPr sz="1200" b="1" dirty="0">
                <a:latin typeface="Times New Roman"/>
                <a:cs typeface="Times New Roman"/>
              </a:rPr>
              <a:t>Ketikan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koding</a:t>
            </a:r>
            <a:r>
              <a:rPr sz="1200" b="1" spc="-10" dirty="0">
                <a:latin typeface="Times New Roman"/>
                <a:cs typeface="Times New Roman"/>
              </a:rPr>
              <a:t> 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5060315"/>
            <a:ext cx="4705985" cy="107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38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Terlihat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bahwa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$key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menampilkan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kunci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dari </a:t>
            </a:r>
            <a:r>
              <a:rPr sz="1200" dirty="0">
                <a:latin typeface="Times New Roman"/>
                <a:cs typeface="Times New Roman"/>
              </a:rPr>
              <a:t>array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tersebut,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berbeda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sebelumnya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hanya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dengan </a:t>
            </a:r>
            <a:r>
              <a:rPr sz="1200" dirty="0">
                <a:latin typeface="Times New Roman"/>
                <a:cs typeface="Times New Roman"/>
              </a:rPr>
              <a:t>menampilkan</a:t>
            </a:r>
            <a:r>
              <a:rPr sz="1200" spc="2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nilainya</a:t>
            </a:r>
            <a:r>
              <a:rPr sz="1200" spc="2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saja.</a:t>
            </a:r>
            <a:r>
              <a:rPr sz="1200" spc="2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2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sederhana</a:t>
            </a:r>
            <a:r>
              <a:rPr sz="1200" spc="2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2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265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akan </a:t>
            </a:r>
            <a:r>
              <a:rPr sz="1200" spc="-10" dirty="0">
                <a:latin typeface="Times New Roman"/>
                <a:cs typeface="Times New Roman"/>
              </a:rPr>
              <a:t>menampilkan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dibawah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ini: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00" y="6898802"/>
            <a:ext cx="4693920" cy="110998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655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7.6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Mengunakan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Foreach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Array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Key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400" b="1" spc="-10" dirty="0">
                <a:latin typeface="Times New Roman"/>
                <a:cs typeface="Times New Roman"/>
              </a:rPr>
              <a:t>LATIHAN</a:t>
            </a:r>
            <a:endParaRPr sz="1400">
              <a:latin typeface="Times New Roman"/>
              <a:cs typeface="Times New Roman"/>
            </a:endParaRPr>
          </a:p>
          <a:p>
            <a:pPr marL="469900" marR="5080" indent="-228600">
              <a:lnSpc>
                <a:spcPct val="143100"/>
              </a:lnSpc>
              <a:spcBef>
                <a:spcPts val="90"/>
              </a:spcBef>
              <a:tabLst>
                <a:tab pos="1078230" algn="l"/>
                <a:tab pos="1507490" algn="l"/>
                <a:tab pos="1744980" algn="l"/>
                <a:tab pos="2048510" algn="l"/>
                <a:tab pos="2284730" algn="l"/>
                <a:tab pos="2674620" algn="l"/>
                <a:tab pos="2799080" algn="l"/>
                <a:tab pos="3135630" algn="l"/>
                <a:tab pos="3172460" algn="l"/>
                <a:tab pos="3550285" algn="l"/>
                <a:tab pos="3757295" algn="l"/>
                <a:tab pos="4114165" algn="l"/>
                <a:tab pos="4330065" algn="l"/>
              </a:tabLst>
            </a:pPr>
            <a:r>
              <a:rPr sz="1200" dirty="0">
                <a:latin typeface="Times New Roman"/>
                <a:cs typeface="Times New Roman"/>
              </a:rPr>
              <a:t>1.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Buatlah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tampilan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tulisan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kata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“Saya</a:t>
            </a:r>
            <a:r>
              <a:rPr sz="1200" dirty="0">
                <a:latin typeface="Times New Roman"/>
                <a:cs typeface="Times New Roman"/>
              </a:rPr>
              <a:t>		</a:t>
            </a:r>
            <a:r>
              <a:rPr sz="1200" spc="-10" dirty="0">
                <a:latin typeface="Times New Roman"/>
                <a:cs typeface="Times New Roman"/>
              </a:rPr>
              <a:t>Sedang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Belajar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Dasar </a:t>
            </a:r>
            <a:r>
              <a:rPr sz="1200" spc="-10" dirty="0">
                <a:latin typeface="Times New Roman"/>
                <a:cs typeface="Times New Roman"/>
              </a:rPr>
              <a:t>Pemrograman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Web”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sebanyak</a:t>
            </a:r>
            <a:r>
              <a:rPr sz="1200" dirty="0">
                <a:latin typeface="Times New Roman"/>
                <a:cs typeface="Times New Roman"/>
              </a:rPr>
              <a:t>		</a:t>
            </a:r>
            <a:r>
              <a:rPr sz="1200" spc="-25" dirty="0">
                <a:latin typeface="Times New Roman"/>
                <a:cs typeface="Times New Roman"/>
              </a:rPr>
              <a:t>20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kali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secara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berulang,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61060" y="596900"/>
            <a:ext cx="4401185" cy="819150"/>
            <a:chOff x="861060" y="596900"/>
            <a:chExt cx="4401185" cy="8191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645" y="606145"/>
              <a:ext cx="4381500" cy="77118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61060" y="596899"/>
              <a:ext cx="4401185" cy="819150"/>
            </a:xfrm>
            <a:custGeom>
              <a:avLst/>
              <a:gdLst/>
              <a:ahLst/>
              <a:cxnLst/>
              <a:rect l="l" t="t" r="r" b="b"/>
              <a:pathLst>
                <a:path w="4401185" h="819150">
                  <a:moveTo>
                    <a:pt x="4391533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808990"/>
                  </a:lnTo>
                  <a:lnTo>
                    <a:pt x="0" y="819150"/>
                  </a:lnTo>
                  <a:lnTo>
                    <a:pt x="4391533" y="819150"/>
                  </a:lnTo>
                  <a:lnTo>
                    <a:pt x="4391533" y="808990"/>
                  </a:lnTo>
                  <a:lnTo>
                    <a:pt x="9144" y="808990"/>
                  </a:lnTo>
                  <a:lnTo>
                    <a:pt x="9144" y="8890"/>
                  </a:lnTo>
                  <a:lnTo>
                    <a:pt x="4391533" y="8890"/>
                  </a:lnTo>
                  <a:lnTo>
                    <a:pt x="4391533" y="0"/>
                  </a:lnTo>
                  <a:close/>
                </a:path>
                <a:path w="4401185" h="819150">
                  <a:moveTo>
                    <a:pt x="4400804" y="0"/>
                  </a:moveTo>
                  <a:lnTo>
                    <a:pt x="4391660" y="0"/>
                  </a:lnTo>
                  <a:lnTo>
                    <a:pt x="4391660" y="818642"/>
                  </a:lnTo>
                  <a:lnTo>
                    <a:pt x="4400804" y="818642"/>
                  </a:lnTo>
                  <a:lnTo>
                    <a:pt x="440080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195069" y="6220459"/>
            <a:ext cx="3733800" cy="713740"/>
            <a:chOff x="1195069" y="6220459"/>
            <a:chExt cx="3733800" cy="71374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909" y="6228079"/>
              <a:ext cx="3714115" cy="6953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95070" y="6220459"/>
              <a:ext cx="3733800" cy="713740"/>
            </a:xfrm>
            <a:custGeom>
              <a:avLst/>
              <a:gdLst/>
              <a:ahLst/>
              <a:cxnLst/>
              <a:rect l="l" t="t" r="r" b="b"/>
              <a:pathLst>
                <a:path w="3733800" h="713740">
                  <a:moveTo>
                    <a:pt x="9118" y="704100"/>
                  </a:moveTo>
                  <a:lnTo>
                    <a:pt x="0" y="704100"/>
                  </a:lnTo>
                  <a:lnTo>
                    <a:pt x="0" y="713232"/>
                  </a:lnTo>
                  <a:lnTo>
                    <a:pt x="9118" y="713232"/>
                  </a:lnTo>
                  <a:lnTo>
                    <a:pt x="9118" y="704100"/>
                  </a:lnTo>
                  <a:close/>
                </a:path>
                <a:path w="3733800" h="713740">
                  <a:moveTo>
                    <a:pt x="9131" y="0"/>
                  </a:moveTo>
                  <a:lnTo>
                    <a:pt x="0" y="0"/>
                  </a:lnTo>
                  <a:lnTo>
                    <a:pt x="0" y="704088"/>
                  </a:lnTo>
                  <a:lnTo>
                    <a:pt x="9131" y="704088"/>
                  </a:lnTo>
                  <a:lnTo>
                    <a:pt x="9131" y="0"/>
                  </a:lnTo>
                  <a:close/>
                </a:path>
                <a:path w="3733800" h="713740">
                  <a:moveTo>
                    <a:pt x="3724021" y="704100"/>
                  </a:moveTo>
                  <a:lnTo>
                    <a:pt x="9144" y="704100"/>
                  </a:lnTo>
                  <a:lnTo>
                    <a:pt x="9144" y="713232"/>
                  </a:lnTo>
                  <a:lnTo>
                    <a:pt x="3724021" y="713232"/>
                  </a:lnTo>
                  <a:lnTo>
                    <a:pt x="3724021" y="704100"/>
                  </a:lnTo>
                  <a:close/>
                </a:path>
                <a:path w="3733800" h="713740">
                  <a:moveTo>
                    <a:pt x="3724021" y="0"/>
                  </a:moveTo>
                  <a:lnTo>
                    <a:pt x="9144" y="0"/>
                  </a:lnTo>
                  <a:lnTo>
                    <a:pt x="9144" y="9144"/>
                  </a:lnTo>
                  <a:lnTo>
                    <a:pt x="3724021" y="9144"/>
                  </a:lnTo>
                  <a:lnTo>
                    <a:pt x="3724021" y="0"/>
                  </a:lnTo>
                  <a:close/>
                </a:path>
                <a:path w="3733800" h="713740">
                  <a:moveTo>
                    <a:pt x="3733292" y="704100"/>
                  </a:moveTo>
                  <a:lnTo>
                    <a:pt x="3724148" y="704100"/>
                  </a:lnTo>
                  <a:lnTo>
                    <a:pt x="3724148" y="713232"/>
                  </a:lnTo>
                  <a:lnTo>
                    <a:pt x="3733292" y="713232"/>
                  </a:lnTo>
                  <a:lnTo>
                    <a:pt x="3733292" y="704100"/>
                  </a:lnTo>
                  <a:close/>
                </a:path>
                <a:path w="3733800" h="713740">
                  <a:moveTo>
                    <a:pt x="3733292" y="0"/>
                  </a:moveTo>
                  <a:lnTo>
                    <a:pt x="3724148" y="0"/>
                  </a:lnTo>
                  <a:lnTo>
                    <a:pt x="3724148" y="704088"/>
                  </a:lnTo>
                  <a:lnTo>
                    <a:pt x="3733292" y="704088"/>
                  </a:lnTo>
                  <a:lnTo>
                    <a:pt x="3733292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8665" y="3865245"/>
            <a:ext cx="4229100" cy="266700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1750" rIns="0" bIns="0" rtlCol="0">
            <a:spAutoFit/>
          </a:bodyPr>
          <a:lstStyle/>
          <a:p>
            <a:pPr marL="89535">
              <a:lnSpc>
                <a:spcPts val="1405"/>
              </a:lnSpc>
              <a:spcBef>
                <a:spcPts val="250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673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Latihan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For&lt;/title&gt;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405"/>
              </a:lnSpc>
              <a:spcBef>
                <a:spcPts val="1170"/>
              </a:spcBef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89535" marR="2156460">
              <a:lnSpc>
                <a:spcPts val="1380"/>
              </a:lnSpc>
              <a:spcBef>
                <a:spcPts val="60"/>
              </a:spcBef>
            </a:pPr>
            <a:r>
              <a:rPr sz="1200" spc="-10" dirty="0">
                <a:latin typeface="Times New Roman"/>
                <a:cs typeface="Times New Roman"/>
              </a:rPr>
              <a:t>&lt;?php </a:t>
            </a:r>
            <a:r>
              <a:rPr sz="1200" spc="-20" dirty="0">
                <a:latin typeface="Times New Roman"/>
                <a:cs typeface="Times New Roman"/>
              </a:rPr>
              <a:t>for($kata=1;$kata&lt;=20;$kata++)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320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"Saya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Sedang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Belajar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Dasar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Web"."&lt;br/&gt;";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380"/>
              </a:lnSpc>
            </a:pPr>
            <a:r>
              <a:rPr sz="1200" spc="-25" dirty="0"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400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430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8717" y="490219"/>
            <a:ext cx="4152265" cy="548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1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lebih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jelasnya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lihat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tampilan </a:t>
            </a:r>
            <a:r>
              <a:rPr sz="1200" dirty="0">
                <a:latin typeface="Times New Roman"/>
                <a:cs typeface="Times New Roman"/>
              </a:rPr>
              <a:t>dibawah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ini: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3153282"/>
            <a:ext cx="3509645" cy="5626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437640">
              <a:lnSpc>
                <a:spcPct val="100000"/>
              </a:lnSpc>
              <a:spcBef>
                <a:spcPts val="77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7.7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latihan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200" b="1" spc="-10" dirty="0">
                <a:latin typeface="Times New Roman"/>
                <a:cs typeface="Times New Roman"/>
              </a:rPr>
              <a:t>JAWABAN: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3669" y="1121917"/>
            <a:ext cx="3486784" cy="20477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1200</Words>
  <Application>Microsoft Office PowerPoint</Application>
  <PresentationFormat>Custom</PresentationFormat>
  <Paragraphs>172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Pramadjaya</dc:creator>
  <cp:lastModifiedBy>Pramadjaya</cp:lastModifiedBy>
  <cp:revision>1</cp:revision>
  <dcterms:created xsi:type="dcterms:W3CDTF">2025-02-18T13:50:04Z</dcterms:created>
  <dcterms:modified xsi:type="dcterms:W3CDTF">2025-02-24T07:09:24Z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2025-02-18T00:00:00Z</vt:filetime>
  </property>
  <property fmtid="{D5CDD505-2E9C-101B-9397-08002B2CF9AE}" pid="3" name="LastSaved">
    <vt:filetime>2025-02-18T00:00:00Z</vt:filetime>
  </property>
  <property fmtid="{D5CDD505-2E9C-101B-9397-08002B2CF9AE}" pid="4" name="Producer">
    <vt:lpwstr>iLovePDF</vt:lpwstr>
  </property>
</Properties>
</file>
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86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17290" y="9682695"/>
            <a:ext cx="24130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usinau.com/wp-content/uploads/2009/09/css1.html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lorschemer.com/online)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9976" y="856234"/>
            <a:ext cx="1511300" cy="47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7820">
              <a:lnSpc>
                <a:spcPct val="1222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MODUL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17 </a:t>
            </a:r>
            <a:r>
              <a:rPr sz="1200" b="1" spc="-10" dirty="0">
                <a:latin typeface="Arial"/>
                <a:cs typeface="Arial"/>
              </a:rPr>
              <a:t>CASE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STYLE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SHEET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8237" y="1382013"/>
            <a:ext cx="5457825" cy="81711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38125" indent="-225425">
              <a:lnSpc>
                <a:spcPct val="100000"/>
              </a:lnSpc>
              <a:spcBef>
                <a:spcPts val="680"/>
              </a:spcBef>
              <a:buAutoNum type="arabicPeriod"/>
              <a:tabLst>
                <a:tab pos="238125" algn="l"/>
              </a:tabLst>
            </a:pPr>
            <a:r>
              <a:rPr sz="1100" b="1" spc="-10" dirty="0">
                <a:latin typeface="Arial"/>
                <a:cs typeface="Arial"/>
              </a:rPr>
              <a:t>TUJUAN</a:t>
            </a:r>
            <a:endParaRPr sz="1100">
              <a:latin typeface="Arial"/>
              <a:cs typeface="Arial"/>
            </a:endParaRPr>
          </a:p>
          <a:p>
            <a:pPr marL="465455" lvl="1" indent="-224790" algn="just">
              <a:lnSpc>
                <a:spcPct val="100000"/>
              </a:lnSpc>
              <a:spcBef>
                <a:spcPts val="580"/>
              </a:spcBef>
              <a:buChar char="-"/>
              <a:tabLst>
                <a:tab pos="465455" algn="l"/>
              </a:tabLst>
            </a:pPr>
            <a:r>
              <a:rPr sz="1100" spc="-10" dirty="0">
                <a:latin typeface="Arial MT"/>
                <a:cs typeface="Arial MT"/>
              </a:rPr>
              <a:t>Mahasiswa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mengenal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kegunaannya.</a:t>
            </a:r>
            <a:endParaRPr sz="1100">
              <a:latin typeface="Arial MT"/>
              <a:cs typeface="Arial MT"/>
            </a:endParaRPr>
          </a:p>
          <a:p>
            <a:pPr marL="469900" marR="244475" lvl="1" indent="-229235">
              <a:lnSpc>
                <a:spcPct val="109300"/>
              </a:lnSpc>
              <a:spcBef>
                <a:spcPts val="35"/>
              </a:spcBef>
              <a:buChar char="-"/>
              <a:tabLst>
                <a:tab pos="469900" algn="l"/>
              </a:tabLst>
            </a:pPr>
            <a:r>
              <a:rPr sz="1100" spc="-10" dirty="0">
                <a:latin typeface="Arial MT"/>
                <a:cs typeface="Arial MT"/>
              </a:rPr>
              <a:t>Mahasiswa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membuat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halaman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mengimplementasikan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tag </a:t>
            </a:r>
            <a:r>
              <a:rPr sz="1100" spc="-20" dirty="0">
                <a:latin typeface="Arial MT"/>
                <a:cs typeface="Arial MT"/>
              </a:rPr>
              <a:t>CSS.</a:t>
            </a:r>
            <a:endParaRPr sz="11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75"/>
              </a:spcBef>
              <a:buFont typeface="Arial MT"/>
              <a:buChar char="-"/>
            </a:pPr>
            <a:endParaRPr sz="1100">
              <a:latin typeface="Arial MT"/>
              <a:cs typeface="Arial MT"/>
            </a:endParaRPr>
          </a:p>
          <a:p>
            <a:pPr marL="32384" marR="4184015" indent="-20320">
              <a:lnSpc>
                <a:spcPct val="110600"/>
              </a:lnSpc>
              <a:buAutoNum type="arabicPeriod"/>
              <a:tabLst>
                <a:tab pos="32384" algn="l"/>
                <a:tab pos="237490" algn="l"/>
              </a:tabLst>
            </a:pPr>
            <a:r>
              <a:rPr sz="1100" b="1" dirty="0">
                <a:latin typeface="Arial"/>
                <a:cs typeface="Arial"/>
              </a:rPr>
              <a:t>	TEORI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DASAR </a:t>
            </a:r>
            <a:r>
              <a:rPr sz="1100" b="1" spc="-10" dirty="0">
                <a:latin typeface="Arial"/>
                <a:cs typeface="Arial"/>
              </a:rPr>
              <a:t>PENGERTIAN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CSS</a:t>
            </a:r>
            <a:endParaRPr sz="1100">
              <a:latin typeface="Arial"/>
              <a:cs typeface="Arial"/>
            </a:endParaRPr>
          </a:p>
          <a:p>
            <a:pPr marL="12700" marR="8255" algn="just">
              <a:lnSpc>
                <a:spcPts val="1260"/>
              </a:lnSpc>
              <a:spcBef>
                <a:spcPts val="275"/>
              </a:spcBef>
            </a:pP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=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Cascading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Sheets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Bahasa lembar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Gaya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).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merupakan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bahasa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yang </a:t>
            </a:r>
            <a:r>
              <a:rPr sz="1100" dirty="0">
                <a:latin typeface="Arial MT"/>
                <a:cs typeface="Arial MT"/>
              </a:rPr>
              <a:t>digunakan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mengatur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tampilan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dokumen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ditulis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bahasa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markup</a:t>
            </a:r>
            <a:endParaRPr sz="1100">
              <a:latin typeface="Arial MT"/>
              <a:cs typeface="Arial MT"/>
            </a:endParaRPr>
          </a:p>
          <a:p>
            <a:pPr marL="12700" marR="8890" algn="just">
              <a:lnSpc>
                <a:spcPct val="95600"/>
              </a:lnSpc>
              <a:spcBef>
                <a:spcPts val="5"/>
              </a:spcBef>
            </a:pPr>
            <a:r>
              <a:rPr sz="1100" dirty="0">
                <a:latin typeface="Arial MT"/>
                <a:cs typeface="Arial MT"/>
              </a:rPr>
              <a:t>/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markup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language.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Jika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kita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berbicara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konteks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artikan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secara</a:t>
            </a:r>
            <a:r>
              <a:rPr sz="1100" spc="-10" dirty="0">
                <a:latin typeface="Arial MT"/>
                <a:cs typeface="Arial MT"/>
              </a:rPr>
              <a:t> bebas </a:t>
            </a:r>
            <a:r>
              <a:rPr sz="1100" dirty="0">
                <a:latin typeface="Arial MT"/>
                <a:cs typeface="Arial MT"/>
              </a:rPr>
              <a:t>sebagai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merupakan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bahasa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digunakan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mengatur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tampilan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/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desain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halaman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HTML.</a:t>
            </a:r>
            <a:endParaRPr sz="1100">
              <a:latin typeface="Arial MT"/>
              <a:cs typeface="Arial MT"/>
            </a:endParaRPr>
          </a:p>
          <a:p>
            <a:pPr marL="12700" algn="just">
              <a:lnSpc>
                <a:spcPts val="1230"/>
              </a:lnSpc>
            </a:pPr>
            <a:r>
              <a:rPr sz="1100" spc="-10" dirty="0">
                <a:latin typeface="Arial MT"/>
                <a:cs typeface="Arial MT"/>
              </a:rPr>
              <a:t>Beberapa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dilakukan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20" dirty="0">
                <a:latin typeface="Arial MT"/>
                <a:cs typeface="Arial MT"/>
              </a:rPr>
              <a:t> CSS.</a:t>
            </a:r>
            <a:endParaRPr sz="1100">
              <a:latin typeface="Arial MT"/>
              <a:cs typeface="Arial MT"/>
            </a:endParaRPr>
          </a:p>
          <a:p>
            <a:pPr marL="237490" lvl="1" indent="-224790" algn="just">
              <a:lnSpc>
                <a:spcPts val="1290"/>
              </a:lnSpc>
              <a:buChar char="-"/>
              <a:tabLst>
                <a:tab pos="237490" algn="l"/>
              </a:tabLst>
            </a:pPr>
            <a:r>
              <a:rPr sz="1100" dirty="0">
                <a:latin typeface="Arial MT"/>
                <a:cs typeface="Arial MT"/>
              </a:rPr>
              <a:t>Perancangan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desain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text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dilakukan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mendefinisikan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fonts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(huruf)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,</a:t>
            </a:r>
            <a:endParaRPr sz="1100">
              <a:latin typeface="Arial MT"/>
              <a:cs typeface="Arial MT"/>
            </a:endParaRPr>
          </a:p>
          <a:p>
            <a:pPr marL="240665" marR="8255" algn="just">
              <a:lnSpc>
                <a:spcPct val="110600"/>
              </a:lnSpc>
            </a:pPr>
            <a:r>
              <a:rPr sz="1100" dirty="0">
                <a:latin typeface="Arial MT"/>
                <a:cs typeface="Arial MT"/>
              </a:rPr>
              <a:t>colors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(warna),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margins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(ukuran),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latar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belakang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(background),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ukuran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font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(font </a:t>
            </a:r>
            <a:r>
              <a:rPr sz="1100" dirty="0">
                <a:latin typeface="Arial MT"/>
                <a:cs typeface="Arial MT"/>
              </a:rPr>
              <a:t>sizes)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lain-</a:t>
            </a:r>
            <a:r>
              <a:rPr sz="1100" dirty="0">
                <a:latin typeface="Arial MT"/>
                <a:cs typeface="Arial MT"/>
              </a:rPr>
              <a:t>lain.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Elemen-elemen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seperti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colors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(warna)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fonts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(huruf),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sizes </a:t>
            </a:r>
            <a:r>
              <a:rPr sz="1100" dirty="0">
                <a:latin typeface="Arial MT"/>
                <a:cs typeface="Arial MT"/>
              </a:rPr>
              <a:t>(ukuran)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spacing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(jarak)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disebut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juga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“styles”.</a:t>
            </a:r>
            <a:endParaRPr sz="1100">
              <a:latin typeface="Arial MT"/>
              <a:cs typeface="Arial MT"/>
            </a:endParaRPr>
          </a:p>
          <a:p>
            <a:pPr marL="240665" marR="18415" lvl="1" indent="-228600">
              <a:lnSpc>
                <a:spcPts val="1460"/>
              </a:lnSpc>
              <a:spcBef>
                <a:spcPts val="50"/>
              </a:spcBef>
              <a:buChar char="-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Cascading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Sheets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juga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berarti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meletakkan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styles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berbeda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pada </a:t>
            </a:r>
            <a:r>
              <a:rPr sz="1100" dirty="0">
                <a:latin typeface="Arial MT"/>
                <a:cs typeface="Arial MT"/>
              </a:rPr>
              <a:t>layers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(lapisan)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berbeda.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  <a:spcBef>
                <a:spcPts val="75"/>
              </a:spcBef>
            </a:pPr>
            <a:r>
              <a:rPr sz="1100" dirty="0">
                <a:latin typeface="Arial MT"/>
                <a:cs typeface="Arial MT"/>
              </a:rPr>
              <a:t>Ada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cara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untuk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memasang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dokumen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HTML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yaitu:</a:t>
            </a:r>
            <a:endParaRPr sz="1100">
              <a:latin typeface="Arial MT"/>
              <a:cs typeface="Arial MT"/>
            </a:endParaRPr>
          </a:p>
          <a:p>
            <a:pPr marL="240665" lvl="1" indent="-227965">
              <a:lnSpc>
                <a:spcPts val="1290"/>
              </a:lnSpc>
              <a:buChar char="-"/>
              <a:tabLst>
                <a:tab pos="240665" algn="l"/>
              </a:tabLst>
            </a:pPr>
            <a:r>
              <a:rPr sz="1100" spc="-10" dirty="0">
                <a:latin typeface="Arial MT"/>
                <a:cs typeface="Arial MT"/>
              </a:rPr>
              <a:t>External</a:t>
            </a:r>
            <a:r>
              <a:rPr sz="1100" spc="-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Sheet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(file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berbeda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dari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HTML),</a:t>
            </a:r>
            <a:endParaRPr sz="1100">
              <a:latin typeface="Arial MT"/>
              <a:cs typeface="Arial MT"/>
            </a:endParaRPr>
          </a:p>
          <a:p>
            <a:pPr marL="240665" lvl="1" indent="-227965">
              <a:lnSpc>
                <a:spcPct val="100000"/>
              </a:lnSpc>
              <a:spcBef>
                <a:spcPts val="100"/>
              </a:spcBef>
              <a:buChar char="-"/>
              <a:tabLst>
                <a:tab pos="240665" algn="l"/>
              </a:tabLst>
            </a:pPr>
            <a:r>
              <a:rPr sz="1100" spc="-10" dirty="0">
                <a:latin typeface="Arial MT"/>
                <a:cs typeface="Arial MT"/>
              </a:rPr>
              <a:t>Internal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Sheet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(Kode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dipasang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HTML)</a:t>
            </a:r>
            <a:endParaRPr sz="1100">
              <a:latin typeface="Arial MT"/>
              <a:cs typeface="Arial MT"/>
            </a:endParaRPr>
          </a:p>
          <a:p>
            <a:pPr marL="240665" marR="989330" lvl="1" indent="-228600">
              <a:lnSpc>
                <a:spcPct val="110600"/>
              </a:lnSpc>
              <a:spcBef>
                <a:spcPts val="20"/>
              </a:spcBef>
              <a:buChar char="-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Inline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Sheet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(Kode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langsung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dipasang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HTML,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tidak direkomendasikan).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SATUAN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DALAM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CSS</a:t>
            </a:r>
            <a:endParaRPr sz="1100">
              <a:latin typeface="Arial"/>
              <a:cs typeface="Arial"/>
            </a:endParaRPr>
          </a:p>
          <a:p>
            <a:pPr marL="396875" lvl="2" indent="-156210">
              <a:lnSpc>
                <a:spcPts val="1290"/>
              </a:lnSpc>
              <a:spcBef>
                <a:spcPts val="1240"/>
              </a:spcBef>
              <a:buAutoNum type="arabicPeriod"/>
              <a:tabLst>
                <a:tab pos="396875" algn="l"/>
              </a:tabLst>
            </a:pPr>
            <a:r>
              <a:rPr sz="1100" spc="-10" dirty="0">
                <a:latin typeface="Arial MT"/>
                <a:cs typeface="Arial MT"/>
              </a:rPr>
              <a:t>Statik</a:t>
            </a:r>
            <a:endParaRPr sz="1100">
              <a:latin typeface="Arial MT"/>
              <a:cs typeface="Arial MT"/>
            </a:endParaRPr>
          </a:p>
          <a:p>
            <a:pPr marL="333375" lvl="3" indent="-92710">
              <a:lnSpc>
                <a:spcPts val="1260"/>
              </a:lnSpc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--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inchi</a:t>
            </a:r>
            <a:endParaRPr sz="1100">
              <a:latin typeface="Arial MT"/>
              <a:cs typeface="Arial MT"/>
            </a:endParaRPr>
          </a:p>
          <a:p>
            <a:pPr marL="333375" lvl="3" indent="-92710">
              <a:lnSpc>
                <a:spcPts val="1260"/>
              </a:lnSpc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cm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centimeter</a:t>
            </a:r>
            <a:endParaRPr sz="1100">
              <a:latin typeface="Arial MT"/>
              <a:cs typeface="Arial MT"/>
            </a:endParaRPr>
          </a:p>
          <a:p>
            <a:pPr marL="333375" lvl="3" indent="-92710">
              <a:lnSpc>
                <a:spcPts val="1270"/>
              </a:lnSpc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mm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milimeter</a:t>
            </a:r>
            <a:endParaRPr sz="1100">
              <a:latin typeface="Arial MT"/>
              <a:cs typeface="Arial MT"/>
            </a:endParaRPr>
          </a:p>
          <a:p>
            <a:pPr marL="333375" lvl="3" indent="-92710">
              <a:lnSpc>
                <a:spcPts val="1270"/>
              </a:lnSpc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pt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 </a:t>
            </a:r>
            <a:r>
              <a:rPr sz="1100" spc="-10" dirty="0">
                <a:latin typeface="Arial MT"/>
                <a:cs typeface="Arial MT"/>
              </a:rPr>
              <a:t>point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(1point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=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1/72</a:t>
            </a:r>
            <a:r>
              <a:rPr sz="1100" spc="-10" dirty="0">
                <a:latin typeface="Arial MT"/>
                <a:cs typeface="Arial MT"/>
              </a:rPr>
              <a:t> inchi)</a:t>
            </a:r>
            <a:endParaRPr sz="1100">
              <a:latin typeface="Arial MT"/>
              <a:cs typeface="Arial MT"/>
            </a:endParaRPr>
          </a:p>
          <a:p>
            <a:pPr marL="333375" lvl="3" indent="-92710">
              <a:lnSpc>
                <a:spcPts val="1260"/>
              </a:lnSpc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pc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pica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(1pica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=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12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point)</a:t>
            </a:r>
            <a:endParaRPr sz="1100">
              <a:latin typeface="Arial MT"/>
              <a:cs typeface="Arial MT"/>
            </a:endParaRPr>
          </a:p>
          <a:p>
            <a:pPr marL="333375" lvl="3" indent="-92710">
              <a:lnSpc>
                <a:spcPts val="1290"/>
              </a:lnSpc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px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pixel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(satu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titik gambar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terkecil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layar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monitor)</a:t>
            </a:r>
            <a:endParaRPr sz="1100">
              <a:latin typeface="Arial MT"/>
              <a:cs typeface="Arial MT"/>
            </a:endParaRPr>
          </a:p>
          <a:p>
            <a:pPr marL="396875" indent="-156210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396875" algn="l"/>
              </a:tabLst>
            </a:pPr>
            <a:r>
              <a:rPr sz="1100" spc="-10" dirty="0">
                <a:latin typeface="Arial MT"/>
                <a:cs typeface="Arial MT"/>
              </a:rPr>
              <a:t>Relatif</a:t>
            </a:r>
            <a:endParaRPr sz="1100">
              <a:latin typeface="Arial MT"/>
              <a:cs typeface="Arial MT"/>
            </a:endParaRPr>
          </a:p>
          <a:p>
            <a:pPr marL="333375" lvl="1" indent="-92710">
              <a:lnSpc>
                <a:spcPts val="1290"/>
              </a:lnSpc>
              <a:spcBef>
                <a:spcPts val="1220"/>
              </a:spcBef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%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persen</a:t>
            </a:r>
            <a:endParaRPr sz="1100">
              <a:latin typeface="Arial MT"/>
              <a:cs typeface="Arial MT"/>
            </a:endParaRPr>
          </a:p>
          <a:p>
            <a:pPr marL="333375" lvl="1" indent="-92710">
              <a:lnSpc>
                <a:spcPts val="1260"/>
              </a:lnSpc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em </a:t>
            </a:r>
            <a:r>
              <a:rPr sz="1100" spc="-1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atau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(1em =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ukuran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tengah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dalam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elemen)</a:t>
            </a:r>
            <a:endParaRPr sz="1100">
              <a:latin typeface="Arial MT"/>
              <a:cs typeface="Arial MT"/>
            </a:endParaRPr>
          </a:p>
          <a:p>
            <a:pPr marL="333375" lvl="1" indent="-92710">
              <a:lnSpc>
                <a:spcPts val="1290"/>
              </a:lnSpc>
              <a:buChar char="*"/>
              <a:tabLst>
                <a:tab pos="333375" algn="l"/>
              </a:tabLst>
            </a:pPr>
            <a:r>
              <a:rPr sz="1100" dirty="0">
                <a:latin typeface="Arial MT"/>
                <a:cs typeface="Arial MT"/>
              </a:rPr>
              <a:t>ex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1ex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=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x-</a:t>
            </a:r>
            <a:r>
              <a:rPr sz="1100" dirty="0">
                <a:latin typeface="Arial MT"/>
                <a:cs typeface="Arial MT"/>
              </a:rPr>
              <a:t>height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(x-</a:t>
            </a:r>
            <a:r>
              <a:rPr sz="1100" dirty="0">
                <a:latin typeface="Arial MT"/>
                <a:cs typeface="Arial MT"/>
              </a:rPr>
              <a:t>height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biasanya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setengah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ukuran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font)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ts val="1300"/>
              </a:lnSpc>
            </a:pPr>
            <a:r>
              <a:rPr sz="1100" b="1" spc="-10" dirty="0">
                <a:latin typeface="Arial"/>
                <a:cs typeface="Arial"/>
              </a:rPr>
              <a:t>MENULIS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CSS</a:t>
            </a:r>
            <a:endParaRPr sz="1100">
              <a:latin typeface="Arial"/>
              <a:cs typeface="Arial"/>
            </a:endParaRPr>
          </a:p>
          <a:p>
            <a:pPr marL="240665" marR="5080" indent="-228600" algn="just">
              <a:lnSpc>
                <a:spcPct val="96500"/>
              </a:lnSpc>
              <a:spcBef>
                <a:spcPts val="25"/>
              </a:spcBef>
            </a:pP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beberapa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istilah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kosep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dasar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dari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css.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Tapi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sebelum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menuju </a:t>
            </a:r>
            <a:r>
              <a:rPr sz="1100" dirty="0">
                <a:latin typeface="Arial MT"/>
                <a:cs typeface="Arial MT"/>
              </a:rPr>
              <a:t>pembahasan</a:t>
            </a:r>
            <a:r>
              <a:rPr sz="1100" spc="48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lebih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lanjut,</a:t>
            </a:r>
            <a:r>
              <a:rPr sz="1100" spc="4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akan</a:t>
            </a:r>
            <a:r>
              <a:rPr sz="1100" spc="48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lebih</a:t>
            </a:r>
            <a:r>
              <a:rPr sz="1100" spc="4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baik</a:t>
            </a:r>
            <a:r>
              <a:rPr sz="1100" spc="48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kita</a:t>
            </a:r>
            <a:r>
              <a:rPr sz="1100" spc="10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harus</a:t>
            </a:r>
            <a:r>
              <a:rPr sz="1100" spc="4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membiasakan</a:t>
            </a:r>
            <a:r>
              <a:rPr sz="1100" spc="48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dengan </a:t>
            </a:r>
            <a:r>
              <a:rPr sz="1100" dirty="0">
                <a:latin typeface="Arial MT"/>
                <a:cs typeface="Arial MT"/>
              </a:rPr>
              <a:t>bagaimana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harus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ditulis.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Berikut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contoh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mudah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penulisan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css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halaman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web: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55"/>
              </a:lnSpc>
            </a:pPr>
            <a:r>
              <a:rPr sz="1100" dirty="0">
                <a:latin typeface="Arial MT"/>
                <a:cs typeface="Arial MT"/>
                <a:hlinkClick r:id="rId2"/>
              </a:rPr>
              <a:t>Contoh</a:t>
            </a:r>
            <a:r>
              <a:rPr sz="1100" spc="-45" dirty="0">
                <a:latin typeface="Arial MT"/>
                <a:cs typeface="Arial MT"/>
                <a:hlinkClick r:id="rId2"/>
              </a:rPr>
              <a:t> </a:t>
            </a:r>
            <a:r>
              <a:rPr sz="1100" dirty="0">
                <a:latin typeface="Arial MT"/>
                <a:cs typeface="Arial MT"/>
                <a:hlinkClick r:id="rId2"/>
              </a:rPr>
              <a:t>CSS</a:t>
            </a:r>
            <a:r>
              <a:rPr sz="1100" spc="-50" dirty="0">
                <a:latin typeface="Arial MT"/>
                <a:cs typeface="Arial MT"/>
                <a:hlinkClick r:id="rId2"/>
              </a:rPr>
              <a:t> 1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</a:pPr>
            <a:r>
              <a:rPr sz="1100" spc="-10" dirty="0">
                <a:latin typeface="Arial MT"/>
                <a:cs typeface="Arial MT"/>
              </a:rPr>
              <a:t>&lt;html&gt;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16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138237" y="904493"/>
            <a:ext cx="5370195" cy="8745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&lt;head&gt;</a:t>
            </a:r>
            <a:endParaRPr sz="1100">
              <a:latin typeface="Arial MT"/>
              <a:cs typeface="Arial MT"/>
            </a:endParaRPr>
          </a:p>
          <a:p>
            <a:pPr marL="245745" marR="3745229" indent="-233679">
              <a:lnSpc>
                <a:spcPct val="96200"/>
              </a:lnSpc>
              <a:spcBef>
                <a:spcPts val="30"/>
              </a:spcBef>
            </a:pPr>
            <a:r>
              <a:rPr sz="1100" dirty="0">
                <a:latin typeface="Arial MT"/>
                <a:cs typeface="Arial MT"/>
              </a:rPr>
              <a:t>&lt;style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Type="text/css"&gt; </a:t>
            </a:r>
            <a:r>
              <a:rPr sz="1100" spc="-25" dirty="0">
                <a:latin typeface="Arial MT"/>
                <a:cs typeface="Arial MT"/>
              </a:rPr>
              <a:t>h1{font-</a:t>
            </a:r>
            <a:r>
              <a:rPr sz="1100" spc="-10" dirty="0">
                <a:latin typeface="Arial MT"/>
                <a:cs typeface="Arial MT"/>
              </a:rPr>
              <a:t>family:tahoma} </a:t>
            </a:r>
            <a:r>
              <a:rPr sz="1100" dirty="0">
                <a:latin typeface="Arial MT"/>
                <a:cs typeface="Arial MT"/>
              </a:rPr>
              <a:t>h2{color: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blue}</a:t>
            </a:r>
            <a:endParaRPr sz="1100">
              <a:latin typeface="Arial MT"/>
              <a:cs typeface="Arial MT"/>
            </a:endParaRPr>
          </a:p>
          <a:p>
            <a:pPr marL="129539">
              <a:lnSpc>
                <a:spcPts val="1220"/>
              </a:lnSpc>
            </a:pPr>
            <a:r>
              <a:rPr sz="1100" spc="-10" dirty="0">
                <a:latin typeface="Arial MT"/>
                <a:cs typeface="Arial MT"/>
              </a:rPr>
              <a:t>p{font-size:11pt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;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font-</a:t>
            </a:r>
            <a:r>
              <a:rPr sz="1100" dirty="0">
                <a:latin typeface="Arial MT"/>
                <a:cs typeface="Arial MT"/>
              </a:rPr>
              <a:t>style: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italic}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70"/>
              </a:lnSpc>
            </a:pPr>
            <a:r>
              <a:rPr sz="1100" spc="-10" dirty="0">
                <a:latin typeface="Arial MT"/>
                <a:cs typeface="Arial MT"/>
              </a:rPr>
              <a:t>&lt;/style&gt;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70"/>
              </a:lnSpc>
            </a:pPr>
            <a:r>
              <a:rPr sz="1100" spc="-10" dirty="0">
                <a:latin typeface="Arial MT"/>
                <a:cs typeface="Arial MT"/>
              </a:rPr>
              <a:t>&lt;/head&gt;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70"/>
              </a:lnSpc>
            </a:pPr>
            <a:r>
              <a:rPr sz="1100" spc="-10" dirty="0">
                <a:latin typeface="Arial MT"/>
                <a:cs typeface="Arial MT"/>
              </a:rPr>
              <a:t>&lt;body&gt;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</a:pPr>
            <a:r>
              <a:rPr sz="1100" spc="-10" dirty="0">
                <a:latin typeface="Arial MT"/>
                <a:cs typeface="Arial MT"/>
              </a:rPr>
              <a:t>&lt;h2&gt;NuSinau&lt;/h2&gt;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dirty="0">
                <a:latin typeface="Arial MT"/>
                <a:cs typeface="Arial MT"/>
              </a:rPr>
              <a:t>&lt;p&gt;NuSinau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adalah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website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tempat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berbagi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berbagai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ilmu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pengetahuan.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80"/>
              </a:lnSpc>
              <a:spcBef>
                <a:spcPts val="1220"/>
              </a:spcBef>
            </a:pPr>
            <a:r>
              <a:rPr sz="1100" spc="-10" dirty="0">
                <a:latin typeface="Arial MT"/>
                <a:cs typeface="Arial MT"/>
              </a:rPr>
              <a:t>&lt;/p&gt;&lt;/body&gt;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50"/>
              </a:lnSpc>
            </a:pPr>
            <a:r>
              <a:rPr sz="1100" spc="-10" dirty="0">
                <a:latin typeface="Arial MT"/>
                <a:cs typeface="Arial MT"/>
              </a:rPr>
              <a:t>&lt;/html&gt;</a:t>
            </a:r>
            <a:endParaRPr sz="1100">
              <a:latin typeface="Arial MT"/>
              <a:cs typeface="Arial MT"/>
            </a:endParaRPr>
          </a:p>
          <a:p>
            <a:pPr marL="12700" marR="3765550">
              <a:lnSpc>
                <a:spcPts val="1280"/>
              </a:lnSpc>
              <a:spcBef>
                <a:spcPts val="45"/>
              </a:spcBef>
            </a:pPr>
            <a:r>
              <a:rPr sz="1100" spc="-10" dirty="0">
                <a:latin typeface="Arial MT"/>
                <a:cs typeface="Arial MT"/>
              </a:rPr>
              <a:t>Sintak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(Syntax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CSS) </a:t>
            </a:r>
            <a:r>
              <a:rPr sz="1100" dirty="0">
                <a:latin typeface="Arial MT"/>
                <a:cs typeface="Arial MT"/>
              </a:rPr>
              <a:t>selector</a:t>
            </a:r>
            <a:r>
              <a:rPr sz="1100" spc="-10" dirty="0">
                <a:latin typeface="Arial MT"/>
                <a:cs typeface="Arial MT"/>
              </a:rPr>
              <a:t> (properti: nilai)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300"/>
              </a:lnSpc>
              <a:spcBef>
                <a:spcPts val="1185"/>
              </a:spcBef>
            </a:pPr>
            <a:r>
              <a:rPr sz="1100" dirty="0">
                <a:latin typeface="Arial MT"/>
                <a:cs typeface="Arial MT"/>
              </a:rPr>
              <a:t>body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(color: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blue)</a:t>
            </a:r>
            <a:endParaRPr sz="1100">
              <a:latin typeface="Arial MT"/>
              <a:cs typeface="Arial MT"/>
            </a:endParaRPr>
          </a:p>
          <a:p>
            <a:pPr marL="12700" marR="3966210">
              <a:lnSpc>
                <a:spcPts val="1260"/>
              </a:lnSpc>
              <a:spcBef>
                <a:spcPts val="75"/>
              </a:spcBef>
            </a:pPr>
            <a:r>
              <a:rPr sz="1100" spc="-10" dirty="0">
                <a:latin typeface="Arial MT"/>
                <a:cs typeface="Arial MT"/>
              </a:rPr>
              <a:t>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{font-family: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tahoma} </a:t>
            </a:r>
            <a:r>
              <a:rPr sz="1100" dirty="0">
                <a:latin typeface="Arial MT"/>
                <a:cs typeface="Arial MT"/>
              </a:rPr>
              <a:t>h1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{font-weight: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bold}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10" dirty="0">
                <a:latin typeface="Arial MT"/>
                <a:cs typeface="Arial MT"/>
              </a:rPr>
              <a:t> lain-</a:t>
            </a:r>
            <a:r>
              <a:rPr sz="1100" spc="-20" dirty="0">
                <a:latin typeface="Arial MT"/>
                <a:cs typeface="Arial MT"/>
              </a:rPr>
              <a:t>lain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310"/>
              </a:lnSpc>
              <a:spcBef>
                <a:spcPts val="1105"/>
              </a:spcBef>
            </a:pPr>
            <a:r>
              <a:rPr sz="1100" b="1" spc="-10" dirty="0">
                <a:latin typeface="Arial"/>
                <a:cs typeface="Arial"/>
              </a:rPr>
              <a:t>SELECTOR</a:t>
            </a:r>
            <a:endParaRPr sz="1100">
              <a:latin typeface="Arial"/>
              <a:cs typeface="Arial"/>
            </a:endParaRPr>
          </a:p>
          <a:p>
            <a:pPr marL="240665" marR="5080" indent="-228600">
              <a:lnSpc>
                <a:spcPct val="97100"/>
              </a:lnSpc>
              <a:spcBef>
                <a:spcPts val="30"/>
              </a:spcBef>
            </a:pPr>
            <a:r>
              <a:rPr sz="1100" dirty="0">
                <a:latin typeface="Arial MT"/>
                <a:cs typeface="Arial MT"/>
              </a:rPr>
              <a:t>Selector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biasanya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merupakan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elemen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HTML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atau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dimana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berbagai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properti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diberi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nilai.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sebuah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selector,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setiap </a:t>
            </a:r>
            <a:r>
              <a:rPr sz="1100" spc="-10" dirty="0">
                <a:latin typeface="Arial MT"/>
                <a:cs typeface="Arial MT"/>
              </a:rPr>
              <a:t>properti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mempunyai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nilai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masing-masing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sejumlah</a:t>
            </a:r>
            <a:r>
              <a:rPr sz="1100" spc="-10" dirty="0">
                <a:latin typeface="Arial MT"/>
                <a:cs typeface="Arial MT"/>
              </a:rPr>
              <a:t> properti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nilai-</a:t>
            </a:r>
            <a:r>
              <a:rPr sz="1100" dirty="0">
                <a:latin typeface="Arial MT"/>
                <a:cs typeface="Arial MT"/>
              </a:rPr>
              <a:t>nilai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terkait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diatur.</a:t>
            </a:r>
            <a:endParaRPr sz="1100">
              <a:latin typeface="Arial MT"/>
              <a:cs typeface="Arial MT"/>
            </a:endParaRPr>
          </a:p>
          <a:p>
            <a:pPr marL="240665" marR="159385">
              <a:lnSpc>
                <a:spcPct val="96200"/>
              </a:lnSpc>
              <a:spcBef>
                <a:spcPts val="1250"/>
              </a:spcBef>
            </a:pPr>
            <a:r>
              <a:rPr sz="1100" dirty="0">
                <a:latin typeface="Arial MT"/>
                <a:cs typeface="Arial MT"/>
              </a:rPr>
              <a:t>Seperti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contoh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diatas;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body,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p,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h1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suatu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selector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dimana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warna </a:t>
            </a:r>
            <a:r>
              <a:rPr sz="1100" dirty="0">
                <a:latin typeface="Arial MT"/>
                <a:cs typeface="Arial MT"/>
              </a:rPr>
              <a:t>(color),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nama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(font-</a:t>
            </a:r>
            <a:r>
              <a:rPr sz="1100" dirty="0">
                <a:latin typeface="Arial MT"/>
                <a:cs typeface="Arial MT"/>
              </a:rPr>
              <a:t>family)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jenis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(font-</a:t>
            </a:r>
            <a:r>
              <a:rPr sz="1100" dirty="0">
                <a:latin typeface="Arial MT"/>
                <a:cs typeface="Arial MT"/>
              </a:rPr>
              <a:t>weight)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diberi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nilai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tiap </a:t>
            </a:r>
            <a:r>
              <a:rPr sz="1100" dirty="0">
                <a:latin typeface="Arial MT"/>
                <a:cs typeface="Arial MT"/>
              </a:rPr>
              <a:t>propertinya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(tahoma,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bold,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blue,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dll).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30"/>
              </a:lnSpc>
            </a:pPr>
            <a:r>
              <a:rPr sz="1100" spc="-10" dirty="0">
                <a:latin typeface="Arial MT"/>
                <a:cs typeface="Arial MT"/>
              </a:rPr>
              <a:t>Contoh</a:t>
            </a:r>
            <a:endParaRPr sz="1100">
              <a:latin typeface="Arial MT"/>
              <a:cs typeface="Arial MT"/>
            </a:endParaRPr>
          </a:p>
          <a:p>
            <a:pPr marL="12700" marR="1428115">
              <a:lnSpc>
                <a:spcPts val="1280"/>
              </a:lnSpc>
              <a:spcBef>
                <a:spcPts val="45"/>
              </a:spcBef>
            </a:pPr>
            <a:r>
              <a:rPr sz="1100" dirty="0">
                <a:latin typeface="Arial MT"/>
                <a:cs typeface="Arial MT"/>
              </a:rPr>
              <a:t>h1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(font-</a:t>
            </a:r>
            <a:r>
              <a:rPr sz="1100" dirty="0">
                <a:latin typeface="Arial MT"/>
                <a:cs typeface="Arial MT"/>
              </a:rPr>
              <a:t>size: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20px;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text-</a:t>
            </a:r>
            <a:r>
              <a:rPr sz="1100" dirty="0">
                <a:latin typeface="Arial MT"/>
                <a:cs typeface="Arial MT"/>
              </a:rPr>
              <a:t>align: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left;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color: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blue;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font-</a:t>
            </a:r>
            <a:r>
              <a:rPr sz="1100" dirty="0">
                <a:latin typeface="Arial MT"/>
                <a:cs typeface="Arial MT"/>
              </a:rPr>
              <a:t>family: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Arial;)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pula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ditulis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seperti: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195"/>
              </a:lnSpc>
            </a:pPr>
            <a:r>
              <a:rPr sz="1100" spc="-10" dirty="0">
                <a:latin typeface="Arial MT"/>
                <a:cs typeface="Arial MT"/>
              </a:rPr>
              <a:t>h1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(font-size: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20px;</a:t>
            </a:r>
            <a:endParaRPr sz="1100">
              <a:latin typeface="Arial MT"/>
              <a:cs typeface="Arial MT"/>
            </a:endParaRPr>
          </a:p>
          <a:p>
            <a:pPr marL="88900" marR="4406265">
              <a:lnSpc>
                <a:spcPts val="1260"/>
              </a:lnSpc>
              <a:spcBef>
                <a:spcPts val="65"/>
              </a:spcBef>
            </a:pPr>
            <a:r>
              <a:rPr sz="1100" spc="-10" dirty="0">
                <a:latin typeface="Arial MT"/>
                <a:cs typeface="Arial MT"/>
              </a:rPr>
              <a:t>text-</a:t>
            </a:r>
            <a:r>
              <a:rPr sz="1100" dirty="0">
                <a:latin typeface="Arial MT"/>
                <a:cs typeface="Arial MT"/>
              </a:rPr>
              <a:t>align: </a:t>
            </a:r>
            <a:r>
              <a:rPr sz="1100" spc="-10" dirty="0">
                <a:latin typeface="Arial MT"/>
                <a:cs typeface="Arial MT"/>
              </a:rPr>
              <a:t>left; </a:t>
            </a:r>
            <a:r>
              <a:rPr sz="1100" dirty="0">
                <a:latin typeface="Arial MT"/>
                <a:cs typeface="Arial MT"/>
              </a:rPr>
              <a:t>color: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blue;</a:t>
            </a:r>
            <a:endParaRPr sz="1100">
              <a:latin typeface="Arial MT"/>
              <a:cs typeface="Arial MT"/>
            </a:endParaRPr>
          </a:p>
          <a:p>
            <a:pPr marL="88900">
              <a:lnSpc>
                <a:spcPts val="1220"/>
              </a:lnSpc>
            </a:pPr>
            <a:r>
              <a:rPr sz="1100" spc="-10" dirty="0">
                <a:latin typeface="Arial MT"/>
                <a:cs typeface="Arial MT"/>
              </a:rPr>
              <a:t>font-family: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Arial;)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60"/>
              </a:lnSpc>
            </a:pPr>
            <a:r>
              <a:rPr sz="1100" spc="-10" dirty="0">
                <a:latin typeface="Arial MT"/>
                <a:cs typeface="Arial MT"/>
              </a:rPr>
              <a:t>Pengelompokan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Selector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(Grouping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Selectors)</a:t>
            </a:r>
            <a:endParaRPr sz="1100">
              <a:latin typeface="Arial MT"/>
              <a:cs typeface="Arial MT"/>
            </a:endParaRPr>
          </a:p>
          <a:p>
            <a:pPr marL="240665" marR="196215" indent="-228600">
              <a:lnSpc>
                <a:spcPct val="96200"/>
              </a:lnSpc>
              <a:spcBef>
                <a:spcPts val="20"/>
              </a:spcBef>
            </a:pPr>
            <a:r>
              <a:rPr sz="1100" spc="-10" dirty="0">
                <a:latin typeface="Arial MT"/>
                <a:cs typeface="Arial MT"/>
              </a:rPr>
              <a:t>Seperti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dilihat,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</a:t>
            </a:r>
            <a:r>
              <a:rPr sz="1100" spc="-10" dirty="0">
                <a:latin typeface="Arial MT"/>
                <a:cs typeface="Arial MT"/>
              </a:rPr>
              <a:t> selector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memiliki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beberapa</a:t>
            </a:r>
            <a:r>
              <a:rPr sz="1100" spc="-10" dirty="0">
                <a:latin typeface="Arial MT"/>
                <a:cs typeface="Arial MT"/>
              </a:rPr>
              <a:t> properti.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konteks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berbeda,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beberapa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selector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mempunyai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properti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nilai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yang </a:t>
            </a:r>
            <a:r>
              <a:rPr sz="1100" dirty="0">
                <a:latin typeface="Arial MT"/>
                <a:cs typeface="Arial MT"/>
              </a:rPr>
              <a:t>sama.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begitu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harus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dilakukan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pengolompokan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selector.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20"/>
              </a:lnSpc>
            </a:pPr>
            <a:r>
              <a:rPr sz="1100" dirty="0">
                <a:latin typeface="Arial MT"/>
                <a:cs typeface="Arial MT"/>
              </a:rPr>
              <a:t>h1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body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ul</a:t>
            </a:r>
            <a:endParaRPr sz="1100">
              <a:latin typeface="Arial MT"/>
              <a:cs typeface="Arial MT"/>
            </a:endParaRPr>
          </a:p>
          <a:p>
            <a:pPr marL="129539">
              <a:lnSpc>
                <a:spcPts val="1270"/>
              </a:lnSpc>
            </a:pPr>
            <a:r>
              <a:rPr sz="1100" spc="-50" dirty="0">
                <a:latin typeface="Arial MT"/>
                <a:cs typeface="Arial MT"/>
              </a:rPr>
              <a:t>{</a:t>
            </a:r>
            <a:endParaRPr sz="1100">
              <a:latin typeface="Arial MT"/>
              <a:cs typeface="Arial MT"/>
            </a:endParaRPr>
          </a:p>
          <a:p>
            <a:pPr marL="363220">
              <a:lnSpc>
                <a:spcPts val="1270"/>
              </a:lnSpc>
            </a:pPr>
            <a:r>
              <a:rPr sz="1100" spc="-10" dirty="0">
                <a:latin typeface="Arial MT"/>
                <a:cs typeface="Arial MT"/>
              </a:rPr>
              <a:t>color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: </a:t>
            </a:r>
            <a:r>
              <a:rPr sz="1100" spc="-10" dirty="0">
                <a:latin typeface="Arial MT"/>
                <a:cs typeface="Arial MT"/>
              </a:rPr>
              <a:t>blue;</a:t>
            </a:r>
            <a:endParaRPr sz="1100">
              <a:latin typeface="Arial MT"/>
              <a:cs typeface="Arial MT"/>
            </a:endParaRPr>
          </a:p>
          <a:p>
            <a:pPr marL="129539">
              <a:lnSpc>
                <a:spcPts val="1260"/>
              </a:lnSpc>
            </a:pPr>
            <a:r>
              <a:rPr sz="1100" spc="-50" dirty="0">
                <a:latin typeface="Arial MT"/>
                <a:cs typeface="Arial MT"/>
              </a:rPr>
              <a:t>}</a:t>
            </a:r>
            <a:endParaRPr sz="1100">
              <a:latin typeface="Arial MT"/>
              <a:cs typeface="Arial MT"/>
            </a:endParaRPr>
          </a:p>
          <a:p>
            <a:pPr marL="240665" marR="324485" indent="-228600">
              <a:lnSpc>
                <a:spcPts val="1280"/>
              </a:lnSpc>
              <a:spcBef>
                <a:spcPts val="35"/>
              </a:spcBef>
            </a:pP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contoh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diatas,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elemen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header,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body,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paragraph,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unordered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list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berada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pada </a:t>
            </a:r>
            <a:r>
              <a:rPr sz="1100" dirty="0">
                <a:latin typeface="Arial MT"/>
                <a:cs typeface="Arial MT"/>
              </a:rPr>
              <a:t>group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sama.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Semua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elemen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tersebut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nantinya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akan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berwarna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biru.</a:t>
            </a:r>
            <a:endParaRPr sz="11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105"/>
              </a:spcBef>
            </a:pPr>
            <a:r>
              <a:rPr sz="1100" b="1" spc="-10" dirty="0">
                <a:latin typeface="Arial"/>
                <a:cs typeface="Arial"/>
              </a:rPr>
              <a:t>PENGELOMPOKAN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DALAM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CSS</a:t>
            </a:r>
            <a:endParaRPr sz="11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0"/>
              </a:spcBef>
              <a:buChar char="-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berbagi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sama,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beberapa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elemen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mempunyai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nilai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properti</a:t>
            </a:r>
            <a:endParaRPr sz="110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sama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(misalnya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font,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ukuran,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warna,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dll).</a:t>
            </a:r>
            <a:endParaRPr sz="1100">
              <a:latin typeface="Arial MT"/>
              <a:cs typeface="Arial MT"/>
            </a:endParaRPr>
          </a:p>
          <a:p>
            <a:pPr marL="240665" marR="32384" indent="-228600">
              <a:lnSpc>
                <a:spcPct val="110600"/>
              </a:lnSpc>
              <a:spcBef>
                <a:spcPts val="980"/>
              </a:spcBef>
              <a:buChar char="-"/>
              <a:tabLst>
                <a:tab pos="240665" algn="l"/>
              </a:tabLst>
            </a:pP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perintah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memberikan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properti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elemen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berbeda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nilai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sama.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08353" y="9416412"/>
            <a:ext cx="1169035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rPr sz="1000" spc="-10" dirty="0">
                <a:latin typeface="Courier New"/>
                <a:cs typeface="Courier New"/>
              </a:rPr>
              <a:t>no-</a:t>
            </a:r>
            <a:r>
              <a:rPr sz="1000" dirty="0">
                <a:latin typeface="Courier New"/>
                <a:cs typeface="Courier New"/>
              </a:rPr>
              <a:t>repeat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fixed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17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894333"/>
            <a:ext cx="5516880" cy="853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70485" indent="-228600">
              <a:lnSpc>
                <a:spcPct val="107600"/>
              </a:lnSpc>
              <a:spcBef>
                <a:spcPts val="100"/>
              </a:spcBef>
              <a:tabLst>
                <a:tab pos="299085" algn="l"/>
              </a:tabLst>
            </a:pPr>
            <a:r>
              <a:rPr sz="1100" spc="-50" dirty="0">
                <a:latin typeface="Arial MT"/>
                <a:cs typeface="Arial MT"/>
              </a:rPr>
              <a:t>-</a:t>
            </a:r>
            <a:r>
              <a:rPr sz="1100" dirty="0">
                <a:latin typeface="Arial MT"/>
                <a:cs typeface="Arial MT"/>
              </a:rPr>
              <a:t>	Untuk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menghemat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waktu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terjadi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penambahan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properti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juga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ketika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merubah </a:t>
            </a:r>
            <a:r>
              <a:rPr sz="1100" dirty="0">
                <a:latin typeface="Arial MT"/>
                <a:cs typeface="Arial MT"/>
              </a:rPr>
              <a:t>properti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elemen.</a:t>
            </a:r>
            <a:endParaRPr sz="1100">
              <a:latin typeface="Arial MT"/>
              <a:cs typeface="Arial MT"/>
            </a:endParaRPr>
          </a:p>
          <a:p>
            <a:pPr marL="70485">
              <a:lnSpc>
                <a:spcPct val="100000"/>
              </a:lnSpc>
              <a:spcBef>
                <a:spcPts val="1080"/>
              </a:spcBef>
            </a:pPr>
            <a:r>
              <a:rPr sz="1100" b="1" spc="-10" dirty="0">
                <a:latin typeface="Arial"/>
                <a:cs typeface="Arial"/>
              </a:rPr>
              <a:t>PADDING,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MARGIN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DAN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BORDER</a:t>
            </a:r>
            <a:endParaRPr sz="1100">
              <a:latin typeface="Arial"/>
              <a:cs typeface="Arial"/>
            </a:endParaRPr>
          </a:p>
          <a:p>
            <a:pPr marL="299085" marR="44450" indent="-228600">
              <a:lnSpc>
                <a:spcPts val="1280"/>
              </a:lnSpc>
              <a:spcBef>
                <a:spcPts val="75"/>
              </a:spcBef>
            </a:pPr>
            <a:r>
              <a:rPr sz="1100" spc="-10" dirty="0">
                <a:latin typeface="Arial MT"/>
                <a:cs typeface="Arial MT"/>
              </a:rPr>
              <a:t>Padding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Menentukan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jarak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komponen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body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border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atau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Ukuran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jarak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bagian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dalam </a:t>
            </a:r>
            <a:r>
              <a:rPr sz="1100" dirty="0">
                <a:latin typeface="Arial MT"/>
                <a:cs typeface="Arial MT"/>
              </a:rPr>
              <a:t>Border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garis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tepi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dari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komponen</a:t>
            </a:r>
            <a:endParaRPr sz="1100">
              <a:latin typeface="Arial MT"/>
              <a:cs typeface="Arial MT"/>
            </a:endParaRPr>
          </a:p>
          <a:p>
            <a:pPr marL="299085">
              <a:lnSpc>
                <a:spcPts val="1245"/>
              </a:lnSpc>
            </a:pPr>
            <a:r>
              <a:rPr sz="1100" dirty="0">
                <a:latin typeface="Arial MT"/>
                <a:cs typeface="Arial MT"/>
              </a:rPr>
              <a:t>Margin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Ukuran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jarak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bagian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luar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atau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ukuran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jarak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sesudah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Border</a:t>
            </a:r>
            <a:endParaRPr sz="1100">
              <a:latin typeface="Arial MT"/>
              <a:cs typeface="Arial MT"/>
            </a:endParaRPr>
          </a:p>
          <a:p>
            <a:pPr marL="299085">
              <a:lnSpc>
                <a:spcPts val="1280"/>
              </a:lnSpc>
              <a:spcBef>
                <a:spcPts val="1205"/>
              </a:spcBef>
            </a:pPr>
            <a:r>
              <a:rPr sz="1100" spc="-10" dirty="0">
                <a:latin typeface="Arial MT"/>
                <a:cs typeface="Arial MT"/>
              </a:rPr>
              <a:t>Padding</a:t>
            </a:r>
            <a:endParaRPr sz="1100">
              <a:latin typeface="Arial MT"/>
              <a:cs typeface="Arial MT"/>
            </a:endParaRPr>
          </a:p>
          <a:p>
            <a:pPr marL="299085" marR="243840">
              <a:lnSpc>
                <a:spcPts val="1280"/>
              </a:lnSpc>
              <a:spcBef>
                <a:spcPts val="35"/>
              </a:spcBef>
            </a:pPr>
            <a:r>
              <a:rPr sz="1100" spc="-10" dirty="0">
                <a:latin typeface="Arial MT"/>
                <a:cs typeface="Arial MT"/>
              </a:rPr>
              <a:t>ditulis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padding:5px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5px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5px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5px;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urutan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nilai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angkanya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atas, </a:t>
            </a:r>
            <a:r>
              <a:rPr sz="1100" dirty="0">
                <a:latin typeface="Arial MT"/>
                <a:cs typeface="Arial MT"/>
              </a:rPr>
              <a:t>kanan,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bawah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kiri,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atau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menggunakan</a:t>
            </a:r>
            <a:endParaRPr sz="1100">
              <a:latin typeface="Arial MT"/>
              <a:cs typeface="Arial MT"/>
            </a:endParaRPr>
          </a:p>
          <a:p>
            <a:pPr marL="299085" marR="1224915">
              <a:lnSpc>
                <a:spcPts val="1260"/>
              </a:lnSpc>
              <a:spcBef>
                <a:spcPts val="35"/>
              </a:spcBef>
            </a:pPr>
            <a:r>
              <a:rPr sz="1100" spc="-10" dirty="0">
                <a:latin typeface="Arial MT"/>
                <a:cs typeface="Arial MT"/>
              </a:rPr>
              <a:t>padding-</a:t>
            </a:r>
            <a:r>
              <a:rPr sz="1100" dirty="0">
                <a:latin typeface="Arial MT"/>
                <a:cs typeface="Arial MT"/>
              </a:rPr>
              <a:t>left:5px;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pengaturan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padding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bagian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kiri </a:t>
            </a:r>
            <a:r>
              <a:rPr sz="1100" spc="-10" dirty="0">
                <a:latin typeface="Arial MT"/>
                <a:cs typeface="Arial MT"/>
              </a:rPr>
              <a:t>padding-</a:t>
            </a:r>
            <a:r>
              <a:rPr sz="1100" dirty="0">
                <a:latin typeface="Arial MT"/>
                <a:cs typeface="Arial MT"/>
              </a:rPr>
              <a:t>right:5px;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pengaturan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kanan padding-</a:t>
            </a:r>
            <a:r>
              <a:rPr sz="1100" dirty="0">
                <a:latin typeface="Arial MT"/>
                <a:cs typeface="Arial MT"/>
              </a:rPr>
              <a:t>top:5px;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bagian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dan</a:t>
            </a:r>
            <a:endParaRPr sz="1100">
              <a:latin typeface="Arial MT"/>
              <a:cs typeface="Arial MT"/>
            </a:endParaRPr>
          </a:p>
          <a:p>
            <a:pPr marL="299085" marR="167640">
              <a:lnSpc>
                <a:spcPts val="1260"/>
              </a:lnSpc>
              <a:spcBef>
                <a:spcPts val="20"/>
              </a:spcBef>
            </a:pPr>
            <a:r>
              <a:rPr sz="1100" spc="-10" dirty="0">
                <a:latin typeface="Arial MT"/>
                <a:cs typeface="Arial MT"/>
              </a:rPr>
              <a:t>padding-bottom:5px;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 </a:t>
            </a:r>
            <a:r>
              <a:rPr sz="1100" spc="-10" dirty="0">
                <a:latin typeface="Arial MT"/>
                <a:cs typeface="Arial MT"/>
              </a:rPr>
              <a:t>bagian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bawah,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Ingat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 </a:t>
            </a:r>
            <a:r>
              <a:rPr sz="1100" spc="-10" dirty="0">
                <a:latin typeface="Arial MT"/>
                <a:cs typeface="Arial MT"/>
              </a:rPr>
              <a:t>px(pixels)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kamu </a:t>
            </a:r>
            <a:r>
              <a:rPr sz="1100" spc="-10" dirty="0">
                <a:latin typeface="Arial MT"/>
                <a:cs typeface="Arial MT"/>
              </a:rPr>
              <a:t>ganti </a:t>
            </a:r>
            <a:r>
              <a:rPr sz="1100" dirty="0">
                <a:latin typeface="Arial MT"/>
                <a:cs typeface="Arial MT"/>
              </a:rPr>
              <a:t>sesuai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satuan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lain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sesuai</a:t>
            </a:r>
            <a:endParaRPr sz="1100">
              <a:latin typeface="Arial MT"/>
              <a:cs typeface="Arial MT"/>
            </a:endParaRPr>
          </a:p>
          <a:p>
            <a:pPr marL="299085">
              <a:lnSpc>
                <a:spcPts val="1290"/>
              </a:lnSpc>
              <a:spcBef>
                <a:spcPts val="1150"/>
              </a:spcBef>
            </a:pPr>
            <a:r>
              <a:rPr sz="1100" spc="-10" dirty="0">
                <a:latin typeface="Arial MT"/>
                <a:cs typeface="Arial MT"/>
              </a:rPr>
              <a:t>Border</a:t>
            </a:r>
            <a:endParaRPr sz="1100">
              <a:latin typeface="Arial MT"/>
              <a:cs typeface="Arial MT"/>
            </a:endParaRPr>
          </a:p>
          <a:p>
            <a:pPr marL="299085" marR="408305">
              <a:lnSpc>
                <a:spcPts val="1280"/>
              </a:lnSpc>
              <a:spcBef>
                <a:spcPts val="45"/>
              </a:spcBef>
            </a:pPr>
            <a:r>
              <a:rPr sz="1100" spc="-10" dirty="0">
                <a:latin typeface="Arial MT"/>
                <a:cs typeface="Arial MT"/>
              </a:rPr>
              <a:t>Ditulis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border:1px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dotted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#000000;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urutan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penggunaanya adalah </a:t>
            </a:r>
            <a:r>
              <a:rPr sz="1100" dirty="0">
                <a:latin typeface="Arial MT"/>
                <a:cs typeface="Arial MT"/>
              </a:rPr>
              <a:t>ukran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border,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border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warna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border,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atau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menggunakan</a:t>
            </a:r>
            <a:endParaRPr sz="1100">
              <a:latin typeface="Arial MT"/>
              <a:cs typeface="Arial MT"/>
            </a:endParaRPr>
          </a:p>
          <a:p>
            <a:pPr marL="299085">
              <a:lnSpc>
                <a:spcPts val="1175"/>
              </a:lnSpc>
            </a:pPr>
            <a:r>
              <a:rPr sz="1100" spc="-10" dirty="0">
                <a:latin typeface="Arial MT"/>
                <a:cs typeface="Arial MT"/>
              </a:rPr>
              <a:t>border-width:1px;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10" dirty="0">
                <a:latin typeface="Arial MT"/>
                <a:cs typeface="Arial MT"/>
              </a:rPr>
              <a:t> ketebalan border</a:t>
            </a:r>
            <a:endParaRPr sz="1100">
              <a:latin typeface="Arial MT"/>
              <a:cs typeface="Arial MT"/>
            </a:endParaRPr>
          </a:p>
          <a:p>
            <a:pPr marL="299085" marR="334010">
              <a:lnSpc>
                <a:spcPts val="1280"/>
              </a:lnSpc>
              <a:spcBef>
                <a:spcPts val="50"/>
              </a:spcBef>
            </a:pPr>
            <a:r>
              <a:rPr sz="1100" spc="-10" dirty="0">
                <a:latin typeface="Arial MT"/>
                <a:cs typeface="Arial MT"/>
              </a:rPr>
              <a:t>border-style:dotted;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jenis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bordernya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kamu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ganti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dashed, </a:t>
            </a:r>
            <a:r>
              <a:rPr sz="1100" dirty="0">
                <a:latin typeface="Arial MT"/>
                <a:cs typeface="Arial MT"/>
              </a:rPr>
              <a:t>solid,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double,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groove,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ridge,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inset,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outset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lainya</a:t>
            </a:r>
            <a:endParaRPr sz="1100">
              <a:latin typeface="Arial MT"/>
              <a:cs typeface="Arial MT"/>
            </a:endParaRPr>
          </a:p>
          <a:p>
            <a:pPr marL="299085" marR="177165">
              <a:lnSpc>
                <a:spcPts val="1280"/>
              </a:lnSpc>
            </a:pPr>
            <a:r>
              <a:rPr sz="1100" spc="-10" dirty="0">
                <a:latin typeface="Arial MT"/>
                <a:cs typeface="Arial MT"/>
              </a:rPr>
              <a:t>border-color:#FFFFFF;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ini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adalah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warna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dari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border..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kamu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menggantin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code </a:t>
            </a:r>
            <a:r>
              <a:rPr sz="1100" dirty="0">
                <a:latin typeface="Arial MT"/>
                <a:cs typeface="Arial MT"/>
              </a:rPr>
              <a:t>warnanya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</a:t>
            </a:r>
            <a:r>
              <a:rPr sz="1100" spc="-10" dirty="0">
                <a:latin typeface="Arial MT"/>
                <a:cs typeface="Arial MT"/>
                <a:hlinkClick r:id="rId2"/>
              </a:rPr>
              <a:t>www.colorschemer.com/online)</a:t>
            </a:r>
            <a:endParaRPr sz="1100">
              <a:latin typeface="Arial MT"/>
              <a:cs typeface="Arial MT"/>
            </a:endParaRPr>
          </a:p>
          <a:p>
            <a:pPr marL="299085">
              <a:lnSpc>
                <a:spcPts val="1290"/>
              </a:lnSpc>
              <a:spcBef>
                <a:spcPts val="1165"/>
              </a:spcBef>
            </a:pPr>
            <a:r>
              <a:rPr sz="1100" spc="-10" dirty="0">
                <a:latin typeface="Arial MT"/>
                <a:cs typeface="Arial MT"/>
              </a:rPr>
              <a:t>Margin</a:t>
            </a:r>
            <a:endParaRPr sz="1100">
              <a:latin typeface="Arial MT"/>
              <a:cs typeface="Arial MT"/>
            </a:endParaRPr>
          </a:p>
          <a:p>
            <a:pPr marL="299085" marR="106680">
              <a:lnSpc>
                <a:spcPts val="1260"/>
              </a:lnSpc>
              <a:spcBef>
                <a:spcPts val="60"/>
              </a:spcBef>
            </a:pPr>
            <a:r>
              <a:rPr sz="1100" dirty="0">
                <a:latin typeface="Arial MT"/>
                <a:cs typeface="Arial MT"/>
              </a:rPr>
              <a:t>Ditulis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margin:5px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5px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5px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5px;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urutanya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atas,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kanan,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bawah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kiri, </a:t>
            </a:r>
            <a:r>
              <a:rPr sz="1100" dirty="0">
                <a:latin typeface="Arial MT"/>
                <a:cs typeface="Arial MT"/>
              </a:rPr>
              <a:t>atau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menngunakan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seperti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padding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diatas</a:t>
            </a:r>
            <a:endParaRPr sz="1100">
              <a:latin typeface="Arial MT"/>
              <a:cs typeface="Arial MT"/>
            </a:endParaRPr>
          </a:p>
          <a:p>
            <a:pPr marL="299085">
              <a:lnSpc>
                <a:spcPts val="1210"/>
              </a:lnSpc>
            </a:pPr>
            <a:r>
              <a:rPr sz="1100" spc="-20" dirty="0">
                <a:latin typeface="Arial MT"/>
                <a:cs typeface="Arial MT"/>
              </a:rPr>
              <a:t>margin-</a:t>
            </a:r>
            <a:r>
              <a:rPr sz="1100" spc="-10" dirty="0">
                <a:latin typeface="Arial MT"/>
                <a:cs typeface="Arial MT"/>
              </a:rPr>
              <a:t>left:5px;</a:t>
            </a:r>
            <a:endParaRPr sz="1100">
              <a:latin typeface="Arial MT"/>
              <a:cs typeface="Arial MT"/>
            </a:endParaRPr>
          </a:p>
          <a:p>
            <a:pPr marL="299085" marR="4027170">
              <a:lnSpc>
                <a:spcPts val="1260"/>
              </a:lnSpc>
              <a:spcBef>
                <a:spcPts val="75"/>
              </a:spcBef>
            </a:pPr>
            <a:r>
              <a:rPr sz="1100" spc="-20" dirty="0">
                <a:latin typeface="Arial MT"/>
                <a:cs typeface="Arial MT"/>
              </a:rPr>
              <a:t>margin-</a:t>
            </a:r>
            <a:r>
              <a:rPr sz="1100" spc="-10" dirty="0">
                <a:latin typeface="Arial MT"/>
                <a:cs typeface="Arial MT"/>
              </a:rPr>
              <a:t>right:5px; </a:t>
            </a:r>
            <a:r>
              <a:rPr sz="1100" spc="-20" dirty="0">
                <a:latin typeface="Arial MT"/>
                <a:cs typeface="Arial MT"/>
              </a:rPr>
              <a:t>margin-</a:t>
            </a:r>
            <a:r>
              <a:rPr sz="1100" spc="-10" dirty="0">
                <a:latin typeface="Arial MT"/>
                <a:cs typeface="Arial MT"/>
              </a:rPr>
              <a:t>top:5px; </a:t>
            </a:r>
            <a:r>
              <a:rPr sz="1100" spc="-25" dirty="0">
                <a:latin typeface="Arial MT"/>
                <a:cs typeface="Arial MT"/>
              </a:rPr>
              <a:t>margin-</a:t>
            </a:r>
            <a:r>
              <a:rPr sz="1100" spc="-10" dirty="0">
                <a:latin typeface="Arial MT"/>
                <a:cs typeface="Arial MT"/>
              </a:rPr>
              <a:t>bottom:5px;</a:t>
            </a:r>
            <a:endParaRPr sz="1100">
              <a:latin typeface="Arial MT"/>
              <a:cs typeface="Arial MT"/>
            </a:endParaRPr>
          </a:p>
          <a:p>
            <a:pPr marL="299085">
              <a:lnSpc>
                <a:spcPts val="1230"/>
              </a:lnSpc>
            </a:pPr>
            <a:r>
              <a:rPr sz="1100" spc="-10" dirty="0">
                <a:latin typeface="Arial MT"/>
                <a:cs typeface="Arial MT"/>
              </a:rPr>
              <a:t>keterangan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lainya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bisa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mengikuti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keterangan</a:t>
            </a:r>
            <a:r>
              <a:rPr sz="1100" spc="-10" dirty="0">
                <a:latin typeface="Arial MT"/>
                <a:cs typeface="Arial MT"/>
              </a:rPr>
              <a:t> padding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diatas</a:t>
            </a:r>
            <a:endParaRPr sz="1100">
              <a:latin typeface="Arial MT"/>
              <a:cs typeface="Arial MT"/>
            </a:endParaRPr>
          </a:p>
          <a:p>
            <a:pPr marL="70485">
              <a:lnSpc>
                <a:spcPct val="100000"/>
              </a:lnSpc>
              <a:spcBef>
                <a:spcPts val="1160"/>
              </a:spcBef>
            </a:pPr>
            <a:r>
              <a:rPr sz="1100" b="1" dirty="0">
                <a:latin typeface="Arial"/>
                <a:cs typeface="Arial"/>
              </a:rPr>
              <a:t>3.</a:t>
            </a:r>
            <a:r>
              <a:rPr sz="1100" b="1" spc="120" dirty="0">
                <a:latin typeface="Arial"/>
                <a:cs typeface="Arial"/>
              </a:rPr>
              <a:t>  </a:t>
            </a:r>
            <a:r>
              <a:rPr sz="1100" b="1" spc="-10" dirty="0">
                <a:latin typeface="Arial"/>
                <a:cs typeface="Arial"/>
              </a:rPr>
              <a:t>LATIHAN</a:t>
            </a:r>
            <a:endParaRPr sz="1100">
              <a:latin typeface="Arial"/>
              <a:cs typeface="Arial"/>
            </a:endParaRPr>
          </a:p>
          <a:p>
            <a:pPr marL="12700" marR="5080" indent="286385" algn="just">
              <a:lnSpc>
                <a:spcPct val="96100"/>
              </a:lnSpc>
              <a:spcBef>
                <a:spcPts val="630"/>
              </a:spcBef>
            </a:pPr>
            <a:r>
              <a:rPr sz="1100" dirty="0">
                <a:latin typeface="Arial MT"/>
                <a:cs typeface="Arial MT"/>
              </a:rPr>
              <a:t>Bagian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ini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mencakup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penggunaan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mengubah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tampilan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pada </a:t>
            </a:r>
            <a:r>
              <a:rPr sz="1100" dirty="0">
                <a:latin typeface="Arial MT"/>
                <a:cs typeface="Arial MT"/>
              </a:rPr>
              <a:t>halaman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Anda.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Tidak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semua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tag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style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digunakan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disini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karena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jumlahnya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sangat </a:t>
            </a:r>
            <a:r>
              <a:rPr sz="1100" dirty="0">
                <a:latin typeface="Arial MT"/>
                <a:cs typeface="Arial MT"/>
              </a:rPr>
              <a:t>banyak,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silakan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cari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referensi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lain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sebagai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tambahan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mempelajari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CSS. </a:t>
            </a:r>
            <a:r>
              <a:rPr sz="1100" dirty="0">
                <a:latin typeface="Arial MT"/>
                <a:cs typeface="Arial MT"/>
              </a:rPr>
              <a:t>Seperti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biasa,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simpan</a:t>
            </a:r>
            <a:r>
              <a:rPr sz="1100" spc="37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file-</a:t>
            </a:r>
            <a:r>
              <a:rPr sz="1100" dirty="0">
                <a:latin typeface="Arial MT"/>
                <a:cs typeface="Arial MT"/>
              </a:rPr>
              <a:t>file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3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folder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sendiri,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kemudian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cobalah </a:t>
            </a:r>
            <a:r>
              <a:rPr sz="1100" dirty="0">
                <a:latin typeface="Arial MT"/>
                <a:cs typeface="Arial MT"/>
              </a:rPr>
              <a:t>langsung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melihat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hasil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setiap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contoh,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lalu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ubahlah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isinya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melihat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variasi </a:t>
            </a:r>
            <a:r>
              <a:rPr sz="1100" dirty="0">
                <a:latin typeface="Arial MT"/>
                <a:cs typeface="Arial MT"/>
              </a:rPr>
              <a:t>tampilannya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memungkinkan.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Perhatikan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bahwa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semua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contoh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disini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menggunakan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internal,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silakan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berlatih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4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mengubahnya</a:t>
            </a:r>
            <a:r>
              <a:rPr sz="1100" spc="3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menjadi</a:t>
            </a:r>
            <a:r>
              <a:rPr sz="1100" spc="3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CSS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eksternal. </a:t>
            </a:r>
            <a:r>
              <a:rPr sz="1100" dirty="0">
                <a:latin typeface="Arial MT"/>
                <a:cs typeface="Arial MT"/>
              </a:rPr>
              <a:t>Gunakan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sembarang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gambar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dapat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Anda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temui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untuk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contoh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yang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memerlukan </a:t>
            </a:r>
            <a:r>
              <a:rPr sz="1100" dirty="0">
                <a:latin typeface="Arial MT"/>
                <a:cs typeface="Arial MT"/>
              </a:rPr>
              <a:t>gambar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(sesuaikan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dulu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dengan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dalam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contoh).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250"/>
              </a:lnSpc>
            </a:pPr>
            <a:r>
              <a:rPr sz="1100" b="1" dirty="0">
                <a:latin typeface="Arial"/>
                <a:cs typeface="Arial"/>
              </a:rPr>
              <a:t>a.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Pengaturan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latar</a:t>
            </a:r>
            <a:r>
              <a:rPr sz="1100" b="1" spc="-7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belakang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8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3535045">
              <a:lnSpc>
                <a:spcPts val="1140"/>
              </a:lnSpc>
              <a:spcBef>
                <a:spcPts val="30"/>
              </a:spcBef>
            </a:pPr>
            <a:r>
              <a:rPr sz="1000" spc="-10" dirty="0">
                <a:latin typeface="Courier New"/>
                <a:cs typeface="Courier New"/>
              </a:rPr>
              <a:t>&lt;style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type="text/css"&gt; </a:t>
            </a:r>
            <a:r>
              <a:rPr sz="1000" spc="-20" dirty="0">
                <a:latin typeface="Courier New"/>
                <a:cs typeface="Courier New"/>
              </a:rPr>
              <a:t>body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75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 marR="3839845">
              <a:lnSpc>
                <a:spcPts val="1140"/>
              </a:lnSpc>
              <a:spcBef>
                <a:spcPts val="30"/>
              </a:spcBef>
            </a:pPr>
            <a:r>
              <a:rPr sz="1000" spc="-10" dirty="0">
                <a:latin typeface="Courier New"/>
                <a:cs typeface="Courier New"/>
              </a:rPr>
              <a:t>background: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#00ff00 url("gambar.gif")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308353" y="9451972"/>
            <a:ext cx="2159000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dalam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Internet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Explorer.&lt;br&gt;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18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912241"/>
            <a:ext cx="4446905" cy="799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19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center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center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&lt;b&gt;Catatan:&lt;/b&gt;</a:t>
            </a:r>
            <a:endParaRPr sz="1000">
              <a:latin typeface="Courier New"/>
              <a:cs typeface="Courier New"/>
            </a:endParaRPr>
          </a:p>
          <a:p>
            <a:pPr marL="240665" marR="5080">
              <a:lnSpc>
                <a:spcPts val="1140"/>
              </a:lnSpc>
              <a:spcBef>
                <a:spcPts val="35"/>
              </a:spcBef>
            </a:pPr>
            <a:r>
              <a:rPr sz="1000" dirty="0">
                <a:latin typeface="Courier New"/>
                <a:cs typeface="Courier New"/>
              </a:rPr>
              <a:t>Properti</a:t>
            </a:r>
            <a:r>
              <a:rPr sz="1000" spc="2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background-</a:t>
            </a:r>
            <a:r>
              <a:rPr sz="1000" dirty="0">
                <a:latin typeface="Courier New"/>
                <a:cs typeface="Courier New"/>
              </a:rPr>
              <a:t>attachment</a:t>
            </a:r>
            <a:r>
              <a:rPr sz="1000" spc="2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dan</a:t>
            </a:r>
            <a:r>
              <a:rPr sz="1000" spc="20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background-position </a:t>
            </a:r>
            <a:r>
              <a:rPr sz="1000" dirty="0">
                <a:latin typeface="Courier New"/>
                <a:cs typeface="Courier New"/>
              </a:rPr>
              <a:t>digunakan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dalam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browser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Netscape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4.0.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5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&lt;p&gt;Ada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teks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disini&lt;/p&gt;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&lt;p&gt;Tuliskan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sekehendak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kalian&lt;/p&gt;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&lt;p&gt;Terserah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apa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saja&lt;/p&gt;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dirty="0">
                <a:latin typeface="Courier New"/>
                <a:cs typeface="Courier New"/>
              </a:rPr>
              <a:t>&lt;p&gt;Yang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penting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tulisannya&lt;/p&gt;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220"/>
              </a:lnSpc>
            </a:pPr>
            <a:r>
              <a:rPr sz="1100" b="1" dirty="0">
                <a:latin typeface="Arial"/>
                <a:cs typeface="Arial"/>
              </a:rPr>
              <a:t>b.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Penanganan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font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  <a:spcBef>
                <a:spcPts val="65"/>
              </a:spcBef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1931035">
              <a:lnSpc>
                <a:spcPct val="94100"/>
              </a:lnSpc>
            </a:pPr>
            <a:r>
              <a:rPr sz="1000" dirty="0">
                <a:latin typeface="Courier New"/>
                <a:cs typeface="Courier New"/>
              </a:rPr>
              <a:t>&lt;style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type="text/css"&gt; </a:t>
            </a:r>
            <a:r>
              <a:rPr sz="1000" dirty="0">
                <a:latin typeface="Courier New"/>
                <a:cs typeface="Courier New"/>
              </a:rPr>
              <a:t>p.normal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{font-</a:t>
            </a:r>
            <a:r>
              <a:rPr sz="1000" dirty="0">
                <a:latin typeface="Courier New"/>
                <a:cs typeface="Courier New"/>
              </a:rPr>
              <a:t>weight: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normal} </a:t>
            </a:r>
            <a:r>
              <a:rPr sz="1000" dirty="0">
                <a:latin typeface="Courier New"/>
                <a:cs typeface="Courier New"/>
              </a:rPr>
              <a:t>p.tebal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{font-</a:t>
            </a:r>
            <a:r>
              <a:rPr sz="1000" dirty="0">
                <a:latin typeface="Courier New"/>
                <a:cs typeface="Courier New"/>
              </a:rPr>
              <a:t>weight: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bold}</a:t>
            </a:r>
            <a:endParaRPr sz="1000">
              <a:latin typeface="Courier New"/>
              <a:cs typeface="Courier New"/>
            </a:endParaRPr>
          </a:p>
          <a:p>
            <a:pPr marL="240665" marR="2063750">
              <a:lnSpc>
                <a:spcPts val="1120"/>
              </a:lnSpc>
              <a:spcBef>
                <a:spcPts val="45"/>
              </a:spcBef>
            </a:pPr>
            <a:r>
              <a:rPr sz="1000" dirty="0">
                <a:latin typeface="Courier New"/>
                <a:cs typeface="Courier New"/>
              </a:rPr>
              <a:t>p.teballl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{font-</a:t>
            </a:r>
            <a:r>
              <a:rPr sz="1000" dirty="0">
                <a:latin typeface="Courier New"/>
                <a:cs typeface="Courier New"/>
              </a:rPr>
              <a:t>weight:</a:t>
            </a:r>
            <a:r>
              <a:rPr sz="1000" spc="-20" dirty="0">
                <a:latin typeface="Courier New"/>
                <a:cs typeface="Courier New"/>
              </a:rPr>
              <a:t> 900} </a:t>
            </a:r>
            <a:r>
              <a:rPr sz="1000" spc="-10" dirty="0">
                <a:latin typeface="Courier New"/>
                <a:cs typeface="Courier New"/>
              </a:rPr>
              <a:t>p.lengkap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5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font: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italic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small-</a:t>
            </a:r>
            <a:r>
              <a:rPr sz="1000" dirty="0">
                <a:latin typeface="Courier New"/>
                <a:cs typeface="Courier New"/>
              </a:rPr>
              <a:t>caps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900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12px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arial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2159635">
              <a:lnSpc>
                <a:spcPts val="1120"/>
              </a:lnSpc>
              <a:spcBef>
                <a:spcPts val="35"/>
              </a:spcBef>
            </a:pPr>
            <a:r>
              <a:rPr sz="1000" dirty="0">
                <a:latin typeface="Courier New"/>
                <a:cs typeface="Courier New"/>
              </a:rPr>
              <a:t>&lt;p</a:t>
            </a:r>
            <a:r>
              <a:rPr sz="1000" spc="-10" dirty="0">
                <a:latin typeface="Courier New"/>
                <a:cs typeface="Courier New"/>
              </a:rPr>
              <a:t> class="normal"&gt; </a:t>
            </a:r>
            <a:r>
              <a:rPr sz="1000" dirty="0">
                <a:latin typeface="Courier New"/>
                <a:cs typeface="Courier New"/>
              </a:rPr>
              <a:t>Perhatikan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paragraf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ini&lt;/p&gt;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&lt;p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class="tebal"&gt;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Bandingkan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paragraf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diatasnya&lt;/p&gt;</a:t>
            </a:r>
            <a:endParaRPr sz="1000">
              <a:latin typeface="Courier New"/>
              <a:cs typeface="Courier New"/>
            </a:endParaRPr>
          </a:p>
          <a:p>
            <a:pPr marL="240665" marR="2084070">
              <a:lnSpc>
                <a:spcPts val="1140"/>
              </a:lnSpc>
              <a:spcBef>
                <a:spcPts val="35"/>
              </a:spcBef>
            </a:pPr>
            <a:r>
              <a:rPr sz="1000" dirty="0">
                <a:latin typeface="Courier New"/>
                <a:cs typeface="Courier New"/>
              </a:rPr>
              <a:t>&lt;p</a:t>
            </a:r>
            <a:r>
              <a:rPr sz="1000" spc="-10" dirty="0">
                <a:latin typeface="Courier New"/>
                <a:cs typeface="Courier New"/>
              </a:rPr>
              <a:t> class="teballl"&gt; </a:t>
            </a:r>
            <a:r>
              <a:rPr sz="1000" dirty="0">
                <a:latin typeface="Courier New"/>
                <a:cs typeface="Courier New"/>
              </a:rPr>
              <a:t>Bandingkan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yang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ini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juga&lt;/p&gt;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&lt;p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class="lengkap"&gt;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Paragraf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semua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atribut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font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dimasukkan&lt;/p&gt;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220"/>
              </a:lnSpc>
            </a:pPr>
            <a:r>
              <a:rPr sz="1100" b="1" dirty="0">
                <a:latin typeface="Arial"/>
                <a:cs typeface="Arial"/>
              </a:rPr>
              <a:t>c.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Pembuatan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border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2464435">
              <a:lnSpc>
                <a:spcPts val="1120"/>
              </a:lnSpc>
              <a:spcBef>
                <a:spcPts val="35"/>
              </a:spcBef>
            </a:pPr>
            <a:r>
              <a:rPr sz="1000" spc="-10" dirty="0">
                <a:latin typeface="Courier New"/>
                <a:cs typeface="Courier New"/>
              </a:rPr>
              <a:t>&lt;style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type="text/css"&gt; p.borderous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5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border-</a:t>
            </a:r>
            <a:r>
              <a:rPr sz="1000" dirty="0">
                <a:latin typeface="Courier New"/>
                <a:cs typeface="Courier New"/>
              </a:rPr>
              <a:t>style: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double;</a:t>
            </a:r>
            <a:endParaRPr sz="1000">
              <a:latin typeface="Courier New"/>
              <a:cs typeface="Courier New"/>
            </a:endParaRPr>
          </a:p>
          <a:p>
            <a:pPr marL="240665" marR="1626235">
              <a:lnSpc>
                <a:spcPts val="1140"/>
              </a:lnSpc>
              <a:spcBef>
                <a:spcPts val="30"/>
              </a:spcBef>
            </a:pPr>
            <a:r>
              <a:rPr sz="1000" spc="-10" dirty="0">
                <a:latin typeface="Courier New"/>
                <a:cs typeface="Courier New"/>
              </a:rPr>
              <a:t>border-</a:t>
            </a:r>
            <a:r>
              <a:rPr sz="1000" dirty="0">
                <a:latin typeface="Courier New"/>
                <a:cs typeface="Courier New"/>
              </a:rPr>
              <a:t>width: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5px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10px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1px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medium; border-</a:t>
            </a:r>
            <a:r>
              <a:rPr sz="1000" dirty="0">
                <a:latin typeface="Courier New"/>
                <a:cs typeface="Courier New"/>
              </a:rPr>
              <a:t>color: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#ff0000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30"/>
              </a:lnSpc>
            </a:pPr>
            <a:r>
              <a:rPr sz="1000" spc="-10" dirty="0">
                <a:latin typeface="Courier New"/>
                <a:cs typeface="Courier New"/>
              </a:rPr>
              <a:t>#00ff00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#0000ff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rgb(250,0,255)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02604" y="1915541"/>
            <a:ext cx="406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tidak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5204" y="1915541"/>
            <a:ext cx="3302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Courier New"/>
                <a:cs typeface="Courier New"/>
              </a:rPr>
              <a:t>bisa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8353" y="8863965"/>
            <a:ext cx="4754245" cy="31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&lt;p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class="borderous"&gt;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  <a:tabLst>
                <a:tab pos="1307465" algn="l"/>
                <a:tab pos="2069464" algn="l"/>
                <a:tab pos="3292475" algn="l"/>
                <a:tab pos="3673475" algn="l"/>
              </a:tabLst>
            </a:pPr>
            <a:r>
              <a:rPr sz="1000" spc="-10" dirty="0">
                <a:latin typeface="Courier New"/>
                <a:cs typeface="Courier New"/>
              </a:rPr>
              <a:t>&lt;b&gt;Catatan:&lt;/b&gt;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Properti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"border-color"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5" dirty="0">
                <a:latin typeface="Courier New"/>
                <a:cs typeface="Courier New"/>
              </a:rPr>
              <a:t>dan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"border-width"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2129" y="8998584"/>
            <a:ext cx="486409" cy="46545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76835" algn="just">
              <a:lnSpc>
                <a:spcPct val="94300"/>
              </a:lnSpc>
              <a:spcBef>
                <a:spcPts val="165"/>
              </a:spcBef>
            </a:pPr>
            <a:r>
              <a:rPr sz="1000" spc="-20" dirty="0">
                <a:latin typeface="Courier New"/>
                <a:cs typeface="Courier New"/>
              </a:rPr>
              <a:t>tidak </a:t>
            </a:r>
            <a:r>
              <a:rPr sz="1000" spc="-10" dirty="0">
                <a:latin typeface="Courier New"/>
                <a:cs typeface="Courier New"/>
              </a:rPr>
              <a:t>secara border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8353" y="9143618"/>
            <a:ext cx="46704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6765" algn="l"/>
                <a:tab pos="1256665" algn="l"/>
                <a:tab pos="1955164" algn="l"/>
                <a:tab pos="2727325" algn="l"/>
                <a:tab pos="3501390" algn="l"/>
                <a:tab pos="3971290" algn="l"/>
              </a:tabLst>
            </a:pPr>
            <a:r>
              <a:rPr sz="1000" spc="-10" dirty="0">
                <a:latin typeface="Courier New"/>
                <a:cs typeface="Courier New"/>
              </a:rPr>
              <a:t>dikenali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0" dirty="0">
                <a:latin typeface="Courier New"/>
                <a:cs typeface="Courier New"/>
              </a:rPr>
              <a:t>oleh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browser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Internet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Explorer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0" dirty="0">
                <a:latin typeface="Courier New"/>
                <a:cs typeface="Courier New"/>
              </a:rPr>
              <a:t>bila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digunakan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8353" y="9285922"/>
            <a:ext cx="47028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langsung.</a:t>
            </a:r>
            <a:r>
              <a:rPr sz="1000" spc="3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Gunakan</a:t>
            </a:r>
            <a:r>
              <a:rPr sz="1000" spc="3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properti</a:t>
            </a:r>
            <a:r>
              <a:rPr sz="1000" spc="3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"border-</a:t>
            </a:r>
            <a:r>
              <a:rPr sz="1000" dirty="0">
                <a:latin typeface="Courier New"/>
                <a:cs typeface="Courier New"/>
              </a:rPr>
              <a:t>style"</a:t>
            </a:r>
            <a:r>
              <a:rPr sz="1000" spc="3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untuk</a:t>
            </a:r>
            <a:r>
              <a:rPr sz="1000" spc="3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menyiapkan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742690" y="9682695"/>
            <a:ext cx="177800" cy="18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100" spc="-25" dirty="0">
                <a:latin typeface="Arial MT"/>
                <a:cs typeface="Arial MT"/>
              </a:rPr>
              <a:t>19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79817" y="904493"/>
            <a:ext cx="5447665" cy="52616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40665" marR="5080">
              <a:lnSpc>
                <a:spcPts val="1120"/>
              </a:lnSpc>
              <a:spcBef>
                <a:spcPts val="200"/>
              </a:spcBef>
              <a:tabLst>
                <a:tab pos="1016000" algn="l"/>
                <a:tab pos="1791335" algn="l"/>
                <a:tab pos="2185035" algn="l"/>
                <a:tab pos="3035935" algn="l"/>
                <a:tab pos="3582670" algn="l"/>
                <a:tab pos="4201795" algn="l"/>
                <a:tab pos="4824730" algn="l"/>
              </a:tabLst>
            </a:pPr>
            <a:r>
              <a:rPr sz="1000" spc="-10" dirty="0">
                <a:latin typeface="Courier New"/>
                <a:cs typeface="Courier New"/>
              </a:rPr>
              <a:t>Internet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Explorer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5" dirty="0">
                <a:latin typeface="Courier New"/>
                <a:cs typeface="Courier New"/>
              </a:rPr>
              <a:t>5.5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mendukung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semua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border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style.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Internet </a:t>
            </a:r>
            <a:r>
              <a:rPr sz="1000" dirty="0">
                <a:latin typeface="Courier New"/>
                <a:cs typeface="Courier New"/>
              </a:rPr>
              <a:t>Explorer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4.0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-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5.0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tidak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mendukung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nilai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"dotted"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"dashed"</a:t>
            </a:r>
            <a:r>
              <a:rPr sz="1000" spc="-9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250"/>
              </a:lnSpc>
            </a:pPr>
            <a:r>
              <a:rPr sz="1100" b="1" dirty="0">
                <a:latin typeface="Arial"/>
                <a:cs typeface="Arial"/>
              </a:rPr>
              <a:t>d.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Pengaturan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margin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60"/>
              </a:lnSpc>
              <a:spcBef>
                <a:spcPts val="8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&lt;style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type="text/css"&gt;p.margin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{margin: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2cm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4cm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3cm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80px}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240665" marR="188595">
              <a:lnSpc>
                <a:spcPts val="1140"/>
              </a:lnSpc>
              <a:spcBef>
                <a:spcPts val="30"/>
              </a:spcBef>
            </a:pPr>
            <a:r>
              <a:rPr sz="1000" dirty="0">
                <a:latin typeface="Courier New"/>
                <a:cs typeface="Courier New"/>
              </a:rPr>
              <a:t>Yang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ini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paragraf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biasa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tanpa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pengaturan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margin,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sepertinya </a:t>
            </a:r>
            <a:r>
              <a:rPr sz="1000" dirty="0">
                <a:latin typeface="Courier New"/>
                <a:cs typeface="Courier New"/>
              </a:rPr>
              <a:t>biasa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saja.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dirty="0">
                <a:latin typeface="Courier New"/>
                <a:cs typeface="Courier New"/>
              </a:rPr>
              <a:t>&lt;p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class="margin"&gt;</a:t>
            </a:r>
            <a:endParaRPr sz="1000">
              <a:latin typeface="Courier New"/>
              <a:cs typeface="Courier New"/>
            </a:endParaRPr>
          </a:p>
          <a:p>
            <a:pPr marL="240665" marR="187960">
              <a:lnSpc>
                <a:spcPts val="1140"/>
              </a:lnSpc>
              <a:spcBef>
                <a:spcPts val="35"/>
              </a:spcBef>
            </a:pPr>
            <a:r>
              <a:rPr sz="1000" dirty="0">
                <a:latin typeface="Courier New"/>
                <a:cs typeface="Courier New"/>
              </a:rPr>
              <a:t>Bandingkan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tampilan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paragraf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ini.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Coba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kecilkan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ukuran </a:t>
            </a:r>
            <a:r>
              <a:rPr sz="1000" dirty="0">
                <a:latin typeface="Courier New"/>
                <a:cs typeface="Courier New"/>
              </a:rPr>
              <a:t>window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browser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agar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terlihat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lebih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jelas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perbedaannya.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65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This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is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10" dirty="0">
                <a:latin typeface="Courier New"/>
                <a:cs typeface="Courier New"/>
              </a:rPr>
              <a:t> paragraph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260"/>
              </a:lnSpc>
            </a:pPr>
            <a:r>
              <a:rPr sz="1100" b="1" dirty="0">
                <a:latin typeface="Arial"/>
                <a:cs typeface="Arial"/>
              </a:rPr>
              <a:t>e.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Mengatur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padding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pada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sel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tabel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50"/>
              </a:lnSpc>
              <a:spcBef>
                <a:spcPts val="8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3466465">
              <a:lnSpc>
                <a:spcPts val="1140"/>
              </a:lnSpc>
              <a:spcBef>
                <a:spcPts val="30"/>
              </a:spcBef>
            </a:pPr>
            <a:r>
              <a:rPr sz="1000" spc="-10" dirty="0">
                <a:latin typeface="Courier New"/>
                <a:cs typeface="Courier New"/>
              </a:rPr>
              <a:t>&lt;style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type="text/css"&gt; </a:t>
            </a:r>
            <a:r>
              <a:rPr sz="1000" dirty="0">
                <a:latin typeface="Courier New"/>
                <a:cs typeface="Courier New"/>
              </a:rPr>
              <a:t>td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{padding: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1.5cm}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5"/>
              </a:lnSpc>
            </a:pPr>
            <a:r>
              <a:rPr sz="1000" dirty="0">
                <a:latin typeface="Courier New"/>
                <a:cs typeface="Courier New"/>
              </a:rPr>
              <a:t>td.value2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{padding: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0.5cm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2.5cm}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&lt;table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border="1"&gt;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20" dirty="0">
                <a:latin typeface="Courier New"/>
                <a:cs typeface="Courier New"/>
              </a:rPr>
              <a:t>&lt;tr&gt;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20" dirty="0">
                <a:latin typeface="Courier New"/>
                <a:cs typeface="Courier New"/>
              </a:rPr>
              <a:t>&lt;td&gt;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8770" y="6120129"/>
            <a:ext cx="2388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7900" algn="l"/>
                <a:tab pos="1638300" algn="l"/>
              </a:tabLst>
            </a:pPr>
            <a:r>
              <a:rPr sz="1000" spc="-10" dirty="0">
                <a:latin typeface="Courier New"/>
                <a:cs typeface="Courier New"/>
              </a:rPr>
              <a:t>menggunakan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padding</a:t>
            </a:r>
            <a:r>
              <a:rPr sz="1000" dirty="0">
                <a:latin typeface="Courier New"/>
                <a:cs typeface="Courier New"/>
              </a:rPr>
              <a:t>	sama</a:t>
            </a:r>
            <a:r>
              <a:rPr sz="1000" spc="37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pada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8353" y="6120129"/>
            <a:ext cx="2719070" cy="13392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120"/>
              </a:lnSpc>
              <a:spcBef>
                <a:spcPts val="204"/>
              </a:spcBef>
              <a:tabLst>
                <a:tab pos="368300" algn="l"/>
                <a:tab pos="1461135" algn="l"/>
                <a:tab pos="2400935" algn="l"/>
              </a:tabLst>
            </a:pPr>
            <a:r>
              <a:rPr sz="1000" spc="-25" dirty="0">
                <a:latin typeface="Courier New"/>
                <a:cs typeface="Courier New"/>
              </a:rPr>
              <a:t>Ini</a:t>
            </a:r>
            <a:r>
              <a:rPr sz="1000" dirty="0">
                <a:latin typeface="Courier New"/>
                <a:cs typeface="Courier New"/>
              </a:rPr>
              <a:t>	adalah</a:t>
            </a:r>
            <a:r>
              <a:rPr sz="1000" spc="3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tabel</a:t>
            </a:r>
            <a:r>
              <a:rPr sz="1000" dirty="0">
                <a:latin typeface="Courier New"/>
                <a:cs typeface="Courier New"/>
              </a:rPr>
              <a:t>	dengan</a:t>
            </a:r>
            <a:r>
              <a:rPr sz="1000" spc="37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sel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0" dirty="0">
                <a:latin typeface="Courier New"/>
                <a:cs typeface="Courier New"/>
              </a:rPr>
              <a:t>yang </a:t>
            </a:r>
            <a:r>
              <a:rPr sz="1000" dirty="0">
                <a:latin typeface="Courier New"/>
                <a:cs typeface="Courier New"/>
              </a:rPr>
              <a:t>setiap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sisinya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(1,5cm).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  <a:spcBef>
                <a:spcPts val="35"/>
              </a:spcBef>
            </a:pPr>
            <a:r>
              <a:rPr sz="1000" spc="-20" dirty="0">
                <a:latin typeface="Courier New"/>
                <a:cs typeface="Courier New"/>
              </a:rPr>
              <a:t>&lt;/td&gt;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20" dirty="0">
                <a:latin typeface="Courier New"/>
                <a:cs typeface="Courier New"/>
              </a:rPr>
              <a:t>&lt;/tr&gt;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&lt;/table&gt;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0"/>
              </a:lnSpc>
            </a:pPr>
            <a:r>
              <a:rPr sz="1000" spc="-20" dirty="0">
                <a:latin typeface="Courier New"/>
                <a:cs typeface="Courier New"/>
              </a:rPr>
              <a:t>&lt;br&gt;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0"/>
              </a:lnSpc>
            </a:pPr>
            <a:r>
              <a:rPr sz="1000" dirty="0">
                <a:latin typeface="Courier New"/>
                <a:cs typeface="Courier New"/>
              </a:rPr>
              <a:t>&lt;table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border="1"&gt;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0"/>
              </a:lnSpc>
            </a:pPr>
            <a:r>
              <a:rPr sz="1000" spc="-20" dirty="0">
                <a:latin typeface="Courier New"/>
                <a:cs typeface="Courier New"/>
              </a:rPr>
              <a:t>&lt;tr&gt;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80"/>
              </a:lnSpc>
            </a:pPr>
            <a:r>
              <a:rPr sz="1000" dirty="0">
                <a:latin typeface="Courier New"/>
                <a:cs typeface="Courier New"/>
              </a:rPr>
              <a:t>&lt;td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class="value2"&gt;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9817" y="7418323"/>
            <a:ext cx="5516245" cy="221361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40665" marR="5080" algn="just">
              <a:lnSpc>
                <a:spcPct val="94300"/>
              </a:lnSpc>
              <a:spcBef>
                <a:spcPts val="165"/>
              </a:spcBef>
            </a:pPr>
            <a:r>
              <a:rPr sz="1000" dirty="0">
                <a:latin typeface="Courier New"/>
                <a:cs typeface="Courier New"/>
              </a:rPr>
              <a:t>Bandingkan</a:t>
            </a:r>
            <a:r>
              <a:rPr sz="1000" spc="25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3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tampilan</a:t>
            </a:r>
            <a:r>
              <a:rPr sz="1000" spc="25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tabel</a:t>
            </a:r>
            <a:r>
              <a:rPr sz="1000" spc="25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ini.</a:t>
            </a:r>
            <a:r>
              <a:rPr sz="1000" spc="3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Padding</a:t>
            </a:r>
            <a:r>
              <a:rPr sz="1000" spc="25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atas</a:t>
            </a:r>
            <a:r>
              <a:rPr sz="1000" spc="25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dan</a:t>
            </a:r>
            <a:r>
              <a:rPr sz="1000" spc="30" dirty="0">
                <a:latin typeface="Courier New"/>
                <a:cs typeface="Courier New"/>
              </a:rPr>
              <a:t>  </a:t>
            </a:r>
            <a:r>
              <a:rPr sz="1000" spc="-10" dirty="0">
                <a:latin typeface="Courier New"/>
                <a:cs typeface="Courier New"/>
              </a:rPr>
              <a:t>bawah </a:t>
            </a:r>
            <a:r>
              <a:rPr sz="1000" dirty="0">
                <a:latin typeface="Courier New"/>
                <a:cs typeface="Courier New"/>
              </a:rPr>
              <a:t>memiliki</a:t>
            </a:r>
            <a:r>
              <a:rPr sz="1000" spc="4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nilai</a:t>
            </a:r>
            <a:r>
              <a:rPr sz="1000" spc="4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0,5cm,</a:t>
            </a:r>
            <a:r>
              <a:rPr sz="1000" spc="4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sedangkan</a:t>
            </a:r>
            <a:r>
              <a:rPr sz="1000" spc="409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padding</a:t>
            </a:r>
            <a:r>
              <a:rPr sz="1000" spc="4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kanan</a:t>
            </a:r>
            <a:r>
              <a:rPr sz="1000" spc="4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dan</a:t>
            </a:r>
            <a:r>
              <a:rPr sz="1000" spc="4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kiri</a:t>
            </a:r>
            <a:r>
              <a:rPr sz="1000" spc="4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nilainya 2,5cm.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20" dirty="0">
                <a:latin typeface="Courier New"/>
                <a:cs typeface="Courier New"/>
              </a:rPr>
              <a:t>&lt;/td&gt;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20" dirty="0">
                <a:latin typeface="Courier New"/>
                <a:cs typeface="Courier New"/>
              </a:rPr>
              <a:t>&lt;/tr&gt;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&lt;/table&gt;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230"/>
              </a:lnSpc>
            </a:pPr>
            <a:r>
              <a:rPr sz="1100" b="1" dirty="0">
                <a:latin typeface="Arial"/>
                <a:cs typeface="Arial"/>
              </a:rPr>
              <a:t>f.</a:t>
            </a:r>
            <a:r>
              <a:rPr sz="1100" b="1" spc="27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Menggunakan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list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3535045">
              <a:lnSpc>
                <a:spcPts val="1140"/>
              </a:lnSpc>
              <a:spcBef>
                <a:spcPts val="40"/>
              </a:spcBef>
            </a:pPr>
            <a:r>
              <a:rPr sz="1000" spc="-10" dirty="0">
                <a:latin typeface="Courier New"/>
                <a:cs typeface="Courier New"/>
              </a:rPr>
              <a:t>&lt;style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type="text/css"&gt; </a:t>
            </a:r>
            <a:r>
              <a:rPr sz="1000" spc="-25" dirty="0">
                <a:latin typeface="Courier New"/>
                <a:cs typeface="Courier New"/>
              </a:rPr>
              <a:t>ul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65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list-</a:t>
            </a:r>
            <a:r>
              <a:rPr sz="1000" dirty="0">
                <a:latin typeface="Courier New"/>
                <a:cs typeface="Courier New"/>
              </a:rPr>
              <a:t>style: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square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outside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url("gambarkecil.gif")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20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079817" y="912241"/>
            <a:ext cx="5518785" cy="869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ts val="1190"/>
              </a:lnSpc>
              <a:spcBef>
                <a:spcPts val="100"/>
              </a:spcBef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10160" algn="just">
              <a:lnSpc>
                <a:spcPct val="94200"/>
              </a:lnSpc>
            </a:pPr>
            <a:r>
              <a:rPr sz="1000" dirty="0">
                <a:latin typeface="Courier New"/>
                <a:cs typeface="Courier New"/>
              </a:rPr>
              <a:t>&lt;p&gt;Disini</a:t>
            </a:r>
            <a:r>
              <a:rPr sz="1000" spc="3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3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menggunakan</a:t>
            </a:r>
            <a:r>
              <a:rPr sz="1000" spc="3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gambar</a:t>
            </a:r>
            <a:r>
              <a:rPr sz="1000" spc="39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berukuran</a:t>
            </a:r>
            <a:r>
              <a:rPr sz="1000" spc="3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kecil</a:t>
            </a:r>
            <a:r>
              <a:rPr sz="1000" spc="3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sebagai</a:t>
            </a:r>
            <a:r>
              <a:rPr sz="1000" spc="409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bullet </a:t>
            </a:r>
            <a:r>
              <a:rPr sz="1000" dirty="0">
                <a:latin typeface="Courier New"/>
                <a:cs typeface="Courier New"/>
              </a:rPr>
              <a:t>untuk</a:t>
            </a:r>
            <a:r>
              <a:rPr sz="1000" spc="3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list.</a:t>
            </a:r>
            <a:r>
              <a:rPr sz="1000" spc="3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Properti</a:t>
            </a:r>
            <a:r>
              <a:rPr sz="1000" spc="3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outside</a:t>
            </a:r>
            <a:r>
              <a:rPr sz="1000" spc="3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akan</a:t>
            </a:r>
            <a:r>
              <a:rPr sz="1000" spc="3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menyebabkan</a:t>
            </a:r>
            <a:r>
              <a:rPr sz="1000" spc="3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list</a:t>
            </a:r>
            <a:r>
              <a:rPr sz="1000" spc="3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menjadi</a:t>
            </a:r>
            <a:r>
              <a:rPr sz="1000" spc="3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lebih </a:t>
            </a:r>
            <a:r>
              <a:rPr sz="1000" dirty="0">
                <a:latin typeface="Courier New"/>
                <a:cs typeface="Courier New"/>
              </a:rPr>
              <a:t>rapi</a:t>
            </a:r>
            <a:r>
              <a:rPr sz="1000" spc="1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bila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terdiri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atas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item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yang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berupa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kalimat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panjang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dan</a:t>
            </a:r>
            <a:r>
              <a:rPr sz="1000" spc="1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window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browser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berukuran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kecil.&lt;/p&gt;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80"/>
              </a:lnSpc>
            </a:pPr>
            <a:r>
              <a:rPr sz="1000" spc="-20" dirty="0">
                <a:latin typeface="Courier New"/>
                <a:cs typeface="Courier New"/>
              </a:rPr>
              <a:t>&lt;ul&gt;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&lt;li&gt;Kopi&lt;/li&gt;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&lt;li&gt;Teh&lt;/li&gt;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&lt;li&gt;Coca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Cola&lt;/li&gt;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20" dirty="0">
                <a:latin typeface="Courier New"/>
                <a:cs typeface="Courier New"/>
              </a:rPr>
              <a:t>&lt;/ul&gt;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250"/>
              </a:lnSpc>
            </a:pPr>
            <a:r>
              <a:rPr sz="1100" b="1" dirty="0">
                <a:latin typeface="Arial"/>
                <a:cs typeface="Arial"/>
              </a:rPr>
              <a:t>g.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Elemen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latar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depan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dan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latar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belakang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6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3537585">
              <a:lnSpc>
                <a:spcPts val="1100"/>
              </a:lnSpc>
              <a:spcBef>
                <a:spcPts val="60"/>
              </a:spcBef>
            </a:pPr>
            <a:r>
              <a:rPr sz="1000" spc="-10" dirty="0">
                <a:latin typeface="Courier New"/>
                <a:cs typeface="Courier New"/>
              </a:rPr>
              <a:t>&lt;style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type="text/css"&gt; img.x1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  <a:spcBef>
                <a:spcPts val="20"/>
              </a:spcBef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 marR="3920490">
              <a:lnSpc>
                <a:spcPts val="1160"/>
              </a:lnSpc>
              <a:spcBef>
                <a:spcPts val="10"/>
              </a:spcBef>
            </a:pPr>
            <a:r>
              <a:rPr sz="1000" spc="-20" dirty="0">
                <a:latin typeface="Courier New"/>
                <a:cs typeface="Courier New"/>
              </a:rPr>
              <a:t>position:absolute; </a:t>
            </a:r>
            <a:r>
              <a:rPr sz="1000" spc="-10" dirty="0">
                <a:latin typeface="Courier New"/>
                <a:cs typeface="Courier New"/>
              </a:rPr>
              <a:t>left:0;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top:0;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40"/>
              </a:lnSpc>
            </a:pPr>
            <a:r>
              <a:rPr sz="1000" spc="-15" dirty="0">
                <a:latin typeface="Courier New"/>
                <a:cs typeface="Courier New"/>
              </a:rPr>
              <a:t>z-</a:t>
            </a:r>
            <a:r>
              <a:rPr sz="1000" spc="-10" dirty="0">
                <a:latin typeface="Courier New"/>
                <a:cs typeface="Courier New"/>
              </a:rPr>
              <a:t>index:1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img.x2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40665" marR="3920490">
              <a:lnSpc>
                <a:spcPts val="1140"/>
              </a:lnSpc>
              <a:spcBef>
                <a:spcPts val="30"/>
              </a:spcBef>
            </a:pPr>
            <a:r>
              <a:rPr sz="1000" spc="-20" dirty="0">
                <a:latin typeface="Courier New"/>
                <a:cs typeface="Courier New"/>
              </a:rPr>
              <a:t>position:absolute; </a:t>
            </a:r>
            <a:r>
              <a:rPr sz="1000" spc="-10" dirty="0">
                <a:latin typeface="Courier New"/>
                <a:cs typeface="Courier New"/>
              </a:rPr>
              <a:t>left:0;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60"/>
              </a:lnSpc>
            </a:pPr>
            <a:r>
              <a:rPr sz="1000" spc="-10" dirty="0">
                <a:latin typeface="Courier New"/>
                <a:cs typeface="Courier New"/>
              </a:rPr>
              <a:t>top:100;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5" dirty="0">
                <a:latin typeface="Courier New"/>
                <a:cs typeface="Courier New"/>
              </a:rPr>
              <a:t>z-</a:t>
            </a:r>
            <a:r>
              <a:rPr sz="1000" spc="-25" dirty="0">
                <a:latin typeface="Courier New"/>
                <a:cs typeface="Courier New"/>
              </a:rPr>
              <a:t>index:-</a:t>
            </a:r>
            <a:r>
              <a:rPr sz="1000" spc="-50" dirty="0"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60"/>
              </a:lnSpc>
              <a:spcBef>
                <a:spcPts val="40"/>
              </a:spcBef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240665" marR="19685">
              <a:lnSpc>
                <a:spcPts val="1140"/>
              </a:lnSpc>
              <a:spcBef>
                <a:spcPts val="30"/>
              </a:spcBef>
              <a:tabLst>
                <a:tab pos="1826895" algn="l"/>
                <a:tab pos="2652395" algn="l"/>
                <a:tab pos="2941955" algn="l"/>
                <a:tab pos="3539490" algn="l"/>
                <a:tab pos="4441190" algn="l"/>
                <a:tab pos="5266690" algn="l"/>
              </a:tabLst>
            </a:pPr>
            <a:r>
              <a:rPr sz="1000" spc="-10" dirty="0">
                <a:latin typeface="Courier New"/>
                <a:cs typeface="Courier New"/>
              </a:rPr>
              <a:t>&lt;p&gt;&lt;b&gt;Catatan:&lt;/b&gt;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Netscape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50" dirty="0">
                <a:latin typeface="Courier New"/>
                <a:cs typeface="Courier New"/>
              </a:rPr>
              <a:t>4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0" dirty="0">
                <a:latin typeface="Courier New"/>
                <a:cs typeface="Courier New"/>
              </a:rPr>
              <a:t>tidak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mendukung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properti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30" dirty="0">
                <a:latin typeface="Courier New"/>
                <a:cs typeface="Courier New"/>
              </a:rPr>
              <a:t>"z- </a:t>
            </a:r>
            <a:r>
              <a:rPr sz="1000" spc="-10" dirty="0">
                <a:latin typeface="Courier New"/>
                <a:cs typeface="Courier New"/>
              </a:rPr>
              <a:t>index".&lt;/p&gt;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5"/>
              </a:lnSpc>
            </a:pPr>
            <a:r>
              <a:rPr sz="1000" dirty="0">
                <a:latin typeface="Courier New"/>
                <a:cs typeface="Courier New"/>
              </a:rPr>
              <a:t>&lt;h1&gt;Sepertinya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Heading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ini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terhalang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oleh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gambar&lt;/h1&gt;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20"/>
              </a:lnSpc>
            </a:pPr>
            <a:r>
              <a:rPr sz="1000" dirty="0">
                <a:latin typeface="Courier New"/>
                <a:cs typeface="Courier New"/>
              </a:rPr>
              <a:t>&lt;img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class="x1"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src="gambar.bmp"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width="100"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height="80"&gt;</a:t>
            </a:r>
            <a:endParaRPr sz="1000">
              <a:latin typeface="Courier New"/>
              <a:cs typeface="Courier New"/>
            </a:endParaRPr>
          </a:p>
          <a:p>
            <a:pPr marL="240665" marR="5080" algn="just">
              <a:lnSpc>
                <a:spcPct val="94200"/>
              </a:lnSpc>
              <a:spcBef>
                <a:spcPts val="10"/>
              </a:spcBef>
            </a:pPr>
            <a:r>
              <a:rPr sz="1000" dirty="0">
                <a:latin typeface="Courier New"/>
                <a:cs typeface="Courier New"/>
              </a:rPr>
              <a:t>&lt;p&gt;Nilai</a:t>
            </a:r>
            <a:r>
              <a:rPr sz="1000" spc="4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default</a:t>
            </a:r>
            <a:r>
              <a:rPr sz="1000" spc="4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z-</a:t>
            </a:r>
            <a:r>
              <a:rPr sz="1000" dirty="0">
                <a:latin typeface="Courier New"/>
                <a:cs typeface="Courier New"/>
              </a:rPr>
              <a:t>index</a:t>
            </a:r>
            <a:r>
              <a:rPr sz="1000" spc="4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4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0.</a:t>
            </a:r>
            <a:r>
              <a:rPr sz="1000" spc="43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Z-</a:t>
            </a:r>
            <a:r>
              <a:rPr sz="1000" dirty="0">
                <a:latin typeface="Courier New"/>
                <a:cs typeface="Courier New"/>
              </a:rPr>
              <a:t>index</a:t>
            </a:r>
            <a:r>
              <a:rPr sz="1000" spc="4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</a:t>
            </a:r>
            <a:r>
              <a:rPr sz="1000" spc="4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memiliki</a:t>
            </a:r>
            <a:r>
              <a:rPr sz="1000" spc="4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prioritas </a:t>
            </a:r>
            <a:r>
              <a:rPr sz="1000" dirty="0">
                <a:latin typeface="Courier New"/>
                <a:cs typeface="Courier New"/>
              </a:rPr>
              <a:t>lebih</a:t>
            </a:r>
            <a:r>
              <a:rPr sz="1000" spc="110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tinggi,</a:t>
            </a:r>
            <a:r>
              <a:rPr sz="1000" spc="114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sedangkan</a:t>
            </a:r>
            <a:r>
              <a:rPr sz="1000" spc="114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Z-index</a:t>
            </a:r>
            <a:r>
              <a:rPr sz="1000" spc="114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–1</a:t>
            </a:r>
            <a:r>
              <a:rPr sz="1000" spc="114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memiliki</a:t>
            </a:r>
            <a:r>
              <a:rPr sz="1000" spc="114" dirty="0">
                <a:latin typeface="Courier New"/>
                <a:cs typeface="Courier New"/>
              </a:rPr>
              <a:t>  </a:t>
            </a:r>
            <a:r>
              <a:rPr sz="1000" dirty="0">
                <a:latin typeface="Courier New"/>
                <a:cs typeface="Courier New"/>
              </a:rPr>
              <a:t>prioritas</a:t>
            </a:r>
            <a:r>
              <a:rPr sz="1000" spc="114" dirty="0">
                <a:latin typeface="Courier New"/>
                <a:cs typeface="Courier New"/>
              </a:rPr>
              <a:t>  </a:t>
            </a:r>
            <a:r>
              <a:rPr sz="1000" spc="-10" dirty="0">
                <a:latin typeface="Courier New"/>
                <a:cs typeface="Courier New"/>
              </a:rPr>
              <a:t>lebih rendah.&lt;/p&gt;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50"/>
              </a:lnSpc>
              <a:spcBef>
                <a:spcPts val="35"/>
              </a:spcBef>
            </a:pPr>
            <a:r>
              <a:rPr sz="1000" spc="-10" dirty="0">
                <a:latin typeface="Courier New"/>
                <a:cs typeface="Courier New"/>
              </a:rPr>
              <a:t>&lt;p&gt;&lt;/p&gt;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90"/>
              </a:lnSpc>
            </a:pPr>
            <a:r>
              <a:rPr sz="1000" dirty="0">
                <a:latin typeface="Courier New"/>
                <a:cs typeface="Courier New"/>
              </a:rPr>
              <a:t>&lt;img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class="x2"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src="gambar.bmp"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width="100"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height="80"&gt;</a:t>
            </a:r>
            <a:endParaRPr sz="1000">
              <a:latin typeface="Courier New"/>
              <a:cs typeface="Courier New"/>
            </a:endParaRPr>
          </a:p>
          <a:p>
            <a:pPr marL="240665" marR="182880">
              <a:lnSpc>
                <a:spcPts val="1140"/>
              </a:lnSpc>
              <a:spcBef>
                <a:spcPts val="30"/>
              </a:spcBef>
            </a:pPr>
            <a:r>
              <a:rPr sz="1000" dirty="0">
                <a:latin typeface="Courier New"/>
                <a:cs typeface="Courier New"/>
              </a:rPr>
              <a:t>&lt;p&gt;Sekarang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bisa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membandingkan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tampilan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di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bagian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bawah </a:t>
            </a:r>
            <a:r>
              <a:rPr sz="1000" dirty="0">
                <a:latin typeface="Courier New"/>
                <a:cs typeface="Courier New"/>
              </a:rPr>
              <a:t>ini.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Apakah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masih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terhalang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gambar?&lt;/p&gt;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5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270"/>
              </a:lnSpc>
            </a:pPr>
            <a:r>
              <a:rPr sz="1100" b="1" dirty="0">
                <a:latin typeface="Arial"/>
                <a:cs typeface="Arial"/>
              </a:rPr>
              <a:t>h.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Mengubah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tampilan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Link</a:t>
            </a:r>
            <a:endParaRPr sz="1100">
              <a:latin typeface="Arial"/>
              <a:cs typeface="Arial"/>
            </a:endParaRPr>
          </a:p>
          <a:p>
            <a:pPr marL="240665">
              <a:lnSpc>
                <a:spcPts val="1140"/>
              </a:lnSpc>
              <a:spcBef>
                <a:spcPts val="8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7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240665" marR="3002915">
              <a:lnSpc>
                <a:spcPts val="1140"/>
              </a:lnSpc>
              <a:spcBef>
                <a:spcPts val="20"/>
              </a:spcBef>
            </a:pPr>
            <a:r>
              <a:rPr sz="1000" dirty="0">
                <a:latin typeface="Courier New"/>
                <a:cs typeface="Courier New"/>
              </a:rPr>
              <a:t>&lt;style</a:t>
            </a:r>
            <a:r>
              <a:rPr sz="1000" spc="1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type="text/css"&gt;</a:t>
            </a:r>
            <a:r>
              <a:rPr sz="1000" spc="5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a:link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{color: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#ff0000}</a:t>
            </a:r>
            <a:endParaRPr sz="1000">
              <a:latin typeface="Courier New"/>
              <a:cs typeface="Courier New"/>
            </a:endParaRPr>
          </a:p>
          <a:p>
            <a:pPr marL="240665" marR="3002915">
              <a:lnSpc>
                <a:spcPts val="1120"/>
              </a:lnSpc>
              <a:spcBef>
                <a:spcPts val="15"/>
              </a:spcBef>
            </a:pPr>
            <a:r>
              <a:rPr sz="1000" dirty="0">
                <a:latin typeface="Courier New"/>
                <a:cs typeface="Courier New"/>
              </a:rPr>
              <a:t>a.one:visited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{color: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#0000ff} </a:t>
            </a:r>
            <a:r>
              <a:rPr sz="1000" dirty="0">
                <a:latin typeface="Courier New"/>
                <a:cs typeface="Courier New"/>
              </a:rPr>
              <a:t>a.one:hover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{color: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#ffcc00}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ts val="1085"/>
              </a:lnSpc>
            </a:pPr>
            <a:r>
              <a:rPr sz="1000" dirty="0">
                <a:latin typeface="Courier New"/>
                <a:cs typeface="Courier New"/>
              </a:rPr>
              <a:t>a.two:visited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{color:</a:t>
            </a:r>
            <a:r>
              <a:rPr sz="1000" spc="-1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#0000ff}</a:t>
            </a:r>
            <a:endParaRPr sz="1000">
              <a:latin typeface="Courier New"/>
              <a:cs typeface="Courier New"/>
            </a:endParaRPr>
          </a:p>
          <a:p>
            <a:pPr marL="240665" marR="2619375">
              <a:lnSpc>
                <a:spcPct val="9420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a.two:hover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{font-</a:t>
            </a:r>
            <a:r>
              <a:rPr sz="1000" dirty="0">
                <a:latin typeface="Courier New"/>
                <a:cs typeface="Courier New"/>
              </a:rPr>
              <a:t>size: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150%} </a:t>
            </a:r>
            <a:r>
              <a:rPr sz="1000" dirty="0">
                <a:latin typeface="Courier New"/>
                <a:cs typeface="Courier New"/>
              </a:rPr>
              <a:t>a.three:visited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{color: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#0000ff} </a:t>
            </a:r>
            <a:r>
              <a:rPr sz="1000" dirty="0">
                <a:latin typeface="Courier New"/>
                <a:cs typeface="Courier New"/>
              </a:rPr>
              <a:t>a.three:hover</a:t>
            </a:r>
            <a:r>
              <a:rPr sz="1000" spc="-1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{background:</a:t>
            </a:r>
            <a:r>
              <a:rPr sz="1000" spc="-1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#66ff66}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r>
              <a:rPr spc="-25" dirty="0"/>
              <a:t>21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1308353" y="904493"/>
            <a:ext cx="5273040" cy="204787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2526030">
              <a:lnSpc>
                <a:spcPts val="1120"/>
              </a:lnSpc>
              <a:spcBef>
                <a:spcPts val="200"/>
              </a:spcBef>
            </a:pPr>
            <a:r>
              <a:rPr sz="1000" dirty="0">
                <a:latin typeface="Courier New"/>
                <a:cs typeface="Courier New"/>
              </a:rPr>
              <a:t>a.four:visited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{color: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#0000ff} </a:t>
            </a:r>
            <a:r>
              <a:rPr sz="1000" dirty="0">
                <a:latin typeface="Courier New"/>
                <a:cs typeface="Courier New"/>
              </a:rPr>
              <a:t>a.four:hover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{font-</a:t>
            </a:r>
            <a:r>
              <a:rPr sz="1000" dirty="0">
                <a:latin typeface="Courier New"/>
                <a:cs typeface="Courier New"/>
              </a:rPr>
              <a:t>family: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fixedsys}</a:t>
            </a:r>
            <a:endParaRPr sz="1000">
              <a:latin typeface="Courier New"/>
              <a:cs typeface="Courier New"/>
            </a:endParaRPr>
          </a:p>
          <a:p>
            <a:pPr marL="12700" marR="546735">
              <a:lnSpc>
                <a:spcPts val="112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a.five:visited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{color: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#0000ff;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text-</a:t>
            </a:r>
            <a:r>
              <a:rPr sz="1000" dirty="0">
                <a:latin typeface="Courier New"/>
                <a:cs typeface="Courier New"/>
              </a:rPr>
              <a:t>decoration: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line-through} </a:t>
            </a:r>
            <a:r>
              <a:rPr sz="1000" dirty="0">
                <a:latin typeface="Courier New"/>
                <a:cs typeface="Courier New"/>
              </a:rPr>
              <a:t>a.five:hover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{text-</a:t>
            </a:r>
            <a:r>
              <a:rPr sz="1000" dirty="0">
                <a:latin typeface="Courier New"/>
                <a:cs typeface="Courier New"/>
              </a:rPr>
              <a:t>decoration: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overline}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8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 marR="68580">
              <a:lnSpc>
                <a:spcPts val="1140"/>
              </a:lnSpc>
              <a:spcBef>
                <a:spcPts val="25"/>
              </a:spcBef>
              <a:tabLst>
                <a:tab pos="977900" algn="l"/>
                <a:tab pos="1638935" algn="l"/>
                <a:tab pos="2426335" algn="l"/>
                <a:tab pos="4458970" algn="l"/>
              </a:tabLst>
            </a:pPr>
            <a:r>
              <a:rPr sz="1000" spc="-10" dirty="0">
                <a:latin typeface="Courier New"/>
                <a:cs typeface="Courier New"/>
              </a:rPr>
              <a:t>&lt;p&gt;Gerakkan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pointer</a:t>
            </a:r>
            <a:r>
              <a:rPr sz="1000" dirty="0">
                <a:latin typeface="Courier New"/>
                <a:cs typeface="Courier New"/>
              </a:rPr>
              <a:t>	mouse</a:t>
            </a:r>
            <a:r>
              <a:rPr sz="1000" spc="375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di</a:t>
            </a:r>
            <a:r>
              <a:rPr sz="1000" dirty="0">
                <a:latin typeface="Courier New"/>
                <a:cs typeface="Courier New"/>
              </a:rPr>
              <a:t>	atas</a:t>
            </a:r>
            <a:r>
              <a:rPr sz="1000" spc="3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link-</a:t>
            </a:r>
            <a:r>
              <a:rPr sz="1000" dirty="0">
                <a:latin typeface="Courier New"/>
                <a:cs typeface="Courier New"/>
              </a:rPr>
              <a:t>link</a:t>
            </a:r>
            <a:r>
              <a:rPr sz="1000" spc="3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di</a:t>
            </a:r>
            <a:r>
              <a:rPr sz="1000" spc="39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bawah</a:t>
            </a:r>
            <a:r>
              <a:rPr sz="1000" dirty="0">
                <a:latin typeface="Courier New"/>
                <a:cs typeface="Courier New"/>
              </a:rPr>
              <a:t>	ini</a:t>
            </a:r>
            <a:r>
              <a:rPr sz="1000" spc="3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untuk </a:t>
            </a:r>
            <a:r>
              <a:rPr sz="1000" dirty="0">
                <a:latin typeface="Courier New"/>
                <a:cs typeface="Courier New"/>
              </a:rPr>
              <a:t>membuat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link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tersebut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berubah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tampilannya.&lt;/p&gt;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65"/>
              </a:lnSpc>
            </a:pPr>
            <a:r>
              <a:rPr sz="1000" dirty="0">
                <a:latin typeface="Courier New"/>
                <a:cs typeface="Courier New"/>
              </a:rPr>
              <a:t>&lt;p&gt;&lt;a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class="one"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href="hlm1.htm""&gt;Mengubah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properti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color&lt;/a&gt;&lt;/p&gt;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20"/>
              </a:lnSpc>
              <a:spcBef>
                <a:spcPts val="35"/>
              </a:spcBef>
              <a:tabLst>
                <a:tab pos="637540" algn="l"/>
                <a:tab pos="1717039" algn="l"/>
                <a:tab pos="3178810" algn="l"/>
                <a:tab pos="4031615" algn="l"/>
                <a:tab pos="4883150" algn="l"/>
              </a:tabLst>
            </a:pPr>
            <a:r>
              <a:rPr sz="1000" spc="-10" dirty="0">
                <a:latin typeface="Courier New"/>
                <a:cs typeface="Courier New"/>
              </a:rPr>
              <a:t>&lt;p&gt;&lt;a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class="two"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href="hlm2.htm"&gt;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Mengubah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properti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20" dirty="0">
                <a:latin typeface="Courier New"/>
                <a:cs typeface="Courier New"/>
              </a:rPr>
              <a:t>font- </a:t>
            </a:r>
            <a:r>
              <a:rPr sz="1000" spc="-10" dirty="0">
                <a:latin typeface="Courier New"/>
                <a:cs typeface="Courier New"/>
              </a:rPr>
              <a:t>size&lt;/a&gt;&lt;/p&gt;</a:t>
            </a:r>
            <a:endParaRPr sz="1000">
              <a:latin typeface="Courier New"/>
              <a:cs typeface="Courier New"/>
            </a:endParaRPr>
          </a:p>
          <a:p>
            <a:pPr marL="12700" marR="241300">
              <a:lnSpc>
                <a:spcPts val="112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&lt;p&gt;&lt;a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class="three"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href="hlm3.htm"&gt;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Mengubah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properti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background- color&lt;/a&gt;&lt;/p&gt;</a:t>
            </a:r>
            <a:endParaRPr sz="100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94511" y="2947984"/>
          <a:ext cx="5312409" cy="872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5605"/>
                <a:gridCol w="1447165"/>
                <a:gridCol w="838835"/>
                <a:gridCol w="835025"/>
                <a:gridCol w="525779"/>
              </a:tblGrid>
              <a:tr h="149225">
                <a:tc>
                  <a:txBody>
                    <a:bodyPr/>
                    <a:lstStyle/>
                    <a:p>
                      <a:pPr marL="31750">
                        <a:lnSpc>
                          <a:spcPts val="1035"/>
                        </a:lnSpc>
                        <a:tabLst>
                          <a:tab pos="638810" algn="l"/>
                        </a:tabLst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&lt;p&gt;&lt;a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class="four"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0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href="hlm4.htm"&gt;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0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Mengubah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properti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ts val="103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font-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84480">
                <a:tc>
                  <a:txBody>
                    <a:bodyPr/>
                    <a:lstStyle/>
                    <a:p>
                      <a:pPr marL="31750">
                        <a:lnSpc>
                          <a:spcPts val="994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family&lt;/a&gt;&lt;/p&gt;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1120"/>
                        </a:lnSpc>
                        <a:tabLst>
                          <a:tab pos="638810" algn="l"/>
                        </a:tabLst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&lt;p&gt;&lt;a</a:t>
                      </a:r>
                      <a:r>
                        <a:rPr sz="10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000" spc="-10" dirty="0">
                          <a:latin typeface="Courier New"/>
                          <a:cs typeface="Courier New"/>
                        </a:rPr>
                        <a:t>class="five"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href="hlm5.htm"&gt;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1620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Mengubah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1620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properti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16205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text-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16205" marB="0"/>
                </a:tc>
              </a:tr>
              <a:tr h="154940">
                <a:tc>
                  <a:txBody>
                    <a:bodyPr/>
                    <a:lstStyle/>
                    <a:p>
                      <a:pPr marL="31750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decoration&lt;/a&gt;&lt;/p&gt;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83845">
                <a:tc>
                  <a:txBody>
                    <a:bodyPr/>
                    <a:lstStyle/>
                    <a:p>
                      <a:pPr marL="31750">
                        <a:lnSpc>
                          <a:spcPts val="1015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&lt;/body&gt;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1120"/>
                        </a:lnSpc>
                      </a:pPr>
                      <a:r>
                        <a:rPr sz="1000" spc="-10" dirty="0">
                          <a:latin typeface="Courier New"/>
                          <a:cs typeface="Courier New"/>
                        </a:rPr>
                        <a:t>&lt;/html&gt;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902</Words>
  <Application>Microsoft Office PowerPoint</Application>
  <PresentationFormat>Custom</PresentationFormat>
  <Paragraphs>277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2025-02-24T07:22:43Z</dcterms:created>
  <dcterms:modified xsi:type="dcterms:W3CDTF">2025-02-24T07:25:53Z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2024-06-11T00:00:00Z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2025-02-24T00:00:00Z</vt:filetime>
  </property>
  <property fmtid="{D5CDD505-2E9C-101B-9397-08002B2CF9AE}" pid="5" name="Producer">
    <vt:lpwstr>Microsoft® Word 2010</vt:lpwstr>
  </property>
</Properties>
</file>
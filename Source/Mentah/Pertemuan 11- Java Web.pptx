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86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17290" y="9682695"/>
            <a:ext cx="2413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817" y="896873"/>
            <a:ext cx="5518150" cy="40036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135380" marR="1161415" indent="1268095">
              <a:lnSpc>
                <a:spcPts val="1380"/>
              </a:lnSpc>
              <a:spcBef>
                <a:spcPts val="195"/>
              </a:spcBef>
            </a:pPr>
            <a:r>
              <a:rPr sz="1200" b="1" dirty="0">
                <a:latin typeface="Arial"/>
                <a:cs typeface="Arial"/>
              </a:rPr>
              <a:t>PERTEMUAN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11 </a:t>
            </a:r>
            <a:r>
              <a:rPr sz="1200" b="1" spc="-10" dirty="0">
                <a:latin typeface="Arial"/>
                <a:cs typeface="Arial"/>
              </a:rPr>
              <a:t>JAVASCRIPT:DASAR,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VARIABEL,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&amp;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FUNGSI</a:t>
            </a:r>
            <a:endParaRPr sz="1200">
              <a:latin typeface="Arial"/>
              <a:cs typeface="Arial"/>
            </a:endParaRPr>
          </a:p>
          <a:p>
            <a:pPr marL="295910" indent="-22542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295910" algn="l"/>
              </a:tabLst>
            </a:pPr>
            <a:r>
              <a:rPr sz="1100" b="1" spc="-10" dirty="0">
                <a:latin typeface="Arial"/>
                <a:cs typeface="Arial"/>
              </a:rPr>
              <a:t>TUJUAN</a:t>
            </a:r>
            <a:endParaRPr sz="1100">
              <a:latin typeface="Arial"/>
              <a:cs typeface="Arial"/>
            </a:endParaRPr>
          </a:p>
          <a:p>
            <a:pPr marL="528320" lvl="1" indent="-229235">
              <a:lnSpc>
                <a:spcPct val="100000"/>
              </a:lnSpc>
              <a:spcBef>
                <a:spcPts val="580"/>
              </a:spcBef>
              <a:buChar char="-"/>
              <a:tabLst>
                <a:tab pos="528320" algn="l"/>
              </a:tabLst>
            </a:pPr>
            <a:r>
              <a:rPr sz="1100" spc="-10" dirty="0">
                <a:latin typeface="Arial MT"/>
                <a:cs typeface="Arial MT"/>
              </a:rPr>
              <a:t>Mahasiswa dapat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mengenal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Dasar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pemrograman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Javascript.</a:t>
            </a:r>
            <a:endParaRPr sz="1100">
              <a:latin typeface="Arial MT"/>
              <a:cs typeface="Arial MT"/>
            </a:endParaRPr>
          </a:p>
          <a:p>
            <a:pPr marL="528320" marR="146050" lvl="1" indent="-229235">
              <a:lnSpc>
                <a:spcPct val="107700"/>
              </a:lnSpc>
              <a:spcBef>
                <a:spcPts val="60"/>
              </a:spcBef>
              <a:buChar char="-"/>
              <a:tabLst>
                <a:tab pos="528320" algn="l"/>
              </a:tabLst>
            </a:pPr>
            <a:r>
              <a:rPr sz="1100" spc="-10" dirty="0">
                <a:latin typeface="Arial MT"/>
                <a:cs typeface="Arial MT"/>
              </a:rPr>
              <a:t>Mahasiswa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memahami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variable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 </a:t>
            </a:r>
            <a:r>
              <a:rPr sz="1100" spc="-10" dirty="0">
                <a:latin typeface="Arial MT"/>
                <a:cs typeface="Arial MT"/>
              </a:rPr>
              <a:t>mengimplementasikan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fungsi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dasar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disediakan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javascript.</a:t>
            </a:r>
            <a:endParaRPr sz="1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Font typeface="Arial MT"/>
              <a:buChar char="-"/>
            </a:pPr>
            <a:endParaRPr sz="1100">
              <a:latin typeface="Arial MT"/>
              <a:cs typeface="Arial MT"/>
            </a:endParaRPr>
          </a:p>
          <a:p>
            <a:pPr marL="295910" indent="-22542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95910" algn="l"/>
              </a:tabLst>
            </a:pPr>
            <a:r>
              <a:rPr sz="1100" b="1" dirty="0">
                <a:latin typeface="Arial"/>
                <a:cs typeface="Arial"/>
              </a:rPr>
              <a:t>TEORI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DASAR</a:t>
            </a:r>
            <a:endParaRPr sz="1100">
              <a:latin typeface="Arial"/>
              <a:cs typeface="Arial"/>
            </a:endParaRPr>
          </a:p>
          <a:p>
            <a:pPr marL="12700" marR="5080" indent="286385" algn="just">
              <a:lnSpc>
                <a:spcPct val="95900"/>
              </a:lnSpc>
              <a:spcBef>
                <a:spcPts val="630"/>
              </a:spcBef>
            </a:pPr>
            <a:r>
              <a:rPr sz="1100" dirty="0">
                <a:latin typeface="Arial MT"/>
                <a:cs typeface="Arial MT"/>
              </a:rPr>
              <a:t>Setelah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berlatih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menguasai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segi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tampilan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menggunakan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HTML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CSS,</a:t>
            </a:r>
            <a:r>
              <a:rPr sz="1100" spc="3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sudah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saatnya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berlatih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mengenal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pemrograman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yang </a:t>
            </a:r>
            <a:r>
              <a:rPr sz="1100" dirty="0">
                <a:latin typeface="Arial MT"/>
                <a:cs typeface="Arial MT"/>
              </a:rPr>
              <a:t>sebenarnya,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yaitu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pemrograman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skrip. Mulai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tahap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belajar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JavaScript </a:t>
            </a:r>
            <a:r>
              <a:rPr sz="1100" dirty="0">
                <a:latin typeface="Arial MT"/>
                <a:cs typeface="Arial MT"/>
              </a:rPr>
              <a:t>sebagai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skrip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dasar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dikenal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semua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browser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(skrip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sisi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client).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tidak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langsung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melompat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belajar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skrip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sisi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server,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karena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skrip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sisi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akan </a:t>
            </a:r>
            <a:r>
              <a:rPr sz="1100" dirty="0">
                <a:latin typeface="Arial MT"/>
                <a:cs typeface="Arial MT"/>
              </a:rPr>
              <a:t>selalu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memaksa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menggunakan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produk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tertentu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(ASP,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CF,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PHP,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dan </a:t>
            </a:r>
            <a:r>
              <a:rPr sz="1100" spc="-10" dirty="0">
                <a:latin typeface="Arial MT"/>
                <a:cs typeface="Arial MT"/>
              </a:rPr>
              <a:t>lain-</a:t>
            </a:r>
            <a:r>
              <a:rPr sz="1100" dirty="0">
                <a:latin typeface="Arial MT"/>
                <a:cs typeface="Arial MT"/>
              </a:rPr>
              <a:t>lain),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biasanya</a:t>
            </a:r>
            <a:r>
              <a:rPr sz="1100" spc="3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menjadi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fanatik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produk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saja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tanpa </a:t>
            </a:r>
            <a:r>
              <a:rPr sz="1100" dirty="0">
                <a:latin typeface="Arial MT"/>
                <a:cs typeface="Arial MT"/>
              </a:rPr>
              <a:t>mengetahui</a:t>
            </a:r>
            <a:r>
              <a:rPr sz="1100" spc="20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kemampuan</a:t>
            </a:r>
            <a:r>
              <a:rPr sz="1100" spc="2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produk</a:t>
            </a:r>
            <a:r>
              <a:rPr sz="1100" spc="21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lain.</a:t>
            </a:r>
            <a:r>
              <a:rPr sz="1100" spc="2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2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juga</a:t>
            </a:r>
            <a:r>
              <a:rPr sz="1100" spc="21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tidak</a:t>
            </a:r>
            <a:r>
              <a:rPr sz="1100" spc="21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2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belajar</a:t>
            </a:r>
            <a:r>
              <a:rPr sz="1100" spc="210" dirty="0">
                <a:latin typeface="Arial MT"/>
                <a:cs typeface="Arial MT"/>
              </a:rPr>
              <a:t>  </a:t>
            </a:r>
            <a:r>
              <a:rPr sz="1100" spc="-10" dirty="0">
                <a:latin typeface="Arial MT"/>
                <a:cs typeface="Arial MT"/>
              </a:rPr>
              <a:t>bahasa </a:t>
            </a:r>
            <a:r>
              <a:rPr sz="1100" dirty="0">
                <a:latin typeface="Arial MT"/>
                <a:cs typeface="Arial MT"/>
              </a:rPr>
              <a:t>pemrograman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Java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secara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khusus,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karena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Java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fokusnya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portabilitas,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bukan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saja.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Disamping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JavaScript,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bilamana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waktu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memungkinkan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nantinya </a:t>
            </a:r>
            <a:r>
              <a:rPr sz="1100" dirty="0">
                <a:latin typeface="Arial MT"/>
                <a:cs typeface="Arial MT"/>
              </a:rPr>
              <a:t>juga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berlatih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menggunakan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VBScript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(salah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anggota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keluarga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Visual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Basic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mencakup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VB,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VBScript,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VBA/macro,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ASP,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VB.net,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ASP.net).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Operator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Aritmetika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7117" y="4989829"/>
          <a:ext cx="5518783" cy="2710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/>
                <a:gridCol w="2210435"/>
                <a:gridCol w="1382394"/>
                <a:gridCol w="1100454"/>
              </a:tblGrid>
              <a:tr h="177800">
                <a:tc>
                  <a:txBody>
                    <a:bodyPr/>
                    <a:lstStyle/>
                    <a:p>
                      <a:pPr marL="31115">
                        <a:lnSpc>
                          <a:spcPts val="123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3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3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31115">
                        <a:lnSpc>
                          <a:spcPts val="129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+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Addition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130300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x=2 x+2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9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31115">
                        <a:lnSpc>
                          <a:spcPts val="131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-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3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Subtraction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130300">
                        <a:lnSpc>
                          <a:spcPts val="1260"/>
                        </a:lnSpc>
                        <a:spcBef>
                          <a:spcPts val="60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x=2 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5-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x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31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31115">
                        <a:lnSpc>
                          <a:spcPts val="131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*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3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Multiplication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130300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x=4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x*5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31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/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Division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4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15/5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5/2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2.5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494665">
                <a:tc>
                  <a:txBody>
                    <a:bodyPr/>
                    <a:lstStyle/>
                    <a:p>
                      <a:pPr marL="31115">
                        <a:lnSpc>
                          <a:spcPts val="131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3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Modulus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(division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remainder)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6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5%2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ts val="122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10%8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ts val="127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10%2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6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ts val="122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ts val="127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++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Increment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126490">
                        <a:lnSpc>
                          <a:spcPts val="126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x=5 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x++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x=6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31115">
                        <a:lnSpc>
                          <a:spcPts val="1290"/>
                        </a:lnSpc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-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Decrement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13030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x=5 x-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-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x=4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22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9817" y="7853044"/>
            <a:ext cx="13404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Operator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Penunjukan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7117" y="8122285"/>
          <a:ext cx="5518785" cy="1254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/>
                <a:gridCol w="2210435"/>
                <a:gridCol w="2482850"/>
              </a:tblGrid>
              <a:tr h="184785">
                <a:tc>
                  <a:txBody>
                    <a:bodyPr/>
                    <a:lstStyle/>
                    <a:p>
                      <a:pPr marL="31115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Same</a:t>
                      </a:r>
                      <a:r>
                        <a:rPr sz="11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As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31115">
                        <a:lnSpc>
                          <a:spcPts val="127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x=y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x=y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31115">
                        <a:lnSpc>
                          <a:spcPts val="125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+=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5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x+=y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5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x=x+y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31115">
                        <a:lnSpc>
                          <a:spcPts val="1230"/>
                        </a:lnSpc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x-=y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3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x=x-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31115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*=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7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x*=y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x=x*y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marL="31115">
                        <a:lnSpc>
                          <a:spcPts val="125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/=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5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x/=y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x=x/y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31115">
                        <a:lnSpc>
                          <a:spcPts val="123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%=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x%=y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x=x%y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23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904493"/>
            <a:ext cx="14674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Operator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Perbandingan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7117" y="1183957"/>
          <a:ext cx="5516879" cy="125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1055"/>
                <a:gridCol w="2487295"/>
                <a:gridCol w="2208529"/>
              </a:tblGrid>
              <a:tr h="177800">
                <a:tc>
                  <a:txBody>
                    <a:bodyPr/>
                    <a:lstStyle/>
                    <a:p>
                      <a:pPr marL="31115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31115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==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2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equal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5==8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false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31115">
                        <a:lnSpc>
                          <a:spcPts val="125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!=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25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equal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5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5!=8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31115">
                        <a:lnSpc>
                          <a:spcPts val="123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&gt;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greater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than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5&gt;8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false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31115">
                        <a:lnSpc>
                          <a:spcPts val="123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&lt;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less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than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5&lt;8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31115">
                        <a:lnSpc>
                          <a:spcPts val="125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&gt;=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25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greater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than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equal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5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5&gt;=8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false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 marL="31115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&lt;=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2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less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than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equal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5&lt;=8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79817" y="2423794"/>
            <a:ext cx="1017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Operator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Logika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7117" y="2700654"/>
          <a:ext cx="5518783" cy="2211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/>
                <a:gridCol w="2484754"/>
                <a:gridCol w="2208529"/>
              </a:tblGrid>
              <a:tr h="180340">
                <a:tc>
                  <a:txBody>
                    <a:bodyPr/>
                    <a:lstStyle/>
                    <a:p>
                      <a:pPr marL="31115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marL="31115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&amp;&amp;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and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956435">
                        <a:lnSpc>
                          <a:spcPts val="1280"/>
                        </a:lnSpc>
                        <a:spcBef>
                          <a:spcPts val="5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x=6 y=3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(x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&lt;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&amp;&amp;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&gt;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1)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 marL="3111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||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or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956435">
                        <a:lnSpc>
                          <a:spcPts val="1280"/>
                        </a:lnSpc>
                        <a:spcBef>
                          <a:spcPts val="45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x=6 y=3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(x==5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||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y==5)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false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677545">
                <a:tc>
                  <a:txBody>
                    <a:bodyPr/>
                    <a:lstStyle/>
                    <a:p>
                      <a:pPr marL="31115">
                        <a:lnSpc>
                          <a:spcPts val="131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!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131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not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956435">
                        <a:lnSpc>
                          <a:spcPts val="1260"/>
                        </a:lnSpc>
                        <a:spcBef>
                          <a:spcPts val="80"/>
                        </a:spcBef>
                      </a:pPr>
                      <a:r>
                        <a:rPr sz="1100" spc="-35" dirty="0">
                          <a:latin typeface="Arial MT"/>
                          <a:cs typeface="Arial MT"/>
                        </a:rPr>
                        <a:t>x=6 y=3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!=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79817" y="4977129"/>
            <a:ext cx="5504815" cy="4410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700"/>
              </a:spcBef>
            </a:pPr>
            <a:r>
              <a:rPr sz="1100" b="1" dirty="0">
                <a:latin typeface="Arial"/>
                <a:cs typeface="Arial"/>
              </a:rPr>
              <a:t>3.</a:t>
            </a:r>
            <a:r>
              <a:rPr sz="1100" b="1" spc="120" dirty="0">
                <a:latin typeface="Arial"/>
                <a:cs typeface="Arial"/>
              </a:rPr>
              <a:t>  </a:t>
            </a:r>
            <a:r>
              <a:rPr sz="1100" b="1" spc="-10" dirty="0">
                <a:latin typeface="Arial"/>
                <a:cs typeface="Arial"/>
              </a:rPr>
              <a:t>LATIHAN</a:t>
            </a:r>
            <a:endParaRPr sz="1100">
              <a:latin typeface="Arial"/>
              <a:cs typeface="Arial"/>
            </a:endParaRPr>
          </a:p>
          <a:p>
            <a:pPr marL="12700" marR="5080" indent="286385" algn="just">
              <a:lnSpc>
                <a:spcPct val="96000"/>
              </a:lnSpc>
              <a:spcBef>
                <a:spcPts val="650"/>
              </a:spcBef>
            </a:pPr>
            <a:r>
              <a:rPr sz="1100" dirty="0">
                <a:latin typeface="Arial MT"/>
                <a:cs typeface="Arial MT"/>
              </a:rPr>
              <a:t>Sederhana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saja,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agar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mau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membiasakan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diri dengan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JavaScript,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maka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Anda </a:t>
            </a:r>
            <a:r>
              <a:rPr sz="1100" dirty="0">
                <a:latin typeface="Arial MT"/>
                <a:cs typeface="Arial MT"/>
              </a:rPr>
              <a:t>harus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banyak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berlatih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mulai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 yang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paling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dasar. Buatlah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semua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bawah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ini, </a:t>
            </a:r>
            <a:r>
              <a:rPr sz="1100" dirty="0">
                <a:latin typeface="Arial MT"/>
                <a:cs typeface="Arial MT"/>
              </a:rPr>
              <a:t>jalankan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melihat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hasilnya,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lakukan</a:t>
            </a:r>
            <a:r>
              <a:rPr sz="1100" spc="2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modifikasi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lebih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mengenal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dan </a:t>
            </a:r>
            <a:r>
              <a:rPr sz="1100" spc="-10" dirty="0">
                <a:latin typeface="Arial MT"/>
                <a:cs typeface="Arial MT"/>
              </a:rPr>
              <a:t>mengetahui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kegunaan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skrip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baru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-20" dirty="0">
                <a:latin typeface="Arial MT"/>
                <a:cs typeface="Arial MT"/>
              </a:rPr>
              <a:t> buat.</a:t>
            </a:r>
            <a:endParaRPr sz="1100">
              <a:latin typeface="Arial MT"/>
              <a:cs typeface="Arial MT"/>
            </a:endParaRPr>
          </a:p>
          <a:p>
            <a:pPr marL="168275" indent="-155575">
              <a:lnSpc>
                <a:spcPct val="100000"/>
              </a:lnSpc>
              <a:spcBef>
                <a:spcPts val="1160"/>
              </a:spcBef>
              <a:buAutoNum type="alphaLcPeriod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Menuliskan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teks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105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912745">
              <a:lnSpc>
                <a:spcPts val="1140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document.write("Hello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World!")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080"/>
              </a:spcBef>
              <a:buAutoNum type="alphaLcPeriod" startAt="2"/>
              <a:tabLst>
                <a:tab pos="168275" algn="l"/>
              </a:tabLst>
            </a:pPr>
            <a:r>
              <a:rPr sz="1100" b="1" dirty="0">
                <a:latin typeface="Arial"/>
                <a:cs typeface="Arial"/>
              </a:rPr>
              <a:t>Memformat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teks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dengan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tag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HTML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80"/>
              </a:lnSpc>
              <a:spcBef>
                <a:spcPts val="6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300605">
              <a:lnSpc>
                <a:spcPts val="112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document.write("&lt;h1&gt;Hello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World!&lt;/h1&gt;")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  <a:spcBef>
                <a:spcPts val="15"/>
              </a:spcBef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ts val="1300"/>
              </a:lnSpc>
              <a:spcBef>
                <a:spcPts val="1100"/>
              </a:spcBef>
              <a:buAutoNum type="alphaLcPeriod" startAt="3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JavaScript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yang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diletakkan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pada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bagian </a:t>
            </a:r>
            <a:r>
              <a:rPr sz="1100" b="1" spc="-20" dirty="0">
                <a:latin typeface="Arial"/>
                <a:cs typeface="Arial"/>
              </a:rPr>
              <a:t>HEAD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24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912241"/>
            <a:ext cx="5414645" cy="866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19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message()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alert("This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alert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box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was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called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with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onload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event")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onload="message()"&gt;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120"/>
              </a:spcBef>
              <a:buAutoNum type="alphaLcPeriod" startAt="4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JavaScript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yang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diletakkan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pada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bagian </a:t>
            </a:r>
            <a:r>
              <a:rPr sz="1100" b="1" spc="-20" dirty="0">
                <a:latin typeface="Arial"/>
                <a:cs typeface="Arial"/>
              </a:rPr>
              <a:t>BODY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document.write("This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message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written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when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page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loads")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060"/>
              </a:spcBef>
              <a:buAutoNum type="alphaLcPeriod" startAt="5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JavaScript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eksternal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6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src="xxx.js"&gt;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actual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script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external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file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called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"xxx.js".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7640" indent="-154940">
              <a:lnSpc>
                <a:spcPct val="100000"/>
              </a:lnSpc>
              <a:spcBef>
                <a:spcPts val="1080"/>
              </a:spcBef>
              <a:buAutoNum type="alphaLcPeriod" startAt="6"/>
              <a:tabLst>
                <a:tab pos="167640" algn="l"/>
              </a:tabLst>
            </a:pPr>
            <a:r>
              <a:rPr sz="1100" b="1" spc="-10" dirty="0">
                <a:latin typeface="Arial"/>
                <a:cs typeface="Arial"/>
              </a:rPr>
              <a:t>Deklarasi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variabel,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memberi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nilai,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dan </a:t>
            </a:r>
            <a:r>
              <a:rPr sz="1100" b="1" spc="-10" dirty="0">
                <a:latin typeface="Arial"/>
                <a:cs typeface="Arial"/>
              </a:rPr>
              <a:t>menampilkannya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40"/>
              </a:lnSpc>
              <a:spcBef>
                <a:spcPts val="12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541270">
              <a:lnSpc>
                <a:spcPct val="94500"/>
              </a:lnSpc>
              <a:spcBef>
                <a:spcPts val="1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</a:t>
            </a:r>
            <a:r>
              <a:rPr sz="1000" spc="5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"Hege" document.write(name) </a:t>
            </a:r>
            <a:r>
              <a:rPr sz="1000" spc="-20" dirty="0">
                <a:latin typeface="Courier New"/>
                <a:cs typeface="Courier New"/>
              </a:rPr>
              <a:t>document.write("&lt;h1&gt;"+name+"&lt;/h1&gt;")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 marR="5080">
              <a:lnSpc>
                <a:spcPts val="114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&lt;p&gt;This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example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declares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variable,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assigns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to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it,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then </a:t>
            </a:r>
            <a:r>
              <a:rPr sz="1000" dirty="0">
                <a:latin typeface="Courier New"/>
                <a:cs typeface="Courier New"/>
              </a:rPr>
              <a:t>displays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variable.&lt;/p&gt;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35"/>
              </a:lnSpc>
            </a:pPr>
            <a:r>
              <a:rPr sz="1000" dirty="0">
                <a:latin typeface="Courier New"/>
                <a:cs typeface="Courier New"/>
              </a:rPr>
              <a:t>&lt;p&gt;Then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variable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displayed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more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time,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only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this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time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a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heading.&lt;/p&gt;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buAutoNum type="alphaLcPeriod" startAt="7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Fungsi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2823845">
              <a:lnSpc>
                <a:spcPts val="1140"/>
              </a:lnSpc>
              <a:spcBef>
                <a:spcPts val="30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myfunction()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alert("HELLO")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25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912241"/>
            <a:ext cx="5412105" cy="859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18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&lt;form&gt;</a:t>
            </a:r>
            <a:endParaRPr sz="1000">
              <a:latin typeface="Courier New"/>
              <a:cs typeface="Courier New"/>
            </a:endParaRPr>
          </a:p>
          <a:p>
            <a:pPr marL="240665" marR="3505835">
              <a:lnSpc>
                <a:spcPct val="94100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type="button" onclick="myfunction()" </a:t>
            </a:r>
            <a:r>
              <a:rPr sz="1000" dirty="0">
                <a:latin typeface="Courier New"/>
                <a:cs typeface="Courier New"/>
              </a:rPr>
              <a:t>value="Call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function"&gt;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240665" marR="155575">
              <a:lnSpc>
                <a:spcPts val="1100"/>
              </a:lnSpc>
              <a:spcBef>
                <a:spcPts val="50"/>
              </a:spcBef>
            </a:pPr>
            <a:r>
              <a:rPr sz="1000" dirty="0">
                <a:latin typeface="Courier New"/>
                <a:cs typeface="Courier New"/>
              </a:rPr>
              <a:t>&lt;p&gt;By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pressing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button,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will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called.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function </a:t>
            </a:r>
            <a:r>
              <a:rPr sz="1000" dirty="0">
                <a:latin typeface="Courier New"/>
                <a:cs typeface="Courier New"/>
              </a:rPr>
              <a:t>will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alert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message.&lt;/p&gt;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  <a:spcBef>
                <a:spcPts val="45"/>
              </a:spcBef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1060"/>
              </a:spcBef>
            </a:pPr>
            <a:r>
              <a:rPr sz="1100" b="1" dirty="0">
                <a:latin typeface="Arial"/>
                <a:cs typeface="Arial"/>
              </a:rPr>
              <a:t>h.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Fungsi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dengan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argumen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  <a:spcBef>
                <a:spcPts val="40"/>
              </a:spcBef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2821305">
              <a:lnSpc>
                <a:spcPts val="112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myfunction(txt)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  <a:spcBef>
                <a:spcPts val="20"/>
              </a:spcBef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alert(txt)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&lt;form&gt;</a:t>
            </a:r>
            <a:endParaRPr sz="1000">
              <a:latin typeface="Courier New"/>
              <a:cs typeface="Courier New"/>
            </a:endParaRPr>
          </a:p>
          <a:p>
            <a:pPr marL="240665" marR="3209290">
              <a:lnSpc>
                <a:spcPct val="94200"/>
              </a:lnSpc>
              <a:spcBef>
                <a:spcPts val="10"/>
              </a:spcBef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type="button" </a:t>
            </a:r>
            <a:r>
              <a:rPr sz="1000" spc="-80" dirty="0">
                <a:latin typeface="Courier New"/>
                <a:cs typeface="Courier New"/>
              </a:rPr>
              <a:t>onclick="myfunction('Hello')" </a:t>
            </a:r>
            <a:r>
              <a:rPr sz="1000" dirty="0">
                <a:latin typeface="Courier New"/>
                <a:cs typeface="Courier New"/>
              </a:rPr>
              <a:t>value="Call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function"&gt;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240665" marR="462280">
              <a:lnSpc>
                <a:spcPts val="114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&lt;p&gt;By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pressing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button,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with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argument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will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be </a:t>
            </a:r>
            <a:r>
              <a:rPr sz="1000" dirty="0">
                <a:latin typeface="Courier New"/>
                <a:cs typeface="Courier New"/>
              </a:rPr>
              <a:t>called.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will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alert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5"/>
              </a:lnSpc>
            </a:pPr>
            <a:r>
              <a:rPr sz="1000" dirty="0">
                <a:latin typeface="Courier New"/>
                <a:cs typeface="Courier New"/>
              </a:rPr>
              <a:t>this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argument.&lt;/p&gt;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310"/>
              </a:lnSpc>
              <a:spcBef>
                <a:spcPts val="1040"/>
              </a:spcBef>
            </a:pPr>
            <a:r>
              <a:rPr sz="1100" b="1" dirty="0">
                <a:latin typeface="Arial"/>
                <a:cs typeface="Arial"/>
              </a:rPr>
              <a:t>i.</a:t>
            </a:r>
            <a:r>
              <a:rPr sz="1100" b="1" spc="2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Fungsi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dengan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argumen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(lagi)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9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2821305">
              <a:lnSpc>
                <a:spcPts val="1140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myfunction(txt)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5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alert(txt)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&lt;form&gt;</a:t>
            </a:r>
            <a:endParaRPr sz="1000">
              <a:latin typeface="Courier New"/>
              <a:cs typeface="Courier New"/>
            </a:endParaRPr>
          </a:p>
          <a:p>
            <a:pPr marL="240665" marR="2360295">
              <a:lnSpc>
                <a:spcPct val="94200"/>
              </a:lnSpc>
              <a:spcBef>
                <a:spcPts val="10"/>
              </a:spcBef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type="button" onclick="myfunction('Good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Morning!')" </a:t>
            </a:r>
            <a:r>
              <a:rPr sz="1000" dirty="0">
                <a:latin typeface="Courier New"/>
                <a:cs typeface="Courier New"/>
              </a:rPr>
              <a:t>value="In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Morning"&gt;</a:t>
            </a:r>
            <a:endParaRPr sz="1000">
              <a:latin typeface="Courier New"/>
              <a:cs typeface="Courier New"/>
            </a:endParaRPr>
          </a:p>
          <a:p>
            <a:pPr marL="240665" marR="2360295">
              <a:lnSpc>
                <a:spcPts val="1140"/>
              </a:lnSpc>
              <a:spcBef>
                <a:spcPts val="50"/>
              </a:spcBef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type="button" onclick="myfunction('Good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Evening!')" </a:t>
            </a:r>
            <a:r>
              <a:rPr sz="1000" dirty="0">
                <a:latin typeface="Courier New"/>
                <a:cs typeface="Courier New"/>
              </a:rPr>
              <a:t>value="In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Evening"&gt;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240665" marR="5080">
              <a:lnSpc>
                <a:spcPts val="114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When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you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click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of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buttons,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will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called.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The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will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alert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argument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that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passed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to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it.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26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846073"/>
            <a:ext cx="4410710" cy="265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j.</a:t>
            </a:r>
            <a:r>
              <a:rPr sz="1100" b="1" spc="30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Fungsi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yang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mengembalikan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suatu </a:t>
            </a:r>
            <a:r>
              <a:rPr sz="1100" b="1" spc="-20" dirty="0">
                <a:latin typeface="Arial"/>
                <a:cs typeface="Arial"/>
              </a:rPr>
              <a:t>nilai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80"/>
              </a:lnSpc>
              <a:spcBef>
                <a:spcPts val="4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1818639">
              <a:lnSpc>
                <a:spcPts val="1120"/>
              </a:lnSpc>
              <a:spcBef>
                <a:spcPts val="30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myFunction()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5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dirty="0">
                <a:latin typeface="Courier New"/>
                <a:cs typeface="Courier New"/>
              </a:rPr>
              <a:t>return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("Hello,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have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nice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day!")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1819275">
              <a:lnSpc>
                <a:spcPts val="1120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document.write(myFunction())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&lt;p&gt;The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script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section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calls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function.&lt;/p&gt;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&lt;p&gt;The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returns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text.&lt;/p&gt;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9817" y="3598798"/>
            <a:ext cx="4711065" cy="280860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100" b="1" dirty="0">
                <a:latin typeface="Arial"/>
                <a:cs typeface="Arial"/>
              </a:rPr>
              <a:t>k.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Fungsi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dengan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argumen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yang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mengembalikan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suatu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nilai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7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2118995">
              <a:lnSpc>
                <a:spcPts val="1120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total(numberA,numberB)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  <a:spcBef>
                <a:spcPts val="35"/>
              </a:spcBef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return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numberA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numberB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118995">
              <a:lnSpc>
                <a:spcPts val="1140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document.write(total(2,3))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 marR="71120">
              <a:lnSpc>
                <a:spcPts val="1140"/>
              </a:lnSpc>
              <a:spcBef>
                <a:spcPts val="40"/>
              </a:spcBef>
              <a:tabLst>
                <a:tab pos="845819" algn="l"/>
                <a:tab pos="1453515" algn="l"/>
                <a:tab pos="1753235" algn="l"/>
                <a:tab pos="2131695" algn="l"/>
                <a:tab pos="2583815" algn="l"/>
                <a:tab pos="3267075" algn="l"/>
                <a:tab pos="3795395" algn="l"/>
                <a:tab pos="4022090" algn="l"/>
              </a:tabLst>
            </a:pPr>
            <a:r>
              <a:rPr sz="1000" spc="-10" dirty="0">
                <a:latin typeface="Courier New"/>
                <a:cs typeface="Courier New"/>
              </a:rPr>
              <a:t>&lt;p&gt;The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script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5" dirty="0">
                <a:latin typeface="Courier New"/>
                <a:cs typeface="Courier New"/>
              </a:rPr>
              <a:t>in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5" dirty="0">
                <a:latin typeface="Courier New"/>
                <a:cs typeface="Courier New"/>
              </a:rPr>
              <a:t>the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0" dirty="0">
                <a:latin typeface="Courier New"/>
                <a:cs typeface="Courier New"/>
              </a:rPr>
              <a:t>body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section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calls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50" dirty="0">
                <a:latin typeface="Courier New"/>
                <a:cs typeface="Courier New"/>
              </a:rPr>
              <a:t>a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function </a:t>
            </a:r>
            <a:r>
              <a:rPr sz="1000" dirty="0">
                <a:latin typeface="Courier New"/>
                <a:cs typeface="Courier New"/>
              </a:rPr>
              <a:t>arguments,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2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3.&lt;/p&gt;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&lt;p&gt;The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returns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sum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of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these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two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arguments.&lt;/p&gt;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6445" y="5652770"/>
            <a:ext cx="7042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184" algn="l"/>
              </a:tabLst>
            </a:pPr>
            <a:r>
              <a:rPr sz="1000" spc="-20" dirty="0">
                <a:latin typeface="Courier New"/>
                <a:cs typeface="Courier New"/>
              </a:rPr>
              <a:t>with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5" dirty="0">
                <a:latin typeface="Courier New"/>
                <a:cs typeface="Courier New"/>
              </a:rPr>
              <a:t>two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1146</Words>
  <Application>Microsoft Office PowerPoint</Application>
  <PresentationFormat>Custom</PresentationFormat>
  <Paragraphs>260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2025-02-18T14:03:49Z</dcterms:created>
  <dcterms:modified xsi:type="dcterms:W3CDTF">2025-02-24T07:13:20Z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2025-02-18T00:00:00Z</vt:filetime>
  </property>
  <property fmtid="{D5CDD505-2E9C-101B-9397-08002B2CF9AE}" pid="5" name="Producer">
    <vt:lpwstr>Microsoft® Word 2010</vt:lpwstr>
  </property>
</Properties>
</file>
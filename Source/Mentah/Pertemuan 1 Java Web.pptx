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6121400" cy="8642350"/>
  <p:notesSz cx="6121400" cy="8642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798" y="-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581" y="2679128"/>
            <a:ext cx="5208587" cy="1814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9162" y="4839716"/>
            <a:ext cx="4289425" cy="2160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6387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55791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387" y="345694"/>
            <a:ext cx="5514975" cy="138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387" y="1987740"/>
            <a:ext cx="5514975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3435" y="8037385"/>
            <a:ext cx="1960880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6387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1980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id.wikipedia.org/wiki/Kode_sumber" TargetMode="External"/><Relationship Id="rId3" Type="http://schemas.openxmlformats.org/officeDocument/2006/relationships/hyperlink" Target="https://id.wikipedia.org/wiki/Penyunting_kode_sumber" TargetMode="External"/><Relationship Id="rId7" Type="http://schemas.openxmlformats.org/officeDocument/2006/relationships/hyperlink" Target="https://id.wikipedia.org/w/index.php?title=Scintilla&amp;action=edit&amp;redlink=1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id.wikipedia.org/wiki/Microsoft_Windows" TargetMode="External"/><Relationship Id="rId5" Type="http://schemas.openxmlformats.org/officeDocument/2006/relationships/hyperlink" Target="https://id.wikipedia.org/wiki/Sistem_operasi" TargetMode="External"/><Relationship Id="rId4" Type="http://schemas.openxmlformats.org/officeDocument/2006/relationships/hyperlink" Target="https://id.wikipedia.org/wiki/Penyunting_teks" TargetMode="External"/><Relationship Id="rId9" Type="http://schemas.openxmlformats.org/officeDocument/2006/relationships/hyperlink" Target="https://id.wikipedia.org/wiki/Bahasa_pemrograman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480059"/>
            <a:ext cx="4710430" cy="485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6210" marR="1445260" indent="683260">
              <a:lnSpc>
                <a:spcPct val="1435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BAB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I </a:t>
            </a:r>
            <a:r>
              <a:rPr sz="1400" b="1" dirty="0">
                <a:latin typeface="Times New Roman"/>
                <a:cs typeface="Times New Roman"/>
              </a:rPr>
              <a:t>KONSEP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DASAR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WEB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Deskripsi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  <a:spcBef>
                <a:spcPts val="145"/>
              </a:spcBef>
            </a:pPr>
            <a:r>
              <a:rPr sz="1200" dirty="0">
                <a:latin typeface="Times New Roman"/>
                <a:cs typeface="Times New Roman"/>
              </a:rPr>
              <a:t>Membahas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mengenai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istilah-</a:t>
            </a:r>
            <a:r>
              <a:rPr sz="1200" dirty="0">
                <a:latin typeface="Times New Roman"/>
                <a:cs typeface="Times New Roman"/>
              </a:rPr>
              <a:t>istilah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4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web,</a:t>
            </a:r>
            <a:r>
              <a:rPr sz="1200" spc="4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5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229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editor,</a:t>
            </a:r>
            <a:r>
              <a:rPr sz="1200" spc="23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mengenal</a:t>
            </a:r>
            <a:r>
              <a:rPr sz="1200" spc="49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spc="-10" dirty="0">
                <a:latin typeface="Times New Roman"/>
                <a:cs typeface="Times New Roman"/>
              </a:rPr>
              <a:t>mengimplementasikan</a:t>
            </a:r>
            <a:r>
              <a:rPr sz="1200" dirty="0">
                <a:latin typeface="Times New Roman"/>
                <a:cs typeface="Times New Roman"/>
              </a:rPr>
              <a:t> struktur </a:t>
            </a:r>
            <a:r>
              <a:rPr sz="1200" spc="-10" dirty="0">
                <a:latin typeface="Times New Roman"/>
                <a:cs typeface="Times New Roman"/>
              </a:rPr>
              <a:t>navigasi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495"/>
              </a:spcBef>
            </a:pPr>
            <a:r>
              <a:rPr sz="1200" b="1" dirty="0">
                <a:latin typeface="Times New Roman"/>
                <a:cs typeface="Times New Roman"/>
              </a:rPr>
              <a:t>Tujuan </a:t>
            </a:r>
            <a:r>
              <a:rPr sz="1200" b="1" spc="-10" dirty="0">
                <a:latin typeface="Times New Roman"/>
                <a:cs typeface="Times New Roman"/>
              </a:rPr>
              <a:t>Pembelajaran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91770" algn="l"/>
              </a:tabLst>
            </a:pPr>
            <a:r>
              <a:rPr sz="1200" dirty="0">
                <a:latin typeface="Times New Roman"/>
                <a:cs typeface="Times New Roman"/>
              </a:rPr>
              <a:t>Mampu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memahami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</a:t>
            </a:r>
            <a:endParaRPr sz="12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191770" algn="l"/>
              </a:tabLst>
            </a:pPr>
            <a:r>
              <a:rPr sz="1200" dirty="0">
                <a:latin typeface="Times New Roman"/>
                <a:cs typeface="Times New Roman"/>
              </a:rPr>
              <a:t>Mampu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memahami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istilah-</a:t>
            </a:r>
            <a:r>
              <a:rPr sz="1200" dirty="0">
                <a:latin typeface="Times New Roman"/>
                <a:cs typeface="Times New Roman"/>
              </a:rPr>
              <a:t>istilah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-25" dirty="0">
                <a:latin typeface="Times New Roman"/>
                <a:cs typeface="Times New Roman"/>
              </a:rPr>
              <a:t> web</a:t>
            </a:r>
            <a:endParaRPr sz="12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191770" algn="l"/>
              </a:tabLst>
            </a:pPr>
            <a:r>
              <a:rPr sz="1200" dirty="0">
                <a:latin typeface="Times New Roman"/>
                <a:cs typeface="Times New Roman"/>
              </a:rPr>
              <a:t>Mampu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editor</a:t>
            </a:r>
            <a:endParaRPr sz="12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191770" algn="l"/>
              </a:tabLst>
            </a:pPr>
            <a:r>
              <a:rPr sz="1200" dirty="0">
                <a:latin typeface="Times New Roman"/>
                <a:cs typeface="Times New Roman"/>
              </a:rPr>
              <a:t>Mampu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mengimplementasikan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Navigasi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1.1.</a:t>
            </a:r>
            <a:r>
              <a:rPr sz="1200" b="1" spc="310" dirty="0">
                <a:latin typeface="Times New Roman"/>
                <a:cs typeface="Times New Roman"/>
              </a:rPr>
              <a:t>   </a:t>
            </a:r>
            <a:r>
              <a:rPr sz="1200" b="1" spc="-10" dirty="0">
                <a:latin typeface="Times New Roman"/>
                <a:cs typeface="Times New Roman"/>
              </a:rPr>
              <a:t>Pengertian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Website</a:t>
            </a:r>
            <a:endParaRPr sz="1200">
              <a:latin typeface="Times New Roman"/>
              <a:cs typeface="Times New Roman"/>
            </a:endParaRPr>
          </a:p>
          <a:p>
            <a:pPr marL="12700" marR="6985" indent="457200" algn="just">
              <a:lnSpc>
                <a:spcPts val="207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kumpulan halaman digital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berisi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informasi </a:t>
            </a:r>
            <a:r>
              <a:rPr sz="1200" dirty="0">
                <a:latin typeface="Times New Roman"/>
                <a:cs typeface="Times New Roman"/>
              </a:rPr>
              <a:t>berupa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animasi, gambar,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suara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video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gabungan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semuanya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terkoneksi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dilihat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seluruh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siapapun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terkoneksi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jaringan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Kategori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Website: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389245"/>
            <a:ext cx="128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1097" y="5307965"/>
            <a:ext cx="4253865" cy="239458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5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mempunyai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berubah. </a:t>
            </a:r>
            <a:r>
              <a:rPr sz="1200" dirty="0">
                <a:latin typeface="Times New Roman"/>
                <a:cs typeface="Times New Roman"/>
              </a:rPr>
              <a:t>Perubahan suatu halaman dilakukan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 dengan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mengedit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stuktur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Dinamis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terstruktur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diperuntukan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diupdate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sesering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mungkin.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Biasanya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disediakan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backend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3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perubahan</a:t>
            </a:r>
            <a:r>
              <a:rPr sz="1200" spc="2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konten</a:t>
            </a:r>
            <a:r>
              <a:rPr sz="1200" spc="3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29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tersebut. </a:t>
            </a:r>
            <a:r>
              <a:rPr sz="1200" dirty="0">
                <a:latin typeface="Times New Roman"/>
                <a:cs typeface="Times New Roman"/>
              </a:rPr>
              <a:t>Contohnya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portal,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berita,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dll.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6443598"/>
            <a:ext cx="137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b.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568959"/>
            <a:ext cx="128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c.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1097" y="490219"/>
            <a:ext cx="4252595" cy="107505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Interaktif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berinteraksi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antara penggunanya.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Biasanya </a:t>
            </a:r>
            <a:r>
              <a:rPr sz="1200" dirty="0">
                <a:latin typeface="Times New Roman"/>
                <a:cs typeface="Times New Roman"/>
              </a:rPr>
              <a:t>berupa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forum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diskusi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maupun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blog.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Dimana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adanya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moderator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pengatur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diskusi.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1808988"/>
            <a:ext cx="4612640" cy="238569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469900" lvl="1" indent="-457200">
              <a:lnSpc>
                <a:spcPct val="100000"/>
              </a:lnSpc>
              <a:spcBef>
                <a:spcPts val="705"/>
              </a:spcBef>
              <a:buAutoNum type="arabicPeriod" startAt="2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Pengertian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Pemrograman</a:t>
            </a:r>
            <a:r>
              <a:rPr sz="1200" b="1" spc="-25" dirty="0">
                <a:latin typeface="Times New Roman"/>
                <a:cs typeface="Times New Roman"/>
              </a:rPr>
              <a:t> Web</a:t>
            </a:r>
            <a:endParaRPr sz="1200">
              <a:latin typeface="Times New Roman"/>
              <a:cs typeface="Times New Roman"/>
            </a:endParaRPr>
          </a:p>
          <a:p>
            <a:pPr marL="12700" marR="187960" indent="457200">
              <a:lnSpc>
                <a:spcPts val="2060"/>
              </a:lnSpc>
              <a:spcBef>
                <a:spcPts val="165"/>
              </a:spcBef>
            </a:pPr>
            <a:r>
              <a:rPr sz="1200" spc="-10" dirty="0">
                <a:latin typeface="Times New Roman"/>
                <a:cs typeface="Times New Roman"/>
              </a:rPr>
              <a:t>Pemrograman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menghasilkan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diakses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pada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browser.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200">
              <a:latin typeface="Times New Roman"/>
              <a:cs typeface="Times New Roman"/>
            </a:endParaRPr>
          </a:p>
          <a:p>
            <a:pPr marL="469900" lvl="1" indent="-457200">
              <a:lnSpc>
                <a:spcPct val="100000"/>
              </a:lnSpc>
              <a:buAutoNum type="arabicPeriod" startAt="3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Bahasa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Skrip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Pemrograman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Web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>
              <a:lnSpc>
                <a:spcPts val="206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mempelajari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pemrograman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diketahui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pemahaman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dibutuhkan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website,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4171314"/>
            <a:ext cx="137160" cy="10756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25" dirty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25" dirty="0">
                <a:latin typeface="Times New Roman"/>
                <a:cs typeface="Times New Roman"/>
              </a:rPr>
              <a:t>b.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25" dirty="0">
                <a:latin typeface="Times New Roman"/>
                <a:cs typeface="Times New Roman"/>
              </a:rPr>
              <a:t>c.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25" dirty="0">
                <a:latin typeface="Times New Roman"/>
                <a:cs typeface="Times New Roman"/>
              </a:rPr>
              <a:t>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1097" y="4171314"/>
            <a:ext cx="921385" cy="1075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76250">
              <a:lnSpc>
                <a:spcPct val="143700"/>
              </a:lnSpc>
              <a:spcBef>
                <a:spcPts val="90"/>
              </a:spcBef>
            </a:pPr>
            <a:r>
              <a:rPr sz="1200" spc="-30" dirty="0">
                <a:latin typeface="Times New Roman"/>
                <a:cs typeface="Times New Roman"/>
              </a:rPr>
              <a:t>HTML </a:t>
            </a:r>
            <a:r>
              <a:rPr sz="1200" spc="-25" dirty="0">
                <a:latin typeface="Times New Roman"/>
                <a:cs typeface="Times New Roman"/>
              </a:rPr>
              <a:t>PHP CSS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5490845"/>
            <a:ext cx="4705985" cy="238569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10"/>
              </a:spcBef>
            </a:pPr>
            <a:r>
              <a:rPr sz="1200" b="1" dirty="0">
                <a:latin typeface="Times New Roman"/>
                <a:cs typeface="Times New Roman"/>
              </a:rPr>
              <a:t>1.4</a:t>
            </a:r>
            <a:r>
              <a:rPr sz="1200" b="1" spc="370" dirty="0">
                <a:latin typeface="Times New Roman"/>
                <a:cs typeface="Times New Roman"/>
              </a:rPr>
              <a:t>   </a:t>
            </a:r>
            <a:r>
              <a:rPr sz="1200" b="1" spc="-10" dirty="0">
                <a:latin typeface="Times New Roman"/>
                <a:cs typeface="Times New Roman"/>
              </a:rPr>
              <a:t>Istilah-</a:t>
            </a:r>
            <a:r>
              <a:rPr sz="1200" b="1" dirty="0">
                <a:latin typeface="Times New Roman"/>
                <a:cs typeface="Times New Roman"/>
              </a:rPr>
              <a:t>Istilah dalam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Pemrograman </a:t>
            </a:r>
            <a:r>
              <a:rPr sz="1200" b="1" spc="-25" dirty="0">
                <a:latin typeface="Times New Roman"/>
                <a:cs typeface="Times New Roman"/>
              </a:rPr>
              <a:t>Web</a:t>
            </a:r>
            <a:endParaRPr sz="1200">
              <a:latin typeface="Times New Roman"/>
              <a:cs typeface="Times New Roman"/>
            </a:endParaRPr>
          </a:p>
          <a:p>
            <a:pPr marL="12700" marR="6350" indent="457200" algn="just">
              <a:lnSpc>
                <a:spcPts val="206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2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istilah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sering</a:t>
            </a:r>
            <a:r>
              <a:rPr sz="1200" spc="2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apabila</a:t>
            </a:r>
            <a:r>
              <a:rPr sz="1200" spc="250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anda </a:t>
            </a:r>
            <a:r>
              <a:rPr sz="1200" spc="-10" dirty="0">
                <a:latin typeface="Times New Roman"/>
                <a:cs typeface="Times New Roman"/>
              </a:rPr>
              <a:t>mempelajari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pemrograman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diantaranya </a:t>
            </a:r>
            <a:r>
              <a:rPr sz="1200" spc="-10" dirty="0">
                <a:latin typeface="Times New Roman"/>
                <a:cs typeface="Times New Roman"/>
              </a:rPr>
              <a:t>yaitu: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340" dirty="0">
                <a:latin typeface="Times New Roman"/>
                <a:cs typeface="Times New Roman"/>
              </a:rPr>
              <a:t>   </a:t>
            </a:r>
            <a:r>
              <a:rPr sz="1200" spc="-10" dirty="0">
                <a:latin typeface="Times New Roman"/>
                <a:cs typeface="Times New Roman"/>
              </a:rPr>
              <a:t>Internet</a:t>
            </a:r>
            <a:endParaRPr sz="1200">
              <a:latin typeface="Times New Roman"/>
              <a:cs typeface="Times New Roman"/>
            </a:endParaRPr>
          </a:p>
          <a:p>
            <a:pPr marL="372110" marR="5080" algn="just">
              <a:lnSpc>
                <a:spcPts val="2070"/>
              </a:lnSpc>
              <a:spcBef>
                <a:spcPts val="90"/>
              </a:spcBef>
            </a:pPr>
            <a:r>
              <a:rPr sz="1200" i="1" dirty="0">
                <a:latin typeface="Times New Roman"/>
                <a:cs typeface="Times New Roman"/>
              </a:rPr>
              <a:t>Internet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berarti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rangkaian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komputer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terhubung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-10" dirty="0">
                <a:latin typeface="Times New Roman"/>
                <a:cs typeface="Times New Roman"/>
              </a:rPr>
              <a:t> beberapa </a:t>
            </a:r>
            <a:r>
              <a:rPr sz="1200" dirty="0">
                <a:latin typeface="Times New Roman"/>
                <a:cs typeface="Times New Roman"/>
              </a:rPr>
              <a:t>rangkaian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jaringan.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Sistem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komputer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terhubung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global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TCP/IP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protoco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Melalui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pertukaran </a:t>
            </a:r>
            <a:r>
              <a:rPr sz="1200" dirty="0">
                <a:latin typeface="Times New Roman"/>
                <a:cs typeface="Times New Roman"/>
              </a:rPr>
              <a:t>informasi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dilakukan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tanpa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batas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asalkan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kedua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pihak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terhubung </a:t>
            </a:r>
            <a:r>
              <a:rPr sz="1200" dirty="0">
                <a:latin typeface="Times New Roman"/>
                <a:cs typeface="Times New Roman"/>
              </a:rPr>
              <a:t>kedalam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jaringan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sama.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2935223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749047"/>
            <a:ext cx="4707255" cy="45008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72110" indent="-359410" algn="just">
              <a:lnSpc>
                <a:spcPct val="100000"/>
              </a:lnSpc>
              <a:spcBef>
                <a:spcPts val="740"/>
              </a:spcBef>
              <a:buFont typeface="Times New Roman"/>
              <a:buAutoNum type="arabicPeriod" startAt="2"/>
              <a:tabLst>
                <a:tab pos="372110" algn="l"/>
              </a:tabLst>
            </a:pPr>
            <a:r>
              <a:rPr sz="1200" i="1" dirty="0">
                <a:latin typeface="Times New Roman"/>
                <a:cs typeface="Times New Roman"/>
              </a:rPr>
              <a:t>World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Wide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(WWW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355600" marR="5080" algn="just">
              <a:lnSpc>
                <a:spcPct val="143100"/>
              </a:lnSpc>
              <a:spcBef>
                <a:spcPts val="20"/>
              </a:spcBef>
            </a:pPr>
            <a:r>
              <a:rPr sz="1200" i="1" dirty="0">
                <a:latin typeface="Times New Roman"/>
                <a:cs typeface="Times New Roman"/>
              </a:rPr>
              <a:t>WWW</a:t>
            </a:r>
            <a:r>
              <a:rPr sz="1200" i="1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kumpulan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17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server</a:t>
            </a:r>
            <a:r>
              <a:rPr sz="1200" i="1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diseluruh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dunia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dapat menyediakan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massal.</a:t>
            </a:r>
            <a:endParaRPr sz="1200">
              <a:latin typeface="Times New Roman"/>
              <a:cs typeface="Times New Roman"/>
            </a:endParaRPr>
          </a:p>
          <a:p>
            <a:pPr marL="372110" indent="-359410" algn="just">
              <a:lnSpc>
                <a:spcPct val="100000"/>
              </a:lnSpc>
              <a:spcBef>
                <a:spcPts val="630"/>
              </a:spcBef>
              <a:buFont typeface="Times New Roman"/>
              <a:buAutoNum type="arabicPeriod" startAt="3"/>
              <a:tabLst>
                <a:tab pos="372110" algn="l"/>
              </a:tabLst>
            </a:pPr>
            <a:r>
              <a:rPr sz="1200" i="1" spc="-10" dirty="0">
                <a:latin typeface="Times New Roman"/>
                <a:cs typeface="Times New Roman"/>
              </a:rPr>
              <a:t>Website</a:t>
            </a:r>
            <a:endParaRPr sz="1200">
              <a:latin typeface="Times New Roman"/>
              <a:cs typeface="Times New Roman"/>
            </a:endParaRPr>
          </a:p>
          <a:p>
            <a:pPr marL="355600" marR="5715" algn="just">
              <a:lnSpc>
                <a:spcPts val="2070"/>
              </a:lnSpc>
              <a:spcBef>
                <a:spcPts val="175"/>
              </a:spcBef>
            </a:pPr>
            <a:r>
              <a:rPr sz="1200" i="1" dirty="0">
                <a:latin typeface="Times New Roman"/>
                <a:cs typeface="Times New Roman"/>
              </a:rPr>
              <a:t>Website</a:t>
            </a:r>
            <a:r>
              <a:rPr sz="1200" i="1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istilah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merujuk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kepada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diakses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terkoneksi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internet.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mengakses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website,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selain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terkoneksi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internet,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anda </a:t>
            </a:r>
            <a:r>
              <a:rPr sz="1200" dirty="0">
                <a:latin typeface="Times New Roman"/>
                <a:cs typeface="Times New Roman"/>
              </a:rPr>
              <a:t>pun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membukanya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browser.</a:t>
            </a:r>
            <a:endParaRPr sz="1200">
              <a:latin typeface="Times New Roman"/>
              <a:cs typeface="Times New Roman"/>
            </a:endParaRPr>
          </a:p>
          <a:p>
            <a:pPr marL="372110" algn="just">
              <a:lnSpc>
                <a:spcPct val="100000"/>
              </a:lnSpc>
              <a:spcBef>
                <a:spcPts val="465"/>
              </a:spcBef>
            </a:pP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Server</a:t>
            </a:r>
            <a:endParaRPr sz="1200">
              <a:latin typeface="Times New Roman"/>
              <a:cs typeface="Times New Roman"/>
            </a:endParaRPr>
          </a:p>
          <a:p>
            <a:pPr marL="372110" marR="5715" algn="just">
              <a:lnSpc>
                <a:spcPct val="143800"/>
              </a:lnSpc>
            </a:pP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10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Server</a:t>
            </a:r>
            <a:r>
              <a:rPr sz="1200" i="1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perangkat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lunak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menerima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permintaan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melalui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Protokol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client, </a:t>
            </a:r>
            <a:r>
              <a:rPr sz="1200" dirty="0">
                <a:latin typeface="Times New Roman"/>
                <a:cs typeface="Times New Roman"/>
              </a:rPr>
              <a:t>kemudian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dikirimkan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kembali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halaman-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web.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Xampp,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Apache2Triad,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dll.</a:t>
            </a:r>
            <a:endParaRPr sz="1200">
              <a:latin typeface="Times New Roman"/>
              <a:cs typeface="Times New Roman"/>
            </a:endParaRPr>
          </a:p>
          <a:p>
            <a:pPr marL="372110" indent="-359410" algn="just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372110" algn="l"/>
              </a:tabLst>
            </a:pP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(Universal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Resource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Locator)</a:t>
            </a:r>
            <a:endParaRPr sz="1200">
              <a:latin typeface="Times New Roman"/>
              <a:cs typeface="Times New Roman"/>
            </a:endParaRPr>
          </a:p>
          <a:p>
            <a:pPr marL="372110" marR="11430" algn="just">
              <a:lnSpc>
                <a:spcPts val="209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alamat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menunjukkan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 </a:t>
            </a:r>
            <a:r>
              <a:rPr sz="1200" dirty="0">
                <a:latin typeface="Times New Roman"/>
                <a:cs typeface="Times New Roman"/>
              </a:rPr>
              <a:t>tertentu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internet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000" b="1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http://www.google.com</a:t>
            </a:r>
            <a:endParaRPr sz="1000">
              <a:latin typeface="Calibri"/>
              <a:cs typeface="Calibri"/>
            </a:endParaRPr>
          </a:p>
          <a:p>
            <a:pPr marL="372110" indent="-359410" algn="just">
              <a:lnSpc>
                <a:spcPct val="100000"/>
              </a:lnSpc>
              <a:spcBef>
                <a:spcPts val="450"/>
              </a:spcBef>
              <a:buAutoNum type="arabicPeriod" startAt="6"/>
              <a:tabLst>
                <a:tab pos="372110" algn="l"/>
              </a:tabLst>
            </a:pP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(Hypertext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Transfer </a:t>
            </a:r>
            <a:r>
              <a:rPr sz="1200" i="1" spc="-10" dirty="0">
                <a:latin typeface="Times New Roman"/>
                <a:cs typeface="Times New Roman"/>
              </a:rPr>
              <a:t>Protocol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5222875"/>
            <a:ext cx="4705985" cy="2654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2110" marR="5080" algn="just">
              <a:lnSpc>
                <a:spcPct val="1434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27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7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27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mengidentifikasikan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lokasi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protokol HTML.</a:t>
            </a:r>
            <a:endParaRPr sz="1200">
              <a:latin typeface="Times New Roman"/>
              <a:cs typeface="Times New Roman"/>
            </a:endParaRPr>
          </a:p>
          <a:p>
            <a:pPr marL="372110" indent="-359410" algn="just">
              <a:lnSpc>
                <a:spcPct val="100000"/>
              </a:lnSpc>
              <a:spcBef>
                <a:spcPts val="640"/>
              </a:spcBef>
              <a:buAutoNum type="arabicPeriod" startAt="7"/>
              <a:tabLst>
                <a:tab pos="372110" algn="l"/>
              </a:tabLst>
            </a:pPr>
            <a:r>
              <a:rPr sz="1200" dirty="0">
                <a:latin typeface="Times New Roman"/>
                <a:cs typeface="Times New Roman"/>
              </a:rPr>
              <a:t>DNS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(Domain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Name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System)</a:t>
            </a:r>
            <a:endParaRPr sz="1200">
              <a:latin typeface="Times New Roman"/>
              <a:cs typeface="Times New Roman"/>
            </a:endParaRPr>
          </a:p>
          <a:p>
            <a:pPr marL="372110" marR="6350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DNS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sistem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database</a:t>
            </a:r>
            <a:r>
              <a:rPr sz="1200" i="1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terdistribusi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banyak </a:t>
            </a:r>
            <a:r>
              <a:rPr sz="1200" dirty="0">
                <a:latin typeface="Times New Roman"/>
                <a:cs typeface="Times New Roman"/>
              </a:rPr>
              <a:t>dipengaruhi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bertambanhnya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database.</a:t>
            </a:r>
            <a:r>
              <a:rPr sz="1200" i="1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DNS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menjamin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informasi </a:t>
            </a:r>
            <a:r>
              <a:rPr sz="1200" i="1" dirty="0">
                <a:latin typeface="Times New Roman"/>
                <a:cs typeface="Times New Roman"/>
              </a:rPr>
              <a:t>host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terbaru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disebarkan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jaringan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diperlukan.</a:t>
            </a:r>
            <a:endParaRPr sz="1200">
              <a:latin typeface="Times New Roman"/>
              <a:cs typeface="Times New Roman"/>
            </a:endParaRPr>
          </a:p>
          <a:p>
            <a:pPr marL="372110" indent="-359410" algn="just">
              <a:lnSpc>
                <a:spcPct val="100000"/>
              </a:lnSpc>
              <a:spcBef>
                <a:spcPts val="640"/>
              </a:spcBef>
              <a:buAutoNum type="arabicPeriod" startAt="8"/>
              <a:tabLst>
                <a:tab pos="372110" algn="l"/>
              </a:tabLst>
            </a:pP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(Internet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Protocol)</a:t>
            </a:r>
            <a:endParaRPr sz="1200">
              <a:latin typeface="Times New Roman"/>
              <a:cs typeface="Times New Roman"/>
            </a:endParaRPr>
          </a:p>
          <a:p>
            <a:pPr marL="372110" algn="just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i="1" dirty="0">
                <a:latin typeface="Times New Roman"/>
                <a:cs typeface="Times New Roman"/>
              </a:rPr>
              <a:t>Internet</a:t>
            </a:r>
            <a:r>
              <a:rPr sz="1200" i="1" spc="28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Protocol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protokol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</a:t>
            </a:r>
            <a:endParaRPr sz="1200">
              <a:latin typeface="Times New Roman"/>
              <a:cs typeface="Times New Roman"/>
            </a:endParaRPr>
          </a:p>
          <a:p>
            <a:pPr marL="372110" algn="just">
              <a:lnSpc>
                <a:spcPct val="100000"/>
              </a:lnSpc>
              <a:spcBef>
                <a:spcPts val="630"/>
              </a:spcBef>
            </a:pPr>
            <a:r>
              <a:rPr sz="1200" i="1" dirty="0">
                <a:latin typeface="Times New Roman"/>
                <a:cs typeface="Times New Roman"/>
              </a:rPr>
              <a:t>internet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teknis</a:t>
            </a:r>
            <a:r>
              <a:rPr sz="1200" spc="1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bermakna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pengisian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dan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490219"/>
            <a:ext cx="4710430" cy="7387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pengalamatan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informasi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dikirim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melalui</a:t>
            </a:r>
            <a:endParaRPr sz="12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20"/>
              </a:spcBef>
            </a:pPr>
            <a:r>
              <a:rPr sz="1200" i="1" spc="-10" dirty="0">
                <a:latin typeface="Times New Roman"/>
                <a:cs typeface="Times New Roman"/>
              </a:rPr>
              <a:t>internet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372110" indent="-359410">
              <a:lnSpc>
                <a:spcPct val="100000"/>
              </a:lnSpc>
              <a:spcBef>
                <a:spcPts val="640"/>
              </a:spcBef>
              <a:buFont typeface="Times New Roman"/>
              <a:buAutoNum type="arabicPeriod" startAt="9"/>
              <a:tabLst>
                <a:tab pos="372110" algn="l"/>
              </a:tabLst>
            </a:pPr>
            <a:r>
              <a:rPr sz="1200" i="1" spc="-10" dirty="0">
                <a:latin typeface="Times New Roman"/>
                <a:cs typeface="Times New Roman"/>
              </a:rPr>
              <a:t>Hyperlink</a:t>
            </a:r>
            <a:endParaRPr sz="1200">
              <a:latin typeface="Times New Roman"/>
              <a:cs typeface="Times New Roman"/>
            </a:endParaRPr>
          </a:p>
          <a:p>
            <a:pPr marL="372110" marR="6985" algn="just">
              <a:lnSpc>
                <a:spcPts val="2070"/>
              </a:lnSpc>
              <a:spcBef>
                <a:spcPts val="165"/>
              </a:spcBef>
            </a:pPr>
            <a:r>
              <a:rPr sz="1200" i="1" dirty="0">
                <a:latin typeface="Times New Roman"/>
                <a:cs typeface="Times New Roman"/>
              </a:rPr>
              <a:t>Hyperlink</a:t>
            </a:r>
            <a:r>
              <a:rPr sz="1200" i="1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link</a:t>
            </a:r>
            <a:r>
              <a:rPr sz="1200" i="1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berperan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3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mempopulerkan</a:t>
            </a:r>
            <a:r>
              <a:rPr sz="1200" spc="3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31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internet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30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hyperlink</a:t>
            </a:r>
            <a:r>
              <a:rPr sz="1200" i="1" spc="30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dapat mereferensikan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alamat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 </a:t>
            </a:r>
            <a:r>
              <a:rPr sz="1200" i="1" spc="-10" dirty="0">
                <a:latin typeface="Times New Roman"/>
                <a:cs typeface="Times New Roman"/>
              </a:rPr>
              <a:t>internet.</a:t>
            </a:r>
            <a:endParaRPr sz="1200">
              <a:latin typeface="Times New Roman"/>
              <a:cs typeface="Times New Roman"/>
            </a:endParaRPr>
          </a:p>
          <a:p>
            <a:pPr marL="372110" indent="-359410" algn="just">
              <a:lnSpc>
                <a:spcPct val="100000"/>
              </a:lnSpc>
              <a:spcBef>
                <a:spcPts val="465"/>
              </a:spcBef>
              <a:buFont typeface="Times New Roman"/>
              <a:buAutoNum type="arabicPeriod" startAt="10"/>
              <a:tabLst>
                <a:tab pos="372110" algn="l"/>
              </a:tabLst>
            </a:pP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Browser</a:t>
            </a:r>
            <a:endParaRPr sz="1200">
              <a:latin typeface="Times New Roman"/>
              <a:cs typeface="Times New Roman"/>
            </a:endParaRPr>
          </a:p>
          <a:p>
            <a:pPr marL="372110" marR="5080" algn="just">
              <a:lnSpc>
                <a:spcPts val="207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1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browser</a:t>
            </a:r>
            <a:r>
              <a:rPr sz="1200" i="1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mudah,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diperlukan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hanyalah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Anda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alamat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dibuka.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Alamat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biasa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disebut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Uniform</a:t>
            </a:r>
            <a:r>
              <a:rPr sz="1200" i="1" spc="9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Resource</a:t>
            </a:r>
            <a:r>
              <a:rPr sz="1200" i="1" spc="9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Locator</a:t>
            </a:r>
            <a:r>
              <a:rPr sz="1200" i="1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(URL).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sistem</a:t>
            </a:r>
            <a:endParaRPr sz="1200">
              <a:latin typeface="Times New Roman"/>
              <a:cs typeface="Times New Roman"/>
            </a:endParaRPr>
          </a:p>
          <a:p>
            <a:pPr marL="372110" algn="just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Times New Roman"/>
                <a:cs typeface="Times New Roman"/>
              </a:rPr>
              <a:t>operasi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Windows</a:t>
            </a:r>
            <a:r>
              <a:rPr sz="1200" i="1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114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browser</a:t>
            </a:r>
            <a:r>
              <a:rPr sz="1200" i="1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bawaan,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yaitu</a:t>
            </a:r>
            <a:endParaRPr sz="1200">
              <a:latin typeface="Times New Roman"/>
              <a:cs typeface="Times New Roman"/>
            </a:endParaRPr>
          </a:p>
          <a:p>
            <a:pPr marL="372110" marR="5080" algn="just">
              <a:lnSpc>
                <a:spcPct val="143700"/>
              </a:lnSpc>
              <a:spcBef>
                <a:spcPts val="5"/>
              </a:spcBef>
            </a:pPr>
            <a:r>
              <a:rPr sz="1200" i="1" dirty="0">
                <a:latin typeface="Times New Roman"/>
                <a:cs typeface="Times New Roman"/>
              </a:rPr>
              <a:t>Internet</a:t>
            </a:r>
            <a:r>
              <a:rPr sz="1200" i="1" spc="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Explorer.</a:t>
            </a:r>
            <a:r>
              <a:rPr sz="1200" i="1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alternative</a:t>
            </a:r>
            <a:r>
              <a:rPr sz="1200" i="1" spc="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</a:t>
            </a:r>
            <a:r>
              <a:rPr sz="1200" i="1" spc="7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browser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sebagian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besar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bersifat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gratis,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Firefox,</a:t>
            </a:r>
            <a:r>
              <a:rPr sz="1200" i="1" spc="26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Opera,</a:t>
            </a:r>
            <a:r>
              <a:rPr sz="1200" i="1" spc="26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Safari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i="1" dirty="0">
                <a:latin typeface="Times New Roman"/>
                <a:cs typeface="Times New Roman"/>
              </a:rPr>
              <a:t>chrome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0" dirty="0">
                <a:latin typeface="Times New Roman"/>
                <a:cs typeface="Times New Roman"/>
              </a:rPr>
              <a:t> seterusnya.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1.6</a:t>
            </a:r>
            <a:r>
              <a:rPr sz="1200" b="1" spc="390" dirty="0">
                <a:latin typeface="Times New Roman"/>
                <a:cs typeface="Times New Roman"/>
              </a:rPr>
              <a:t>   </a:t>
            </a:r>
            <a:r>
              <a:rPr sz="1200" b="1" dirty="0">
                <a:latin typeface="Times New Roman"/>
                <a:cs typeface="Times New Roman"/>
              </a:rPr>
              <a:t>Struktur </a:t>
            </a:r>
            <a:r>
              <a:rPr sz="1200" b="1" spc="-10" dirty="0">
                <a:latin typeface="Times New Roman"/>
                <a:cs typeface="Times New Roman"/>
              </a:rPr>
              <a:t>Navigasi</a:t>
            </a:r>
            <a:endParaRPr sz="1200">
              <a:latin typeface="Times New Roman"/>
              <a:cs typeface="Times New Roman"/>
            </a:endParaRPr>
          </a:p>
          <a:p>
            <a:pPr marL="12700" marR="8890" indent="449580" algn="just">
              <a:lnSpc>
                <a:spcPts val="206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bagan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hirarki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menggambarkan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isi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dapat</a:t>
            </a: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ts val="207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dikatakan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gambaran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hubungan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rantai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kerja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seluruh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aplikasi.</a:t>
            </a:r>
            <a:endParaRPr sz="1200">
              <a:latin typeface="Times New Roman"/>
              <a:cs typeface="Times New Roman"/>
            </a:endParaRPr>
          </a:p>
          <a:p>
            <a:pPr marL="12700" indent="449580" algn="just">
              <a:lnSpc>
                <a:spcPct val="100000"/>
              </a:lnSpc>
              <a:spcBef>
                <a:spcPts val="455"/>
              </a:spcBef>
            </a:pPr>
            <a:r>
              <a:rPr sz="1200" spc="-10" dirty="0">
                <a:latin typeface="Times New Roman"/>
                <a:cs typeface="Times New Roman"/>
              </a:rPr>
              <a:t>Kriteria-</a:t>
            </a:r>
            <a:r>
              <a:rPr sz="1200" dirty="0">
                <a:latin typeface="Times New Roman"/>
                <a:cs typeface="Times New Roman"/>
              </a:rPr>
              <a:t>kriteria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pengelompokan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struktur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berikut: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kebutuhan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objek,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kemudahan </a:t>
            </a:r>
            <a:r>
              <a:rPr sz="1200" dirty="0">
                <a:latin typeface="Times New Roman"/>
                <a:cs typeface="Times New Roman"/>
              </a:rPr>
              <a:t>pemakaian,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interaktif,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kemudahan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membuatnya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berpengaruh </a:t>
            </a:r>
            <a:r>
              <a:rPr sz="1200" dirty="0">
                <a:latin typeface="Times New Roman"/>
                <a:cs typeface="Times New Roman"/>
              </a:rPr>
              <a:t>terhadap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waktu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websites.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penggambarannya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terbagi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kedalam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berbeda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yaitu: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Linier, </a:t>
            </a:r>
            <a:r>
              <a:rPr sz="1200" i="1" dirty="0">
                <a:latin typeface="Times New Roman"/>
                <a:cs typeface="Times New Roman"/>
              </a:rPr>
              <a:t>Non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Linier,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Hierarchical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(Hirarki)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Composit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(Campuran).</a:t>
            </a:r>
            <a:endParaRPr sz="1200">
              <a:latin typeface="Times New Roman"/>
              <a:cs typeface="Times New Roman"/>
            </a:endParaRPr>
          </a:p>
          <a:p>
            <a:pPr marL="12700" marR="104139" indent="44958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macam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biasa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digunakan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yaitu: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689" y="2291714"/>
            <a:ext cx="2953385" cy="3473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" y="3377565"/>
            <a:ext cx="5212080" cy="863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1200" y="572769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8717" y="497839"/>
            <a:ext cx="4247515" cy="5410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00" b="1" dirty="0">
                <a:latin typeface="Times New Roman"/>
                <a:cs typeface="Times New Roman"/>
              </a:rPr>
              <a:t>Struktur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Navigasi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Linier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linier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rangkaian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1013586"/>
            <a:ext cx="470662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ditampilkan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berurut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menurut </a:t>
            </a:r>
            <a:r>
              <a:rPr sz="1200" dirty="0">
                <a:latin typeface="Times New Roman"/>
                <a:cs typeface="Times New Roman"/>
              </a:rPr>
              <a:t>urutannya.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ditampilkan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sebelumnya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sesudahnya,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dua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sebelumnya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sesudahnya.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2743707"/>
            <a:ext cx="3496945" cy="5511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06500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1.1.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Linier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0591" y="4312284"/>
            <a:ext cx="275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1.2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Linier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200" y="4841875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8717" y="4765675"/>
            <a:ext cx="4248785" cy="5435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b="1" dirty="0">
                <a:latin typeface="Times New Roman"/>
                <a:cs typeface="Times New Roman"/>
              </a:rPr>
              <a:t>Struktur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Navigasi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Hirarki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hirarki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yang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200" y="5283835"/>
            <a:ext cx="4709795" cy="212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mengandalkan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berdasarkan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kriteria </a:t>
            </a:r>
            <a:r>
              <a:rPr sz="1200" dirty="0">
                <a:latin typeface="Times New Roman"/>
                <a:cs typeface="Times New Roman"/>
              </a:rPr>
              <a:t>tertentu.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digambarkan,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hirarki ada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Master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(halaman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utama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pertama).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 </a:t>
            </a:r>
            <a:r>
              <a:rPr sz="1200" dirty="0">
                <a:latin typeface="Times New Roman"/>
                <a:cs typeface="Times New Roman"/>
              </a:rPr>
              <a:t>utama</a:t>
            </a:r>
            <a:r>
              <a:rPr sz="1200" spc="3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3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mempunyai</a:t>
            </a:r>
            <a:r>
              <a:rPr sz="1200" spc="3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3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Slave </a:t>
            </a:r>
            <a:r>
              <a:rPr sz="1200" i="1" dirty="0">
                <a:latin typeface="Times New Roman"/>
                <a:cs typeface="Times New Roman"/>
              </a:rPr>
              <a:t>Page</a:t>
            </a:r>
            <a:r>
              <a:rPr sz="1200" i="1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(halaman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pendukung).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pendukung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diklik,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dia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berubah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Master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kemudian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percabangan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pendukung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lainnya,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seterusnya.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ini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diperbolehkan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linier.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2885" y="2550160"/>
            <a:ext cx="3134360" cy="14573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1200" y="1915286"/>
            <a:ext cx="3529329" cy="5518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173480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1.3.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Hirarki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717" y="3984625"/>
            <a:ext cx="4249420" cy="81661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75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1.4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Hirarki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b="1" dirty="0">
                <a:latin typeface="Times New Roman"/>
                <a:cs typeface="Times New Roman"/>
              </a:rPr>
              <a:t>Struktur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Navigasi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Non-</a:t>
            </a:r>
            <a:r>
              <a:rPr sz="1200" b="1" spc="-10" dirty="0">
                <a:latin typeface="Times New Roman"/>
                <a:cs typeface="Times New Roman"/>
              </a:rPr>
              <a:t>Linier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linier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berurut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merupakan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4332604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3.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4774564"/>
            <a:ext cx="4711065" cy="1866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pengembangan</a:t>
            </a:r>
            <a:r>
              <a:rPr sz="1200" spc="30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0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30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30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linier.</a:t>
            </a:r>
            <a:r>
              <a:rPr sz="1200" spc="30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05" dirty="0">
                <a:latin typeface="Times New Roman"/>
                <a:cs typeface="Times New Roman"/>
              </a:rPr>
              <a:t>   </a:t>
            </a:r>
            <a:r>
              <a:rPr sz="1200" spc="-10" dirty="0">
                <a:latin typeface="Times New Roman"/>
                <a:cs typeface="Times New Roman"/>
              </a:rPr>
              <a:t>struktur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diperkenankan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bercabang.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ada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nonlinier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berbeda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pada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hirarki,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karena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nonlinier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walaupun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terdapat </a:t>
            </a:r>
            <a:r>
              <a:rPr sz="1200" dirty="0">
                <a:latin typeface="Times New Roman"/>
                <a:cs typeface="Times New Roman"/>
              </a:rPr>
              <a:t>percabangan,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tetapi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tiap-</a:t>
            </a:r>
            <a:r>
              <a:rPr sz="1200" dirty="0">
                <a:latin typeface="Times New Roman"/>
                <a:cs typeface="Times New Roman"/>
              </a:rPr>
              <a:t>tiap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mempunyai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tingkatan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sama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Master</a:t>
            </a:r>
            <a:r>
              <a:rPr sz="1200" i="1" spc="26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Page(halaman</a:t>
            </a:r>
            <a:r>
              <a:rPr sz="1200" i="1" spc="26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utama</a:t>
            </a:r>
            <a:r>
              <a:rPr sz="1200" i="1" spc="26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website)</a:t>
            </a:r>
            <a:r>
              <a:rPr sz="1200" i="1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i="1" spc="-10" dirty="0">
                <a:latin typeface="Times New Roman"/>
                <a:cs typeface="Times New Roman"/>
              </a:rPr>
              <a:t>Slave </a:t>
            </a:r>
            <a:r>
              <a:rPr sz="1200" i="1" dirty="0">
                <a:latin typeface="Times New Roman"/>
                <a:cs typeface="Times New Roman"/>
              </a:rPr>
              <a:t>Page(halaman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pendukung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website)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7901" y="7845742"/>
            <a:ext cx="2614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1.5.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</a:t>
            </a:r>
            <a:r>
              <a:rPr sz="1200" spc="-10" dirty="0">
                <a:latin typeface="Times New Roman"/>
                <a:cs typeface="Times New Roman"/>
              </a:rPr>
              <a:t>Linier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6564" y="596900"/>
            <a:ext cx="2672080" cy="13423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635" y="6722541"/>
            <a:ext cx="3272663" cy="10600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830" y="859155"/>
            <a:ext cx="4002913" cy="11436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3955" y="4302125"/>
            <a:ext cx="3855974" cy="15011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1200" y="568959"/>
            <a:ext cx="554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8717" y="2057653"/>
            <a:ext cx="4248785" cy="81788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76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1.6.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</a:t>
            </a:r>
            <a:r>
              <a:rPr sz="1200" spc="-10" dirty="0">
                <a:latin typeface="Times New Roman"/>
                <a:cs typeface="Times New Roman"/>
              </a:rPr>
              <a:t>Linier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b="1" dirty="0">
                <a:latin typeface="Times New Roman"/>
                <a:cs typeface="Times New Roman"/>
              </a:rPr>
              <a:t>Struktur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Navigasi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Campuran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campuran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bebas.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Dimana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2408173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2850388"/>
            <a:ext cx="4706620" cy="1340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didalamnya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gabungan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lainnya.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campuran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website, </a:t>
            </a:r>
            <a:r>
              <a:rPr sz="1200" dirty="0">
                <a:latin typeface="Times New Roman"/>
                <a:cs typeface="Times New Roman"/>
              </a:rPr>
              <a:t>karena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memberikan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tingkat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interaksi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tinggi.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keterikatan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dibuat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efisien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spc="-10" dirty="0">
                <a:latin typeface="Times New Roman"/>
                <a:cs typeface="Times New Roman"/>
              </a:rPr>
              <a:t>menarik.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3301" y="5888608"/>
            <a:ext cx="2562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1.7.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Campuran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859155"/>
            <a:ext cx="5186680" cy="24381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1200" y="568959"/>
            <a:ext cx="554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3422903"/>
            <a:ext cx="4702175" cy="152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1.8.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Campuran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1.3</a:t>
            </a:r>
            <a:r>
              <a:rPr sz="1200" b="1" spc="385" dirty="0">
                <a:latin typeface="Times New Roman"/>
                <a:cs typeface="Times New Roman"/>
              </a:rPr>
              <a:t>   </a:t>
            </a:r>
            <a:r>
              <a:rPr sz="1200" b="1" dirty="0">
                <a:latin typeface="Times New Roman"/>
                <a:cs typeface="Times New Roman"/>
              </a:rPr>
              <a:t>Text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Editor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ts val="207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dibutuhkan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editor.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Text </a:t>
            </a:r>
            <a:r>
              <a:rPr sz="1200" dirty="0">
                <a:latin typeface="Times New Roman"/>
                <a:cs typeface="Times New Roman"/>
              </a:rPr>
              <a:t>editor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dipergunakan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pembelajaran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ini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pilihan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5001895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8717" y="4923155"/>
            <a:ext cx="4248785" cy="160210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latin typeface="Times New Roman"/>
                <a:cs typeface="Times New Roman"/>
              </a:rPr>
              <a:t>Notepad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Notepad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editor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instalasi </a:t>
            </a:r>
            <a:r>
              <a:rPr sz="1200" dirty="0">
                <a:latin typeface="Times New Roman"/>
                <a:cs typeface="Times New Roman"/>
              </a:rPr>
              <a:t>os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masing-</a:t>
            </a:r>
            <a:r>
              <a:rPr sz="1200" dirty="0">
                <a:latin typeface="Times New Roman"/>
                <a:cs typeface="Times New Roman"/>
              </a:rPr>
              <a:t>masing.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diperhatikan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jika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notepad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editor,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yakni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extension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dituliskan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langsung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pemilihan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Notepad++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6316598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8717" y="6500621"/>
            <a:ext cx="1741805" cy="5568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200" dirty="0">
                <a:latin typeface="Times New Roman"/>
                <a:cs typeface="Times New Roman"/>
              </a:rPr>
              <a:t>Notepad++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sebuah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sumber</a:t>
            </a:r>
            <a:r>
              <a:rPr sz="1100" spc="185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berjalan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di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4975" y="6500621"/>
            <a:ext cx="2446020" cy="55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1270">
              <a:lnSpc>
                <a:spcPct val="145200"/>
              </a:lnSpc>
              <a:spcBef>
                <a:spcPts val="100"/>
              </a:spcBef>
              <a:tabLst>
                <a:tab pos="1054735" algn="l"/>
              </a:tabLst>
            </a:pP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penyunting</a:t>
            </a:r>
            <a:r>
              <a:rPr sz="1100" u="sng" spc="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 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teks</a:t>
            </a:r>
            <a:r>
              <a:rPr sz="1100" spc="4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penyunting</a:t>
            </a:r>
            <a:r>
              <a:rPr sz="1100" u="sng" spc="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 </a:t>
            </a:r>
            <a:r>
              <a:rPr sz="1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kode</a:t>
            </a:r>
            <a:r>
              <a:rPr sz="11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sistem</a:t>
            </a:r>
            <a:r>
              <a:rPr sz="1100" u="sng" spc="2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 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operasi</a:t>
            </a:r>
            <a:r>
              <a:rPr sz="1100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Windows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Notepad++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5595" y="7030529"/>
            <a:ext cx="2566670" cy="55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 marR="5080" indent="-54610">
              <a:lnSpc>
                <a:spcPct val="145100"/>
              </a:lnSpc>
              <a:spcBef>
                <a:spcPts val="100"/>
              </a:spcBef>
              <a:tabLst>
                <a:tab pos="982344" algn="l"/>
              </a:tabLst>
            </a:pP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Scintilla</a:t>
            </a:r>
            <a:r>
              <a:rPr sz="1100" spc="4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berkas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kode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	sumber</a:t>
            </a:r>
            <a:r>
              <a:rPr sz="1100" spc="140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berbagai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bahasa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8717" y="7030529"/>
            <a:ext cx="1633220" cy="82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5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komponen </a:t>
            </a:r>
            <a:r>
              <a:rPr sz="1200" dirty="0">
                <a:latin typeface="Times New Roman"/>
                <a:cs typeface="Times New Roman"/>
              </a:rPr>
              <a:t>menyuntingan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teks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pemrograman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568959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3.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8717" y="490219"/>
            <a:ext cx="4249420" cy="107505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Sublime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Text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editor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terbilang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masih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sangat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mudah </a:t>
            </a:r>
            <a:r>
              <a:rPr sz="1200" dirty="0">
                <a:latin typeface="Times New Roman"/>
                <a:cs typeface="Times New Roman"/>
              </a:rPr>
              <a:t>digunakan,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penampilan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namun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enak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dipandang.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Sublime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text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berbayar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tapi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mendownload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demo-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717" y="1539749"/>
            <a:ext cx="3091180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100"/>
              </a:spcBef>
              <a:tabLst>
                <a:tab pos="368300" algn="l"/>
                <a:tab pos="1149350" algn="l"/>
                <a:tab pos="1583055" algn="l"/>
                <a:tab pos="2059305" algn="l"/>
                <a:tab pos="2424430" algn="l"/>
                <a:tab pos="2865755" algn="l"/>
              </a:tabLst>
            </a:pPr>
            <a:r>
              <a:rPr sz="1200" spc="-25" dirty="0">
                <a:latin typeface="Times New Roman"/>
                <a:cs typeface="Times New Roman"/>
              </a:rPr>
              <a:t>nya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(meskipun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versi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demo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tapi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tidak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ada </a:t>
            </a:r>
            <a:r>
              <a:rPr sz="1200" spc="-10" dirty="0">
                <a:latin typeface="Times New Roman"/>
                <a:cs typeface="Times New Roman"/>
              </a:rPr>
              <a:t>penggunaannya).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20" dirty="0">
                <a:latin typeface="Times New Roman"/>
                <a:cs typeface="Times New Roman"/>
              </a:rPr>
              <a:t>Atom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0296" y="1619631"/>
            <a:ext cx="1019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3095" algn="l"/>
              </a:tabLst>
            </a:pPr>
            <a:r>
              <a:rPr sz="1200" spc="-10" dirty="0">
                <a:latin typeface="Times New Roman"/>
                <a:cs typeface="Times New Roman"/>
              </a:rPr>
              <a:t>batasan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dalam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2146553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8717" y="2328036"/>
            <a:ext cx="425069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100"/>
              </a:spcBef>
            </a:pP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Atom</a:t>
            </a:r>
            <a:r>
              <a:rPr sz="1200" spc="-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adalah teks</a:t>
            </a:r>
            <a:r>
              <a:rPr sz="1200" spc="-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editor</a:t>
            </a:r>
            <a:r>
              <a:rPr sz="1200" spc="-1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gratis dan</a:t>
            </a:r>
            <a:r>
              <a:rPr sz="1200" spc="-1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terbuka</a:t>
            </a:r>
            <a:r>
              <a:rPr sz="120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untuk macOS,</a:t>
            </a:r>
            <a:r>
              <a:rPr sz="1200" spc="-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Linux,</a:t>
            </a:r>
            <a:r>
              <a:rPr sz="1200" spc="-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Times New Roman"/>
                <a:cs typeface="Times New Roman"/>
              </a:rPr>
              <a:t>dan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Microsoft</a:t>
            </a:r>
            <a:r>
              <a:rPr sz="1200" spc="26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Windows</a:t>
            </a:r>
            <a:r>
              <a:rPr sz="1200" spc="2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dengan</a:t>
            </a:r>
            <a:r>
              <a:rPr sz="1200" spc="26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dukungan</a:t>
            </a:r>
            <a:r>
              <a:rPr sz="1200" spc="2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untuk</a:t>
            </a:r>
            <a:r>
              <a:rPr sz="1200" spc="27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imes New Roman"/>
                <a:cs typeface="Times New Roman"/>
              </a:rPr>
              <a:t>plug-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in</a:t>
            </a:r>
            <a:r>
              <a:rPr sz="1200" spc="28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yang</a:t>
            </a:r>
            <a:r>
              <a:rPr sz="1200" spc="2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imes New Roman"/>
                <a:cs typeface="Times New Roman"/>
              </a:rPr>
              <a:t>ditulis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dalam</a:t>
            </a:r>
            <a:r>
              <a:rPr sz="1200" spc="6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Node.js,</a:t>
            </a:r>
            <a:r>
              <a:rPr sz="1200" spc="8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dan</a:t>
            </a:r>
            <a:r>
              <a:rPr sz="1200" spc="8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tertanam</a:t>
            </a:r>
            <a:r>
              <a:rPr sz="1200" spc="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Kontrol</a:t>
            </a:r>
            <a:r>
              <a:rPr sz="1200" spc="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Git,</a:t>
            </a:r>
            <a:r>
              <a:rPr sz="1200" spc="9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yang</a:t>
            </a:r>
            <a:r>
              <a:rPr sz="1200" spc="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020"/>
                </a:solidFill>
                <a:latin typeface="Times New Roman"/>
                <a:cs typeface="Times New Roman"/>
              </a:rPr>
              <a:t>dikembangkan</a:t>
            </a:r>
            <a:r>
              <a:rPr sz="1200" spc="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Times New Roman"/>
                <a:cs typeface="Times New Roman"/>
              </a:rPr>
              <a:t>oleh </a:t>
            </a:r>
            <a:r>
              <a:rPr sz="1200" spc="-10" dirty="0">
                <a:solidFill>
                  <a:srgbClr val="202020"/>
                </a:solidFill>
                <a:latin typeface="Times New Roman"/>
                <a:cs typeface="Times New Roman"/>
              </a:rPr>
              <a:t>GitHub.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1244</Words>
  <Application>Microsoft Office PowerPoint</Application>
  <PresentationFormat>Custom</PresentationFormat>
  <Paragraphs>119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2025-02-18T13:32:15Z</dcterms:created>
  <dcterms:modified xsi:type="dcterms:W3CDTF">2025-02-24T06:57:52Z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LastSaved">
    <vt:filetime>2025-02-18T00:00:00Z</vt:filetime>
  </property>
  <property fmtid="{D5CDD505-2E9C-101B-9397-08002B2CF9AE}" pid="4" name="Producer">
    <vt:lpwstr>iLovePDF</vt:lpwstr>
  </property>
</Properties>
</file>
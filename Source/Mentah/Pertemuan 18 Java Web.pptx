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7556500" cy="10699750"/>
  <p:notesSz cx="7556500" cy="10699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1" d="100"/>
          <a:sy n="51" d="100"/>
        </p:scale>
        <p:origin x="-792" y="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6922"/>
            <a:ext cx="6423025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91860"/>
            <a:ext cx="528955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60942"/>
            <a:ext cx="3287077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60942"/>
            <a:ext cx="3287077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66314" y="1307338"/>
            <a:ext cx="3809365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29080" y="2404617"/>
            <a:ext cx="5309235" cy="4237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50768"/>
            <a:ext cx="2418080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50768"/>
            <a:ext cx="173799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50768"/>
            <a:ext cx="173799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8732" y="1443481"/>
            <a:ext cx="922019" cy="70104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309245">
              <a:lnSpc>
                <a:spcPts val="5435"/>
              </a:lnSpc>
            </a:pPr>
            <a:r>
              <a:rPr sz="4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Objek</a:t>
            </a:r>
            <a:r>
              <a:rPr spc="-120" dirty="0"/>
              <a:t> </a:t>
            </a:r>
            <a:r>
              <a:rPr dirty="0"/>
              <a:t>JavaScript</a:t>
            </a:r>
            <a:r>
              <a:rPr spc="-120" dirty="0"/>
              <a:t> </a:t>
            </a:r>
            <a:r>
              <a:rPr spc="-25" dirty="0"/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1400"/>
              </a:lnSpc>
              <a:spcBef>
                <a:spcPts val="100"/>
              </a:spcBef>
            </a:pPr>
            <a:r>
              <a:rPr dirty="0"/>
              <a:t>6.1</a:t>
            </a:r>
            <a:r>
              <a:rPr spc="-25" dirty="0"/>
              <a:t> </a:t>
            </a:r>
            <a:r>
              <a:rPr dirty="0"/>
              <a:t>Objek</a:t>
            </a:r>
            <a:r>
              <a:rPr spc="-25" dirty="0"/>
              <a:t> </a:t>
            </a:r>
            <a:r>
              <a:rPr dirty="0"/>
              <a:t>Array</a:t>
            </a:r>
            <a:r>
              <a:rPr spc="-20" dirty="0"/>
              <a:t> </a:t>
            </a:r>
            <a:r>
              <a:rPr dirty="0"/>
              <a:t>(Array</a:t>
            </a:r>
            <a:r>
              <a:rPr spc="-15" dirty="0"/>
              <a:t> </a:t>
            </a:r>
            <a:r>
              <a:rPr spc="-10" dirty="0"/>
              <a:t>Object)</a:t>
            </a:r>
          </a:p>
          <a:p>
            <a:pPr marL="12700" marR="7620" algn="just">
              <a:lnSpc>
                <a:spcPts val="1380"/>
              </a:lnSpc>
              <a:spcBef>
                <a:spcPts val="50"/>
              </a:spcBef>
            </a:pPr>
            <a:r>
              <a:rPr b="0" dirty="0">
                <a:latin typeface="Times New Roman"/>
                <a:cs typeface="Times New Roman"/>
              </a:rPr>
              <a:t>Array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adalah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suatu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variable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yang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dapat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memuat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beberapa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nilai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secara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berurutan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b="0" spc="-20" dirty="0">
                <a:latin typeface="Times New Roman"/>
                <a:cs typeface="Times New Roman"/>
              </a:rPr>
              <a:t>atau </a:t>
            </a:r>
            <a:r>
              <a:rPr b="0" dirty="0">
                <a:latin typeface="Times New Roman"/>
                <a:cs typeface="Times New Roman"/>
              </a:rPr>
              <a:t>seri.</a:t>
            </a:r>
            <a:r>
              <a:rPr b="0" spc="2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Artinya</a:t>
            </a:r>
            <a:r>
              <a:rPr b="0" spc="2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variable</a:t>
            </a:r>
            <a:r>
              <a:rPr b="0" spc="2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yang</a:t>
            </a:r>
            <a:r>
              <a:rPr b="0" spc="2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dideklarasikan</a:t>
            </a:r>
            <a:r>
              <a:rPr b="0" spc="2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sebagai</a:t>
            </a:r>
            <a:r>
              <a:rPr b="0" spc="229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array</a:t>
            </a:r>
            <a:r>
              <a:rPr b="0" spc="19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isinya</a:t>
            </a:r>
            <a:r>
              <a:rPr b="0" spc="254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tidak</a:t>
            </a:r>
            <a:r>
              <a:rPr b="0" spc="2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satu.</a:t>
            </a:r>
            <a:r>
              <a:rPr b="0" spc="21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Berikut </a:t>
            </a:r>
            <a:r>
              <a:rPr b="0" dirty="0">
                <a:latin typeface="Times New Roman"/>
                <a:cs typeface="Times New Roman"/>
              </a:rPr>
              <a:t>adalah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pendeklarasian</a:t>
            </a:r>
            <a:r>
              <a:rPr b="0" dirty="0">
                <a:latin typeface="Times New Roman"/>
                <a:cs typeface="Times New Roman"/>
              </a:rPr>
              <a:t> untuk </a:t>
            </a:r>
            <a:r>
              <a:rPr b="0" spc="-10" dirty="0">
                <a:latin typeface="Times New Roman"/>
                <a:cs typeface="Times New Roman"/>
              </a:rPr>
              <a:t>array.</a:t>
            </a:r>
          </a:p>
          <a:p>
            <a:pPr marL="12700" algn="just">
              <a:lnSpc>
                <a:spcPct val="100000"/>
              </a:lnSpc>
              <a:spcBef>
                <a:spcPts val="1285"/>
              </a:spcBef>
            </a:pPr>
            <a:r>
              <a:rPr b="0" dirty="0">
                <a:latin typeface="Times New Roman"/>
                <a:cs typeface="Times New Roman"/>
              </a:rPr>
              <a:t>nama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=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new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Array(3)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b="0" spc="-1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ts val="1380"/>
              </a:lnSpc>
            </a:pPr>
            <a:r>
              <a:rPr b="0" dirty="0">
                <a:latin typeface="Times New Roman"/>
                <a:cs typeface="Times New Roman"/>
              </a:rPr>
              <a:t>Pernyataan</a:t>
            </a:r>
            <a:r>
              <a:rPr b="0" spc="3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diatas</a:t>
            </a:r>
            <a:r>
              <a:rPr b="0" spc="3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menunjukan</a:t>
            </a:r>
            <a:r>
              <a:rPr b="0" spc="3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bahwa</a:t>
            </a:r>
            <a:r>
              <a:rPr b="0" spc="3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variabel</a:t>
            </a:r>
            <a:r>
              <a:rPr b="0" spc="3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nama</a:t>
            </a:r>
            <a:r>
              <a:rPr b="0" spc="3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memiliki</a:t>
            </a:r>
            <a:r>
              <a:rPr b="0" spc="3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3</a:t>
            </a:r>
            <a:r>
              <a:rPr b="0" spc="3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elemen.</a:t>
            </a:r>
            <a:r>
              <a:rPr b="0" spc="33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Ketiga </a:t>
            </a:r>
            <a:r>
              <a:rPr b="0" dirty="0">
                <a:latin typeface="Times New Roman"/>
                <a:cs typeface="Times New Roman"/>
              </a:rPr>
              <a:t>elemen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tersebut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akan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memiliki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nilai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masing-</a:t>
            </a:r>
            <a:r>
              <a:rPr b="0" dirty="0">
                <a:latin typeface="Times New Roman"/>
                <a:cs typeface="Times New Roman"/>
              </a:rPr>
              <a:t>masing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0,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1,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2.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Nilai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pertama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=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0.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Untuk mengisikan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ketiga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elemen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tersebut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kita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dapat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melakukan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dengan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cara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spc="-50" dirty="0">
                <a:latin typeface="Times New Roman"/>
                <a:cs typeface="Times New Roman"/>
              </a:rPr>
              <a:t>:</a:t>
            </a:r>
          </a:p>
          <a:p>
            <a:pPr>
              <a:lnSpc>
                <a:spcPct val="100000"/>
              </a:lnSpc>
            </a:pPr>
            <a:endParaRPr b="0" spc="-50" dirty="0">
              <a:latin typeface="Times New Roman"/>
              <a:cs typeface="Times New Roman"/>
            </a:endParaRPr>
          </a:p>
          <a:p>
            <a:pPr marL="12700" marR="4137660">
              <a:lnSpc>
                <a:spcPts val="1380"/>
              </a:lnSpc>
            </a:pPr>
            <a:r>
              <a:rPr b="0" dirty="0">
                <a:latin typeface="Times New Roman"/>
                <a:cs typeface="Times New Roman"/>
              </a:rPr>
              <a:t>nama[0]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=”Dian” </a:t>
            </a:r>
            <a:r>
              <a:rPr b="0" dirty="0">
                <a:latin typeface="Times New Roman"/>
                <a:cs typeface="Times New Roman"/>
              </a:rPr>
              <a:t>nama[1]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=”Andri” nama[2]=”Irawan”</a:t>
            </a:r>
          </a:p>
          <a:p>
            <a:pPr>
              <a:lnSpc>
                <a:spcPct val="100000"/>
              </a:lnSpc>
            </a:pPr>
            <a:endParaRPr b="0" spc="-10" dirty="0">
              <a:latin typeface="Times New Roman"/>
              <a:cs typeface="Times New Roman"/>
            </a:endParaRPr>
          </a:p>
          <a:p>
            <a:pPr marL="12700" marR="17780">
              <a:lnSpc>
                <a:spcPts val="1380"/>
              </a:lnSpc>
            </a:pPr>
            <a:r>
              <a:rPr b="0" dirty="0">
                <a:latin typeface="Times New Roman"/>
                <a:cs typeface="Times New Roman"/>
              </a:rPr>
              <a:t>Selain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cara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diatas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kita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juga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bisa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mendeklarasikan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array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sekaligus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dengan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mengisikan elemen-elemennya.</a:t>
            </a:r>
          </a:p>
          <a:p>
            <a:pPr marL="12700" marR="2492375">
              <a:lnSpc>
                <a:spcPts val="2750"/>
              </a:lnSpc>
              <a:spcBef>
                <a:spcPts val="295"/>
              </a:spcBef>
            </a:pPr>
            <a:r>
              <a:rPr b="0" dirty="0">
                <a:latin typeface="Times New Roman"/>
                <a:cs typeface="Times New Roman"/>
              </a:rPr>
              <a:t>nama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=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new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Array(”Dian”,”Andri”,”Irawan”) </a:t>
            </a:r>
            <a:r>
              <a:rPr b="0" dirty="0">
                <a:latin typeface="Times New Roman"/>
                <a:cs typeface="Times New Roman"/>
              </a:rPr>
              <a:t>Maka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hasilnya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seperti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dibawah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ini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spc="-50" dirty="0">
                <a:latin typeface="Times New Roman"/>
                <a:cs typeface="Times New Roman"/>
              </a:rPr>
              <a:t>:</a:t>
            </a:r>
          </a:p>
          <a:p>
            <a:pPr marL="12700">
              <a:lnSpc>
                <a:spcPts val="1040"/>
              </a:lnSpc>
            </a:pPr>
            <a:r>
              <a:rPr b="0" dirty="0">
                <a:latin typeface="Times New Roman"/>
                <a:cs typeface="Times New Roman"/>
              </a:rPr>
              <a:t>nama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yang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ke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1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[0]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isinya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adalah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”Dian”</a:t>
            </a:r>
          </a:p>
          <a:p>
            <a:pPr marL="12700" marR="2683510">
              <a:lnSpc>
                <a:spcPts val="1380"/>
              </a:lnSpc>
              <a:spcBef>
                <a:spcPts val="70"/>
              </a:spcBef>
            </a:pPr>
            <a:r>
              <a:rPr b="0" dirty="0">
                <a:latin typeface="Times New Roman"/>
                <a:cs typeface="Times New Roman"/>
              </a:rPr>
              <a:t>nama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yang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ke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2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[1]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isinya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adalah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”Andri” </a:t>
            </a:r>
            <a:r>
              <a:rPr b="0" dirty="0">
                <a:latin typeface="Times New Roman"/>
                <a:cs typeface="Times New Roman"/>
              </a:rPr>
              <a:t>nama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yang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ke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3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[2]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isinya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adalah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”Irawan”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19860" y="6644004"/>
          <a:ext cx="3606165" cy="3047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6165"/>
              </a:tblGrid>
              <a:tr h="168910">
                <a:tc>
                  <a:txBody>
                    <a:bodyPr/>
                    <a:lstStyle/>
                    <a:p>
                      <a:pPr marL="126364">
                        <a:lnSpc>
                          <a:spcPts val="123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Contoh</a:t>
                      </a:r>
                      <a:r>
                        <a:rPr sz="12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JavaScript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B3B3B3"/>
                    </a:solidFill>
                  </a:tcPr>
                </a:tc>
              </a:tr>
              <a:tr h="2878455">
                <a:tc>
                  <a:txBody>
                    <a:bodyPr/>
                    <a:lstStyle/>
                    <a:p>
                      <a:pPr marL="126364">
                        <a:lnSpc>
                          <a:spcPts val="103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&lt;HTML&gt;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3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&lt;HEAD&gt;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3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&lt;TITLE&gt;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LAtihan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Objek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Array&lt;/TITLE&gt;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3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&lt;BODY&gt;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 marR="1199515">
                        <a:lnSpc>
                          <a:spcPts val="1140"/>
                        </a:lnSpc>
                        <a:spcBef>
                          <a:spcPts val="50"/>
                        </a:spcBef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&lt;h3&gt;Latihan</a:t>
                      </a:r>
                      <a:r>
                        <a:rPr sz="10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Objek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Array</a:t>
                      </a:r>
                      <a:r>
                        <a:rPr sz="10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I&lt;/H3&gt;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Nama</a:t>
                      </a:r>
                      <a:r>
                        <a:rPr sz="10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pada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data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ke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adalah</a:t>
                      </a:r>
                      <a:r>
                        <a:rPr sz="1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: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09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&lt;SCRIPT</a:t>
                      </a:r>
                      <a:r>
                        <a:rPr sz="1000" spc="-1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LANGUAGE="JavaScript"&gt;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 marR="137160">
                        <a:lnSpc>
                          <a:spcPts val="1140"/>
                        </a:lnSpc>
                        <a:spcBef>
                          <a:spcPts val="20"/>
                        </a:spcBef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&lt;!-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Memyembunyikan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kode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dari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browser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js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function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cobaarray()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{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202565" marR="195580">
                        <a:lnSpc>
                          <a:spcPts val="1130"/>
                        </a:lnSpc>
                        <a:spcBef>
                          <a:spcPts val="40"/>
                        </a:spcBef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nama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0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new</a:t>
                      </a:r>
                      <a:r>
                        <a:rPr sz="10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Array("Dian","Andri","Irawan"); document.write(nama[2]);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075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6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akhir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dari</a:t>
                      </a:r>
                      <a:r>
                        <a:rPr sz="10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penyembunyian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--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6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&lt;/SCRIPT&gt;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0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&lt;SCRIPT</a:t>
                      </a:r>
                      <a:r>
                        <a:rPr sz="1000" spc="-1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LANGUAGE="JavaScript"&gt;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0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cobaarray();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3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&lt;/SCRIPT&gt;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2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&lt;/BODY&gt;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5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&lt;/HTML&gt;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283460" y="2004059"/>
            <a:ext cx="4343400" cy="0"/>
          </a:xfrm>
          <a:custGeom>
            <a:avLst/>
            <a:gdLst/>
            <a:ahLst/>
            <a:cxnLst/>
            <a:rect l="l" t="t" r="r" b="b"/>
            <a:pathLst>
              <a:path w="4343400">
                <a:moveTo>
                  <a:pt x="0" y="0"/>
                </a:moveTo>
                <a:lnTo>
                  <a:pt x="434339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19860" y="914399"/>
          <a:ext cx="5283200" cy="333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83200"/>
              </a:tblGrid>
              <a:tr h="170180">
                <a:tc>
                  <a:txBody>
                    <a:bodyPr/>
                    <a:lstStyle/>
                    <a:p>
                      <a:pPr marL="126364">
                        <a:lnSpc>
                          <a:spcPts val="1235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Contoh</a:t>
                      </a:r>
                      <a:r>
                        <a:rPr sz="12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JavaScript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B3B3B3"/>
                    </a:solidFill>
                  </a:tcPr>
                </a:tc>
              </a:tr>
              <a:tr h="3165475">
                <a:tc>
                  <a:txBody>
                    <a:bodyPr/>
                    <a:lstStyle/>
                    <a:p>
                      <a:pPr marL="126364">
                        <a:lnSpc>
                          <a:spcPts val="103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&lt;HTML&gt;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6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&lt;HEAD&gt;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6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&lt;TITLE&gt;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LAtihan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Objek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Array&lt;/TITLE&gt;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0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&lt;BODY&gt;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0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&lt;h3&gt;Latihan</a:t>
                      </a:r>
                      <a:r>
                        <a:rPr sz="10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Objek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Array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II&lt;/H3&gt;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3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Pemanggilan</a:t>
                      </a:r>
                      <a:r>
                        <a:rPr sz="1000" spc="-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data</a:t>
                      </a:r>
                      <a:r>
                        <a:rPr sz="10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Array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dengan</a:t>
                      </a:r>
                      <a:r>
                        <a:rPr sz="10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Perintah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Perulangan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For&lt;BR&gt;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3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&lt;SCRIPT</a:t>
                      </a:r>
                      <a:r>
                        <a:rPr sz="1000" spc="-1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LANGUAGE="JavaScript"&gt;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 marR="1814195">
                        <a:lnSpc>
                          <a:spcPts val="1140"/>
                        </a:lnSpc>
                        <a:spcBef>
                          <a:spcPts val="50"/>
                        </a:spcBef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&lt;!-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Memyembunyikan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kode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dari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browser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js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nilai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0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new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Array(3);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20256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nilai[0]="A";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202565">
                        <a:lnSpc>
                          <a:spcPts val="110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nilai[1]="B";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202565" marR="3783329">
                        <a:lnSpc>
                          <a:spcPts val="1190"/>
                        </a:lnSpc>
                        <a:spcBef>
                          <a:spcPts val="10"/>
                        </a:spcBef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nilai[2]="C";</a:t>
                      </a:r>
                      <a:r>
                        <a:rPr sz="1000" spc="5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for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(a=0;a&lt;3;++a)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278765">
                        <a:lnSpc>
                          <a:spcPts val="1035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{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354965">
                        <a:lnSpc>
                          <a:spcPts val="110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document.writeln("&lt;B&gt;Nilai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ke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"+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[a+1]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+"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: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"+nilai[a]+"&lt;BR&gt;");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278765">
                        <a:lnSpc>
                          <a:spcPts val="1135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6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akhir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dari</a:t>
                      </a:r>
                      <a:r>
                        <a:rPr sz="10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penyembunyian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--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6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&lt;/SCRIPT&gt;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0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&lt;SCRIPT</a:t>
                      </a:r>
                      <a:r>
                        <a:rPr sz="1000" spc="-1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LANGUAGE="JavaScript"&gt;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&lt;/SCRIPT&gt;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2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&lt;/BODY&gt;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5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&lt;/HTML&gt;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129080" y="4404486"/>
            <a:ext cx="5296535" cy="1605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6.2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Objek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Tanggal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Date</a:t>
            </a:r>
            <a:r>
              <a:rPr sz="1200" b="1" spc="-10" dirty="0">
                <a:latin typeface="Times New Roman"/>
                <a:cs typeface="Times New Roman"/>
              </a:rPr>
              <a:t> Object)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memanipulasi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tanggal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waktu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JavaScript.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Untuk pendeklarasiannya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200" dirty="0">
                <a:latin typeface="Times New Roman"/>
                <a:cs typeface="Times New Roman"/>
              </a:rPr>
              <a:t>lama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Date()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079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pernyataan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diatas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menyatakan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bahwa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variabel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lama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mengandung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unsur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tanggal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dan </a:t>
            </a:r>
            <a:r>
              <a:rPr sz="1200" spc="-10" dirty="0">
                <a:latin typeface="Times New Roman"/>
                <a:cs typeface="Times New Roman"/>
              </a:rPr>
              <a:t>waktu.</a:t>
            </a:r>
            <a:endParaRPr sz="1200">
              <a:latin typeface="Times New Roman"/>
              <a:cs typeface="Times New Roman"/>
            </a:endParaRPr>
          </a:p>
          <a:p>
            <a:pPr marL="1608455">
              <a:lnSpc>
                <a:spcPts val="1345"/>
              </a:lnSpc>
            </a:pPr>
            <a:r>
              <a:rPr sz="1200" spc="-10" dirty="0">
                <a:latin typeface="Times New Roman"/>
                <a:cs typeface="Times New Roman"/>
              </a:rPr>
              <a:t>Metode-</a:t>
            </a:r>
            <a:r>
              <a:rPr sz="1200" dirty="0">
                <a:latin typeface="Times New Roman"/>
                <a:cs typeface="Times New Roman"/>
              </a:rPr>
              <a:t>metode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Date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37614" y="6008496"/>
          <a:ext cx="4083050" cy="1797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915"/>
                <a:gridCol w="2985135"/>
              </a:tblGrid>
              <a:tr h="180975">
                <a:tc>
                  <a:txBody>
                    <a:bodyPr/>
                    <a:lstStyle/>
                    <a:p>
                      <a:pPr marL="69850">
                        <a:lnSpc>
                          <a:spcPts val="129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Metode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9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Kegunaan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69850">
                        <a:lnSpc>
                          <a:spcPts val="128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getDate()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8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Menghasilkan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tanggal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(integer)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mulai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31.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4965">
                <a:tc>
                  <a:txBody>
                    <a:bodyPr/>
                    <a:lstStyle/>
                    <a:p>
                      <a:pPr marL="69850">
                        <a:lnSpc>
                          <a:spcPts val="135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getDay()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59055">
                        <a:lnSpc>
                          <a:spcPts val="1300"/>
                        </a:lnSpc>
                        <a:spcBef>
                          <a:spcPts val="75"/>
                        </a:spcBef>
                        <a:tabLst>
                          <a:tab pos="1144270" algn="l"/>
                          <a:tab pos="2118360" algn="l"/>
                          <a:tab pos="26765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Menghasilkan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hari(integer)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mulai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6.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Minggu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Senin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1,...............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marL="69850">
                        <a:lnSpc>
                          <a:spcPts val="135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getMonth()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97155">
                        <a:lnSpc>
                          <a:spcPts val="1320"/>
                        </a:lnSpc>
                        <a:spcBef>
                          <a:spcPts val="60"/>
                        </a:spcBef>
                        <a:tabLst>
                          <a:tab pos="116141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Menghasilkan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bulan(integer)</a:t>
                      </a:r>
                      <a:r>
                        <a:rPr sz="1200" spc="2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mulai</a:t>
                      </a:r>
                      <a:r>
                        <a:rPr sz="1200" spc="1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0-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11.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Januari=0,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Feb=1,......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69850">
                        <a:lnSpc>
                          <a:spcPts val="129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getFullYear()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9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Menampilkan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tahun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menjadi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digit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69850">
                        <a:lnSpc>
                          <a:spcPts val="128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getHours()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8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Menghasilkan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jam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mulai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69850">
                        <a:lnSpc>
                          <a:spcPts val="129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getMinutes()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9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Menghasilkan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menit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mulai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59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69850">
                        <a:lnSpc>
                          <a:spcPts val="128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getSeconds()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8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Menghasilkan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detik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mulai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59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68628" y="914399"/>
          <a:ext cx="5426710" cy="5205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26710"/>
              </a:tblGrid>
              <a:tr h="159385">
                <a:tc>
                  <a:txBody>
                    <a:bodyPr/>
                    <a:lstStyle/>
                    <a:p>
                      <a:pPr marL="77470">
                        <a:lnSpc>
                          <a:spcPts val="116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Contoh</a:t>
                      </a:r>
                      <a:r>
                        <a:rPr sz="12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JavaScript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B3B3B3"/>
                    </a:solidFill>
                  </a:tcPr>
                </a:tc>
              </a:tr>
              <a:tr h="5046345">
                <a:tc>
                  <a:txBody>
                    <a:bodyPr/>
                    <a:lstStyle/>
                    <a:p>
                      <a:pPr marL="77470">
                        <a:lnSpc>
                          <a:spcPts val="111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&lt;HTML&gt;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6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&lt;HEAD&gt;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6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&lt;TITLE&gt;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LAtihan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Objek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Date&lt;/TITLE&gt;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0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&lt;BODY</a:t>
                      </a:r>
                      <a:r>
                        <a:rPr sz="1000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bgcolor="lightblue"&gt;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0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&lt;h3</a:t>
                      </a:r>
                      <a:r>
                        <a:rPr sz="10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align="center"&gt;Latihan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Objek</a:t>
                      </a:r>
                      <a:r>
                        <a:rPr sz="10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Date/Tanggal&lt;/H3&gt;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3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&lt;SCRIPT</a:t>
                      </a:r>
                      <a:r>
                        <a:rPr sz="1000" spc="-1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LANGUAGE="JavaScript"&gt;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6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&lt;!-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Memyembunyikan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kode</a:t>
                      </a:r>
                      <a:r>
                        <a:rPr sz="10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dari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browser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js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6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hari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new</a:t>
                      </a:r>
                      <a:r>
                        <a:rPr sz="10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Array("Senin","Selasa","Rabu","Kamis",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677670">
                        <a:lnSpc>
                          <a:spcPts val="110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"Jumat","Sabtu","Minggu");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0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bulan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new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Array("Januari","Februari","Maret","April",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753870" marR="262890">
                        <a:lnSpc>
                          <a:spcPts val="1140"/>
                        </a:lnSpc>
                        <a:spcBef>
                          <a:spcPts val="50"/>
                        </a:spcBef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"Mei","Juni","Juli","Agustus", "September","Oktober","November","Desember");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0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new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Date();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 marR="2915920">
                        <a:lnSpc>
                          <a:spcPts val="1130"/>
                        </a:lnSpc>
                        <a:spcBef>
                          <a:spcPts val="35"/>
                        </a:spcBef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hari_ini=hari[t.getDay()-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1];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tanggal=t.getDate();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 marR="2764155">
                        <a:lnSpc>
                          <a:spcPts val="1130"/>
                        </a:lnSpc>
                        <a:spcBef>
                          <a:spcPts val="10"/>
                        </a:spcBef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1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bulan_ini=bulan[t.getMonth()];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tahun=t.getYear();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 marR="3370579">
                        <a:lnSpc>
                          <a:spcPct val="92000"/>
                        </a:lnSpc>
                        <a:spcBef>
                          <a:spcPts val="60"/>
                        </a:spcBef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jam</a:t>
                      </a:r>
                      <a:r>
                        <a:rPr sz="10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=t.getHours();</a:t>
                      </a:r>
                      <a:r>
                        <a:rPr sz="1000" spc="5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menit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=t.getMinutes();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detik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=t.getSeconds();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 marR="109855">
                        <a:lnSpc>
                          <a:spcPts val="1140"/>
                        </a:lnSpc>
                        <a:spcBef>
                          <a:spcPts val="15"/>
                        </a:spcBef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document.write("&lt;font</a:t>
                      </a:r>
                      <a:r>
                        <a:rPr sz="1000" spc="-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size=5</a:t>
                      </a:r>
                      <a:r>
                        <a:rPr sz="10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face=arial&gt;"); document.write("&lt;b&gt;&lt;center&gt;Sekarang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adalah</a:t>
                      </a:r>
                      <a:r>
                        <a:rPr sz="10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hari</a:t>
                      </a:r>
                      <a:r>
                        <a:rPr sz="10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:"+hari_ini+",tanggal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07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: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"+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tanggal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+"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"+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bulan_ini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+"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+tahun);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 marR="2082164">
                        <a:lnSpc>
                          <a:spcPts val="1130"/>
                        </a:lnSpc>
                        <a:spcBef>
                          <a:spcPts val="65"/>
                        </a:spcBef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document.write("&lt;hr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width=700&gt;"); document.write("&lt;/font&gt;"); document.write("&lt;font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size=3</a:t>
                      </a:r>
                      <a:r>
                        <a:rPr sz="10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face=arial&gt;");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 marR="1248410">
                        <a:lnSpc>
                          <a:spcPts val="113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document.write("&lt;b&gt;&lt;center&gt;Jam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sekarang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"+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jam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+":"+ menit+":"+detik);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0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document.write("&lt;/font&gt;");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0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akhir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dari</a:t>
                      </a:r>
                      <a:r>
                        <a:rPr sz="10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penyembunyian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--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3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&lt;/SCRIPT&gt;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6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&lt;SCRIPT</a:t>
                      </a:r>
                      <a:r>
                        <a:rPr sz="1000" spc="-1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LANGUAGE="JavaScript"&gt;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6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&lt;/SCRIPT&gt;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09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&lt;/BODY&gt;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2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&lt;/HTML&gt;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129080" y="8844533"/>
            <a:ext cx="4996180" cy="906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05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6.3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Objek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Math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60"/>
              </a:spcBef>
            </a:pPr>
            <a:r>
              <a:rPr sz="1200" dirty="0">
                <a:latin typeface="Times New Roman"/>
                <a:cs typeface="Times New Roman"/>
              </a:rPr>
              <a:t>Math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menangani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perhitungan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matematis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rumit.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Bentuk </a:t>
            </a:r>
            <a:r>
              <a:rPr sz="1200" dirty="0">
                <a:latin typeface="Times New Roman"/>
                <a:cs typeface="Times New Roman"/>
              </a:rPr>
              <a:t>penulisan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1200" spc="-10" dirty="0">
                <a:latin typeface="Times New Roman"/>
                <a:cs typeface="Times New Roman"/>
              </a:rPr>
              <a:t>Math.metode(nilai)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1094" y="6274434"/>
            <a:ext cx="5277611" cy="22313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41447" y="1060450"/>
            <a:ext cx="16802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Metode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Math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61997" y="1265173"/>
          <a:ext cx="4032883" cy="3075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5194"/>
                <a:gridCol w="3107689"/>
              </a:tblGrid>
              <a:tr h="180975">
                <a:tc>
                  <a:txBody>
                    <a:bodyPr/>
                    <a:lstStyle/>
                    <a:p>
                      <a:pPr marL="71120">
                        <a:lnSpc>
                          <a:spcPts val="128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Metode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8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Keterangan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71120">
                        <a:lnSpc>
                          <a:spcPts val="129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abs(a)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9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absolut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71120">
                        <a:lnSpc>
                          <a:spcPts val="128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acos(a)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8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kosinus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71120">
                        <a:lnSpc>
                          <a:spcPts val="128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asin(a)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8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sinus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71120">
                        <a:lnSpc>
                          <a:spcPts val="131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atan(a)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1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tan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71120">
                        <a:lnSpc>
                          <a:spcPts val="128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ceil(a)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8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Membulatkan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integer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diatasnya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71120">
                        <a:lnSpc>
                          <a:spcPts val="128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cos(a)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8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kosinus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71120">
                        <a:lnSpc>
                          <a:spcPts val="128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exp(a)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8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pangkat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71120">
                        <a:lnSpc>
                          <a:spcPts val="129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log(a)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9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logaritma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71120">
                        <a:lnSpc>
                          <a:spcPts val="128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max(a,d)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8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terbesar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71120">
                        <a:lnSpc>
                          <a:spcPts val="128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min(a,d)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8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terkecil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71120">
                        <a:lnSpc>
                          <a:spcPts val="131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pow(a,d)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1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pangkat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71120">
                        <a:lnSpc>
                          <a:spcPts val="128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random(a)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8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acak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antara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71120">
                        <a:lnSpc>
                          <a:spcPts val="129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round(a)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9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Membulatkan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integer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terdekat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71120">
                        <a:lnSpc>
                          <a:spcPts val="129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sqrt(a)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9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akar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kuadrat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71120">
                        <a:lnSpc>
                          <a:spcPts val="128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sin(a)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8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sinus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71120">
                        <a:lnSpc>
                          <a:spcPts val="129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tan(a)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9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tangen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19860" y="4533010"/>
          <a:ext cx="5283200" cy="3622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83200"/>
              </a:tblGrid>
              <a:tr h="170180">
                <a:tc>
                  <a:txBody>
                    <a:bodyPr/>
                    <a:lstStyle/>
                    <a:p>
                      <a:pPr marL="126364">
                        <a:lnSpc>
                          <a:spcPts val="1235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Contoh</a:t>
                      </a:r>
                      <a:r>
                        <a:rPr sz="12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JavaScript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B3B3B3"/>
                    </a:solidFill>
                  </a:tcPr>
                </a:tc>
              </a:tr>
              <a:tr h="3451860">
                <a:tc>
                  <a:txBody>
                    <a:bodyPr/>
                    <a:lstStyle/>
                    <a:p>
                      <a:pPr marL="126364">
                        <a:lnSpc>
                          <a:spcPts val="109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&lt;HTML&gt;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&lt;HEAD&gt;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0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&lt;TITLE&gt;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LAtihan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Objek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Math&gt;&lt;/TITLE&gt;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3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&lt;BODY&gt;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7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&lt;h3&gt;Latihan</a:t>
                      </a:r>
                      <a:r>
                        <a:rPr sz="10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Dengan</a:t>
                      </a:r>
                      <a:r>
                        <a:rPr sz="10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Objek</a:t>
                      </a:r>
                      <a:r>
                        <a:rPr sz="10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Math&lt;/h3&gt;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3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&lt;SCRIPT</a:t>
                      </a:r>
                      <a:r>
                        <a:rPr sz="1000" spc="-1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LANGUAGE="JavaScript"&gt;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 marR="4398010">
                        <a:lnSpc>
                          <a:spcPct val="9450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&lt;!-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0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Begin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a=10;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b=5;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09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besar=Math.max(a,b);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 marR="902335">
                        <a:lnSpc>
                          <a:spcPts val="1140"/>
                        </a:lnSpc>
                        <a:spcBef>
                          <a:spcPts val="50"/>
                        </a:spcBef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document.write("antara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0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0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dan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"+</a:t>
                      </a:r>
                      <a:r>
                        <a:rPr sz="1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b</a:t>
                      </a:r>
                      <a:r>
                        <a:rPr sz="10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+"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lebih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 besar "+besar+"&lt;br&gt;");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0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pangkat=Math.pow(b,a);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 marR="525145">
                        <a:lnSpc>
                          <a:spcPts val="1130"/>
                        </a:lnSpc>
                        <a:spcBef>
                          <a:spcPts val="30"/>
                        </a:spcBef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document.write(b+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0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pangkat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"+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0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+"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adalah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"+pangkat+"&lt;br&gt;");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ran;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0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ran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Math.round(Math.random()*50000);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 marR="146050">
                        <a:lnSpc>
                          <a:spcPts val="1130"/>
                        </a:lnSpc>
                        <a:spcBef>
                          <a:spcPts val="30"/>
                        </a:spcBef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document.write("Anda</a:t>
                      </a:r>
                      <a:r>
                        <a:rPr sz="10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adalah</a:t>
                      </a:r>
                      <a:r>
                        <a:rPr sz="10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pengunjung</a:t>
                      </a:r>
                      <a:r>
                        <a:rPr sz="10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yang</a:t>
                      </a:r>
                      <a:r>
                        <a:rPr sz="10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ke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0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ran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0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".&lt;br&gt;");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akar;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07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akar</a:t>
                      </a:r>
                      <a:r>
                        <a:rPr sz="1000" spc="-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=Math.sqrt(ran);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6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document.write</a:t>
                      </a:r>
                      <a:r>
                        <a:rPr sz="10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("Akar</a:t>
                      </a:r>
                      <a:r>
                        <a:rPr sz="10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dari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0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ran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adalah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"+akar);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6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End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--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&lt;/SCRIPT&gt;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08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&lt;/BODY&gt;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5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&lt;/HTML&gt;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6380" y="3997578"/>
            <a:ext cx="5332730" cy="143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algn="just">
              <a:lnSpc>
                <a:spcPts val="14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Latihan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481965" marR="17780" indent="-228600" algn="just">
              <a:lnSpc>
                <a:spcPts val="1380"/>
              </a:lnSpc>
              <a:spcBef>
                <a:spcPts val="55"/>
              </a:spcBef>
              <a:buAutoNum type="arabicPeriod"/>
              <a:tabLst>
                <a:tab pos="481965" algn="l"/>
              </a:tabLst>
            </a:pPr>
            <a:r>
              <a:rPr sz="1200" dirty="0">
                <a:latin typeface="Times New Roman"/>
                <a:cs typeface="Times New Roman"/>
              </a:rPr>
              <a:t>Buatlah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javascript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memunculkan</a:t>
            </a:r>
            <a:r>
              <a:rPr sz="1200" spc="29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alert/marquee </a:t>
            </a:r>
            <a:r>
              <a:rPr sz="1200" dirty="0">
                <a:latin typeface="Times New Roman"/>
                <a:cs typeface="Times New Roman"/>
              </a:rPr>
              <a:t>Selamat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Pagi,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Selamat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Siang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Selamat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Malam.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Sesuai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waktu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tertera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komputer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!!!!!</a:t>
            </a:r>
            <a:endParaRPr sz="1200">
              <a:latin typeface="Times New Roman"/>
              <a:cs typeface="Times New Roman"/>
            </a:endParaRPr>
          </a:p>
          <a:p>
            <a:pPr marL="405765" marR="454659" indent="-152400">
              <a:lnSpc>
                <a:spcPts val="1380"/>
              </a:lnSpc>
              <a:spcBef>
                <a:spcPts val="1365"/>
              </a:spcBef>
              <a:buAutoNum type="arabicPeriod"/>
              <a:tabLst>
                <a:tab pos="481965" algn="l"/>
              </a:tabLst>
            </a:pPr>
            <a:r>
              <a:rPr sz="1200" dirty="0">
                <a:latin typeface="Times New Roman"/>
                <a:cs typeface="Times New Roman"/>
              </a:rPr>
              <a:t>Buat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10" dirty="0">
                <a:latin typeface="Times New Roman"/>
                <a:cs typeface="Times New Roman"/>
              </a:rPr>
              <a:t> menghitung/mencari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akar-</a:t>
            </a:r>
            <a:r>
              <a:rPr sz="1200" dirty="0">
                <a:latin typeface="Times New Roman"/>
                <a:cs typeface="Times New Roman"/>
              </a:rPr>
              <a:t>akar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persamaan 	</a:t>
            </a:r>
            <a:r>
              <a:rPr sz="1200" dirty="0">
                <a:latin typeface="Times New Roman"/>
                <a:cs typeface="Times New Roman"/>
              </a:rPr>
              <a:t>F(x)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ax</a:t>
            </a:r>
            <a:r>
              <a:rPr sz="1200" spc="-15" baseline="38194" dirty="0">
                <a:latin typeface="Times New Roman"/>
                <a:cs typeface="Times New Roman"/>
              </a:rPr>
              <a:t>2</a:t>
            </a:r>
            <a:r>
              <a:rPr sz="1200" spc="-10" dirty="0">
                <a:latin typeface="Times New Roman"/>
                <a:cs typeface="Times New Roman"/>
              </a:rPr>
              <a:t>+bx+c</a:t>
            </a:r>
            <a:endParaRPr sz="1200">
              <a:latin typeface="Times New Roman"/>
              <a:cs typeface="Times New Roman"/>
            </a:endParaRPr>
          </a:p>
          <a:p>
            <a:pPr marL="481965">
              <a:lnSpc>
                <a:spcPts val="1345"/>
              </a:lnSpc>
            </a:pPr>
            <a:r>
              <a:rPr sz="1200" dirty="0">
                <a:latin typeface="Times New Roman"/>
                <a:cs typeface="Times New Roman"/>
              </a:rPr>
              <a:t>Rumus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mencari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x1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x2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4605" y="914399"/>
            <a:ext cx="4991100" cy="2933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979</Words>
  <Application>Microsoft Office PowerPoint</Application>
  <PresentationFormat>Custom</PresentationFormat>
  <Paragraphs>164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Objek JavaScript (2)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Objek JavaScript (2)</dc:title>
  <dc:creator>Pramadjaya</dc:creator>
  <cp:lastModifiedBy>Pramadjaya</cp:lastModifiedBy>
  <cp:revision>1</cp:revision>
  <dcterms:created xsi:type="dcterms:W3CDTF">2025-02-24T07:27:05Z</dcterms:created>
  <dcterms:modified xsi:type="dcterms:W3CDTF">2025-02-24T07:27:39Z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2022-11-28T00:00:00Z</vt:filetime>
  </property>
  <property fmtid="{D5CDD505-2E9C-101B-9397-08002B2CF9AE}" pid="3" name="Creator">
    <vt:lpwstr>Microsoft® Word 2010</vt:lpwstr>
  </property>
  <property fmtid="{D5CDD505-2E9C-101B-9397-08002B2CF9AE}" pid="4" name="LastSaved">
    <vt:filetime>2025-02-24T00:00:00Z</vt:filetime>
  </property>
  <property fmtid="{D5CDD505-2E9C-101B-9397-08002B2CF9AE}" pid="5" name="Producer">
    <vt:lpwstr>Microsoft® Word 2010</vt:lpwstr>
  </property>
</Properties>
</file>
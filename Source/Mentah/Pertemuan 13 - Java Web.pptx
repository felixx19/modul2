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1" d="100"/>
          <a:sy n="51" d="100"/>
        </p:scale>
        <p:origin x="-792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6695" y="1509141"/>
            <a:ext cx="380619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8077" y="2609215"/>
            <a:ext cx="5310505" cy="62638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857" y="1656397"/>
            <a:ext cx="940435" cy="70167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309880">
              <a:lnSpc>
                <a:spcPts val="5365"/>
              </a:lnSpc>
            </a:pPr>
            <a:r>
              <a:rPr sz="4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Objek</a:t>
            </a:r>
            <a:r>
              <a:rPr spc="-120" dirty="0"/>
              <a:t> </a:t>
            </a:r>
            <a:r>
              <a:rPr dirty="0"/>
              <a:t>JavaScript</a:t>
            </a:r>
            <a:r>
              <a:rPr spc="-110" dirty="0"/>
              <a:t> </a:t>
            </a:r>
            <a:r>
              <a:rPr spc="-25" dirty="0"/>
              <a:t>(1)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8077" y="2609215"/>
            <a:ext cx="5310505" cy="2306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4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7.1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Objek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String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  <a:spcBef>
                <a:spcPts val="55"/>
              </a:spcBef>
            </a:pP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kumpulan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elemen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karakter-karakter.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Javascript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karakter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harus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diapit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tanda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petik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ganda(“)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atau </a:t>
            </a:r>
            <a:r>
              <a:rPr sz="1200" dirty="0">
                <a:latin typeface="Times New Roman"/>
                <a:cs typeface="Times New Roman"/>
              </a:rPr>
              <a:t>tanda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petik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tunggal(„).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45"/>
              </a:lnSpc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pendeklarasian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400"/>
              </a:lnSpc>
              <a:spcBef>
                <a:spcPts val="1320"/>
              </a:spcBef>
            </a:pP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“Shafana</a:t>
            </a:r>
            <a:r>
              <a:rPr sz="1200" spc="-10" dirty="0">
                <a:latin typeface="Times New Roman"/>
                <a:cs typeface="Times New Roman"/>
              </a:rPr>
              <a:t> Vevica”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Panjang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Nama,length; </a:t>
            </a:r>
            <a:r>
              <a:rPr sz="1200" dirty="0">
                <a:latin typeface="Times New Roman"/>
                <a:cs typeface="Times New Roman"/>
              </a:rPr>
              <a:t>//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Panjang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berisi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524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Length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property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sering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digunakan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mengetahui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banyaknya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karakter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suatu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string.</a:t>
            </a:r>
            <a:endParaRPr sz="1200">
              <a:latin typeface="Times New Roman"/>
              <a:cs typeface="Times New Roman"/>
            </a:endParaRPr>
          </a:p>
          <a:p>
            <a:pPr marL="12700" marR="1651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juga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memiliki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memanipulasi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string </a:t>
            </a:r>
            <a:r>
              <a:rPr sz="1200" dirty="0">
                <a:latin typeface="Times New Roman"/>
                <a:cs typeface="Times New Roman"/>
              </a:rPr>
              <a:t>tersebut.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Adapun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meliputi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86535" y="4913248"/>
          <a:ext cx="4589145" cy="3959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3175"/>
                <a:gridCol w="3315970"/>
              </a:tblGrid>
              <a:tr h="182880">
                <a:tc>
                  <a:txBody>
                    <a:bodyPr/>
                    <a:lstStyle/>
                    <a:p>
                      <a:pPr marL="70485">
                        <a:lnSpc>
                          <a:spcPts val="132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Fungsi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big()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Tercetak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lebih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besar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blink()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Efek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berkedip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aktif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pada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browerNetscape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bold()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Tercetak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tebal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70485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charAt(n)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71120">
                        <a:lnSpc>
                          <a:spcPts val="1300"/>
                        </a:lnSpc>
                        <a:spcBef>
                          <a:spcPts val="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Mengambil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karakter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–n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string.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Index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dimulai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fixed()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Tercetak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fixed-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pitch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fontcolor(„warna‟)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Tercetak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sesuai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warna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yang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didefinisikan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indexOf(„char‟)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Mengambil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indeks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suatu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karakter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italic()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Tercetak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link(„url‟)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Menjadikan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hyperlink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small()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Tercetak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lebih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kecil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strike()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Tercetak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dengan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coretan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sub()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Tercetak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subscript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substring(a,b)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Mengambil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karakter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posisi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sampai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b-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sup()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Tercetak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superscript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0485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toLowerCase()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Tercetak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huruf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kecil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toUpperCase()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Tercetak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huruf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besar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marL="70485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split(„‟)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algn="just">
                        <a:lnSpc>
                          <a:spcPts val="1310"/>
                        </a:lnSpc>
                        <a:tabLst>
                          <a:tab pos="1211580" algn="l"/>
                          <a:tab pos="196850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Menjadikan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diuraikan/dipisahkan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 marR="57785" algn="just">
                        <a:lnSpc>
                          <a:spcPct val="944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berdasarkan</a:t>
                      </a:r>
                      <a:r>
                        <a:rPr sz="12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tanda</a:t>
                      </a:r>
                      <a:r>
                        <a:rPr sz="12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(„‟).</a:t>
                      </a:r>
                      <a:r>
                        <a:rPr sz="1200" spc="16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Hasil</a:t>
                      </a:r>
                      <a:r>
                        <a:rPr sz="12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dari</a:t>
                      </a:r>
                      <a:r>
                        <a:rPr sz="1200" spc="16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12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akan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dihasilkan</a:t>
                      </a:r>
                      <a:r>
                        <a:rPr sz="12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sebuah</a:t>
                      </a:r>
                      <a:r>
                        <a:rPr sz="12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array</a:t>
                      </a:r>
                      <a:r>
                        <a:rPr sz="12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dengan</a:t>
                      </a:r>
                      <a:r>
                        <a:rPr sz="12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indeks</a:t>
                      </a:r>
                      <a:r>
                        <a:rPr sz="1200" spc="3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200" spc="3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untuk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seterusnya.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064577" y="9232201"/>
            <a:ext cx="5427345" cy="180975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5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8077" y="9384982"/>
            <a:ext cx="197929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dirty="0">
                <a:latin typeface="Courier New"/>
                <a:cs typeface="Courier New"/>
              </a:rPr>
              <a:t>&lt;BODY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BGCOLOR="lightblue"&gt;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83460" y="2207895"/>
            <a:ext cx="4343400" cy="0"/>
          </a:xfrm>
          <a:custGeom>
            <a:avLst/>
            <a:gdLst/>
            <a:ahLst/>
            <a:cxnLst/>
            <a:rect l="l" t="t" r="r" b="b"/>
            <a:pathLst>
              <a:path w="4343400">
                <a:moveTo>
                  <a:pt x="0" y="0"/>
                </a:moveTo>
                <a:lnTo>
                  <a:pt x="43433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5604" y="5692724"/>
            <a:ext cx="4196080" cy="39814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28077" y="884173"/>
            <a:ext cx="5168265" cy="463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&lt;H3&gt;Latihan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String&lt;/H3&gt;</a:t>
            </a:r>
            <a:endParaRPr sz="1000">
              <a:latin typeface="Courier New"/>
              <a:cs typeface="Courier New"/>
            </a:endParaRPr>
          </a:p>
          <a:p>
            <a:pPr marL="12700" marR="2523490">
              <a:lnSpc>
                <a:spcPct val="94300"/>
              </a:lnSpc>
              <a:spcBef>
                <a:spcPts val="35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</a:t>
            </a:r>
            <a:r>
              <a:rPr sz="1000" spc="5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="Shafana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Vevica"; panjang=nama.length; n=nama.substring(1,4); besar=nama.toUpperCase() </a:t>
            </a:r>
            <a:r>
              <a:rPr sz="1000" spc="-20" dirty="0">
                <a:latin typeface="Courier New"/>
                <a:cs typeface="Courier New"/>
              </a:rPr>
              <a:t>namakulink=nama.link('shafa.html');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0"/>
              </a:lnSpc>
            </a:pPr>
            <a:r>
              <a:rPr sz="1000" dirty="0">
                <a:latin typeface="Courier New"/>
                <a:cs typeface="Courier New"/>
              </a:rPr>
              <a:t>document.writeln('Namaku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adalah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  <a:spcBef>
                <a:spcPts val="5"/>
              </a:spcBef>
            </a:pPr>
            <a:r>
              <a:rPr sz="1000" spc="-10" dirty="0">
                <a:latin typeface="Courier New"/>
                <a:cs typeface="Courier New"/>
              </a:rPr>
              <a:t>document.writeln('Panjang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namaku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adalah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panjang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karakter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&lt;BR&gt;');</a:t>
            </a:r>
            <a:endParaRPr sz="1000">
              <a:latin typeface="Courier New"/>
              <a:cs typeface="Courier New"/>
            </a:endParaRPr>
          </a:p>
          <a:p>
            <a:pPr marL="12700" marR="523240">
              <a:lnSpc>
                <a:spcPct val="94400"/>
              </a:lnSpc>
              <a:spcBef>
                <a:spcPts val="25"/>
              </a:spcBef>
            </a:pP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BIG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nama.big()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</a:t>
            </a: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SMALL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nama.small()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</a:t>
            </a: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SUB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nama.sub()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</a:t>
            </a: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SUP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nama.sup()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</a:t>
            </a: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BOLD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nama.bold()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</a:t>
            </a: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ITALIC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9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nama.italics()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document.writeln('method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FONTCOLOR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nama.fontcolor('red')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+'&lt;BR&gt;');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ct val="94300"/>
              </a:lnSpc>
              <a:spcBef>
                <a:spcPts val="10"/>
              </a:spcBef>
              <a:tabLst>
                <a:tab pos="4469130" algn="l"/>
              </a:tabLst>
            </a:pP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9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LOWERCASE</a:t>
            </a:r>
            <a:r>
              <a:rPr sz="1000" spc="-9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9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'+nama.toLowerCase()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+'&lt;BR&gt;'); </a:t>
            </a: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UPPERCASE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besar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</a:t>
            </a: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SUBSTRING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</a:t>
            </a: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STRIKE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nama.strike()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</a:t>
            </a: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CharAT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nama.charAt(3)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</a:t>
            </a:r>
            <a:r>
              <a:rPr sz="1000" dirty="0">
                <a:latin typeface="Courier New"/>
                <a:cs typeface="Courier New"/>
              </a:rPr>
              <a:t>document.writeln('method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Link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namakulink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</a:t>
            </a:r>
            <a:r>
              <a:rPr sz="1000" dirty="0">
                <a:latin typeface="Courier New"/>
                <a:cs typeface="Courier New"/>
              </a:rPr>
              <a:t>document.writeln('Index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Huruf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nama.indexOf("c")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 awal=nama.indexOf('V');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akhir=nama.length;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document.writeln('Kata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Yang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Tersisa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nama.substring(awal,akhir)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+'&lt;BR&gt;');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8077" y="1064641"/>
            <a:ext cx="5276850" cy="72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7.2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Objek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Document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6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mengakses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informasi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mengenai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dokumen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HTML,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tampilan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memanipulasinya.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50"/>
              </a:lnSpc>
            </a:pPr>
            <a:r>
              <a:rPr sz="1200" dirty="0">
                <a:latin typeface="Times New Roman"/>
                <a:cs typeface="Times New Roman"/>
              </a:rPr>
              <a:t>Property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document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meliputi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86535" y="1791080"/>
          <a:ext cx="4586605" cy="2338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9695"/>
                <a:gridCol w="3216910"/>
              </a:tblGrid>
              <a:tr h="179705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Property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Fungsi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bgColor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Memberikan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warna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latar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belakang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fgColor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Memberikan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warna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foreground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atau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warna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huruf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70485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link[]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79375">
                        <a:lnSpc>
                          <a:spcPts val="1300"/>
                        </a:lnSpc>
                        <a:spcBef>
                          <a:spcPts val="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Mengakses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objek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anchor/link(dapat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digunakan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nama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anchor/link)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linkColor=warna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Memberikan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warna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link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alinkColor=warna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Memberikan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warna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pada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link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vlinkColor=warna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Memberikan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warna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pada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link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title=judul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window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Memberikan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judul/title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window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7048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image[]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69850">
                        <a:lnSpc>
                          <a:spcPts val="1300"/>
                        </a:lnSpc>
                        <a:spcBef>
                          <a:spcPts val="10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Mengakses</a:t>
                      </a:r>
                      <a:r>
                        <a:rPr sz="1200" spc="3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objek</a:t>
                      </a:r>
                      <a:r>
                        <a:rPr sz="1200" spc="3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image(dapat</a:t>
                      </a:r>
                      <a:r>
                        <a:rPr sz="1200" spc="3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digunakan</a:t>
                      </a:r>
                      <a:r>
                        <a:rPr sz="1200" spc="3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nama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objek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anchor/link)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70485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forms[]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85090">
                        <a:lnSpc>
                          <a:spcPts val="1300"/>
                        </a:lnSpc>
                        <a:spcBef>
                          <a:spcPts val="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Mengakses</a:t>
                      </a:r>
                      <a:r>
                        <a:rPr sz="1200" spc="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objek</a:t>
                      </a:r>
                      <a:r>
                        <a:rPr sz="1200" spc="4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form(dapat</a:t>
                      </a:r>
                      <a:r>
                        <a:rPr sz="1200" spc="4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digunakan</a:t>
                      </a:r>
                      <a:r>
                        <a:rPr sz="1200" spc="43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nama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objek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form)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28077" y="4110609"/>
            <a:ext cx="2418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document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meliputi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86535" y="4313935"/>
          <a:ext cx="4586605" cy="1080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9695"/>
                <a:gridCol w="3216910"/>
              </a:tblGrid>
              <a:tr h="182880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2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Fungsi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open()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Menciptakan/membuka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document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HTML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70485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close()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Mengakhiri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document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HTML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0485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write(output)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2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Memberikan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browser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70485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writeln(output)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 marR="67310">
                        <a:lnSpc>
                          <a:spcPts val="1280"/>
                        </a:lnSpc>
                        <a:spcBef>
                          <a:spcPts val="95"/>
                        </a:spcBef>
                        <a:tabLst>
                          <a:tab pos="1056640" algn="l"/>
                          <a:tab pos="1656080" algn="l"/>
                          <a:tab pos="2009139" algn="l"/>
                          <a:tab pos="271081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Memberikan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browser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dengan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menyertakan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perpindahan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baris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28077" y="5548629"/>
            <a:ext cx="4634230" cy="182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Khusus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output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browser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beberapa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perlu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diperhatikan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40"/>
              </a:spcBef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Diisi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string(“)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(„)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40"/>
              </a:spcBef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diberikan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HTML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Dapat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menampilkan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isi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1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Terdapat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karakter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spesial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927100">
              <a:lnSpc>
                <a:spcPts val="1370"/>
              </a:lnSpc>
            </a:pPr>
            <a:r>
              <a:rPr sz="1200" dirty="0">
                <a:latin typeface="Times New Roman"/>
                <a:cs typeface="Times New Roman"/>
              </a:rPr>
              <a:t>\b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0" dirty="0">
                <a:latin typeface="Times New Roman"/>
                <a:cs typeface="Times New Roman"/>
              </a:rPr>
              <a:t> backspace</a:t>
            </a:r>
            <a:endParaRPr sz="1200">
              <a:latin typeface="Times New Roman"/>
              <a:cs typeface="Times New Roman"/>
            </a:endParaRPr>
          </a:p>
          <a:p>
            <a:pPr marL="927100">
              <a:lnSpc>
                <a:spcPts val="1370"/>
              </a:lnSpc>
            </a:pPr>
            <a:r>
              <a:rPr sz="1200" dirty="0">
                <a:latin typeface="Times New Roman"/>
                <a:cs typeface="Times New Roman"/>
              </a:rPr>
              <a:t>\f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0" dirty="0">
                <a:latin typeface="Times New Roman"/>
                <a:cs typeface="Times New Roman"/>
              </a:rPr>
              <a:t> feed</a:t>
            </a:r>
            <a:endParaRPr sz="1200">
              <a:latin typeface="Times New Roman"/>
              <a:cs typeface="Times New Roman"/>
            </a:endParaRPr>
          </a:p>
          <a:p>
            <a:pPr marL="9271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\n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baru</a:t>
            </a:r>
            <a:endParaRPr sz="1200">
              <a:latin typeface="Times New Roman"/>
              <a:cs typeface="Times New Roman"/>
            </a:endParaRPr>
          </a:p>
          <a:p>
            <a:pPr marL="9271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\r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carriage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return</a:t>
            </a:r>
            <a:endParaRPr sz="1200">
              <a:latin typeface="Times New Roman"/>
              <a:cs typeface="Times New Roman"/>
            </a:endParaRPr>
          </a:p>
          <a:p>
            <a:pPr marL="9271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\t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tab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577" y="7542783"/>
            <a:ext cx="542734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8077" y="7695565"/>
            <a:ext cx="4650105" cy="204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&lt;H3&gt;Latihan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Document&lt;/H3&gt;&lt;hr&gt;</a:t>
            </a: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120"/>
              </a:lnSpc>
              <a:spcBef>
                <a:spcPts val="70"/>
              </a:spcBef>
            </a:pP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perintah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ini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maka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teks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dalam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dokumen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ini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akan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berwarna putih&lt;BR&gt;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85"/>
              </a:lnSpc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</a:t>
            </a:r>
            <a:endParaRPr sz="1000">
              <a:latin typeface="Courier New"/>
              <a:cs typeface="Courier New"/>
            </a:endParaRPr>
          </a:p>
          <a:p>
            <a:pPr marL="12700" marR="2754630">
              <a:lnSpc>
                <a:spcPct val="94200"/>
              </a:lnSpc>
              <a:spcBef>
                <a:spcPts val="40"/>
              </a:spcBef>
            </a:pPr>
            <a:r>
              <a:rPr sz="1000" spc="-10" dirty="0">
                <a:latin typeface="Courier New"/>
                <a:cs typeface="Courier New"/>
              </a:rPr>
              <a:t>nama="irawan"; document.bgColor="blue"; </a:t>
            </a:r>
            <a:r>
              <a:rPr sz="1000" spc="-20" dirty="0">
                <a:latin typeface="Courier New"/>
                <a:cs typeface="Courier New"/>
              </a:rPr>
              <a:t>document.fgColor="white";</a:t>
            </a:r>
            <a:endParaRPr sz="1000">
              <a:latin typeface="Courier New"/>
              <a:cs typeface="Courier New"/>
            </a:endParaRPr>
          </a:p>
          <a:p>
            <a:pPr marL="12700" marR="1603375">
              <a:lnSpc>
                <a:spcPct val="94200"/>
              </a:lnSpc>
              <a:spcBef>
                <a:spcPts val="10"/>
              </a:spcBef>
            </a:pPr>
            <a:r>
              <a:rPr sz="1000" spc="-10" dirty="0">
                <a:latin typeface="Courier New"/>
                <a:cs typeface="Courier New"/>
              </a:rPr>
              <a:t>document.title="Belajar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Document"; document.linkColor="red"; document.vlinkColor="green"; document.alinkColor="white"; namakulink=nama.link('ir.html');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094" y="1664335"/>
            <a:ext cx="5293106" cy="26606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28077" y="884173"/>
            <a:ext cx="2155190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document.writeln('Warna</a:t>
            </a:r>
            <a:r>
              <a:rPr sz="1000" spc="-14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Link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02329" y="884173"/>
            <a:ext cx="19056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'+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namakulink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+'&lt;BR&gt;');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8077" y="4468748"/>
            <a:ext cx="5114290" cy="90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7.3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Objek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Window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55"/>
              </a:spcBef>
            </a:pP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</a:t>
            </a:r>
            <a:r>
              <a:rPr sz="1200" spc="3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tertinggi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3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Javascript.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3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ini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memanipulasi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jendela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document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HTML.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200" dirty="0">
                <a:latin typeface="Times New Roman"/>
                <a:cs typeface="Times New Roman"/>
              </a:rPr>
              <a:t>Property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10" dirty="0">
                <a:latin typeface="Times New Roman"/>
                <a:cs typeface="Times New Roman"/>
              </a:rPr>
              <a:t> window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12595" y="5373370"/>
          <a:ext cx="4586604" cy="897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7155"/>
                <a:gridCol w="3219449"/>
              </a:tblGrid>
              <a:tr h="179705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Property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Fungsi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length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Mengetahui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jumlah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pada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window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6858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location.href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69215">
                        <a:lnSpc>
                          <a:spcPts val="1300"/>
                        </a:lnSpc>
                        <a:spcBef>
                          <a:spcPts val="100"/>
                        </a:spcBef>
                        <a:tabLst>
                          <a:tab pos="894080" algn="l"/>
                          <a:tab pos="1369060" algn="l"/>
                          <a:tab pos="1999614" algn="l"/>
                          <a:tab pos="248475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Mengakses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objek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untuk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melakukan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redirect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atau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berpindah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alamat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tertentu.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705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Status=nilai_status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Memberikan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window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128077" y="6425184"/>
            <a:ext cx="2308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Metode-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window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712595" y="6631051"/>
          <a:ext cx="4573904" cy="3028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575"/>
                <a:gridCol w="2767329"/>
              </a:tblGrid>
              <a:tr h="180340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Fungsi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F5F5F"/>
                    </a:solidFill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marL="6858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alert(pesan)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68580">
                        <a:lnSpc>
                          <a:spcPts val="1280"/>
                        </a:lnSpc>
                        <a:spcBef>
                          <a:spcPts val="114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Memunculkan</a:t>
                      </a:r>
                      <a:r>
                        <a:rPr sz="12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messagebox</a:t>
                      </a:r>
                      <a:r>
                        <a:rPr sz="12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sebuah</a:t>
                      </a:r>
                      <a:r>
                        <a:rPr sz="1200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pesan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kesalahan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marL="68580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confirm(pesan)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1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Memunculkan</a:t>
                      </a:r>
                      <a:r>
                        <a:rPr sz="12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pesan</a:t>
                      </a:r>
                      <a:r>
                        <a:rPr sz="12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konfirmasi.</a:t>
                      </a:r>
                      <a:r>
                        <a:rPr sz="12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 marR="69215">
                        <a:lnSpc>
                          <a:spcPts val="1320"/>
                        </a:lnSpc>
                        <a:spcBef>
                          <a:spcPts val="1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ini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akan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menghasilkan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nilai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kembalian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yaitu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true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untuk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false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untuk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Cancel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68580">
                        <a:lnSpc>
                          <a:spcPts val="13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prompt(pesan,nilai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default)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71120">
                        <a:lnSpc>
                          <a:spcPts val="1320"/>
                        </a:lnSpc>
                        <a:spcBef>
                          <a:spcPts val="60"/>
                        </a:spcBef>
                        <a:tabLst>
                          <a:tab pos="1102360" algn="l"/>
                          <a:tab pos="1605280" algn="l"/>
                          <a:tab pos="205486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Memunculkan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pesan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yang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menunggu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sebuah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6858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close()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Menutup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jendela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aktif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marL="68580">
                        <a:lnSpc>
                          <a:spcPts val="131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open(url|file,windowname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,feature)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algn="just">
                        <a:lnSpc>
                          <a:spcPts val="131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Membuka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jendela</a:t>
                      </a:r>
                      <a:r>
                        <a:rPr sz="1200" spc="114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baru</a:t>
                      </a:r>
                      <a:r>
                        <a:rPr sz="1200" spc="10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dengan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 algn="just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meliputi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 marR="54610" algn="just">
                        <a:lnSpc>
                          <a:spcPts val="1380"/>
                        </a:lnSpc>
                        <a:spcBef>
                          <a:spcPts val="65"/>
                        </a:spcBef>
                        <a:tabLst>
                          <a:tab pos="130302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toolbar=yes|no</a:t>
                      </a:r>
                      <a:r>
                        <a:rPr sz="1200" spc="295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mengaktifkan</a:t>
                      </a:r>
                      <a:r>
                        <a:rPr sz="1200" spc="254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toolbar status=yes|no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mengaktifkan</a:t>
                      </a:r>
                      <a:r>
                        <a:rPr sz="12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window status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120" marR="13017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menubar=yes|no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mengaktifkan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menubar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scrollbars=yes|no</a:t>
                      </a:r>
                      <a:r>
                        <a:rPr sz="1200" spc="3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mengaktifkan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scrollbar resizable=yes|no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jendela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resizeable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712595" y="902080"/>
          <a:ext cx="4573904" cy="538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6575"/>
                <a:gridCol w="2767329"/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859790">
                        <a:lnSpc>
                          <a:spcPts val="1280"/>
                        </a:lnSpc>
                        <a:spcBef>
                          <a:spcPts val="1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width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ukuran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lebar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jendela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height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ukuran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tinggi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jendela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46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Membuka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jendela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dialog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print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064577" y="1625980"/>
            <a:ext cx="522160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8077" y="1778381"/>
            <a:ext cx="5168900" cy="372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&lt;H3&gt;Latihan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Window&lt;/H3&gt;&lt;hr&gt;</a:t>
            </a:r>
            <a:endParaRPr sz="1000">
              <a:latin typeface="Courier New"/>
              <a:cs typeface="Courier New"/>
            </a:endParaRPr>
          </a:p>
          <a:p>
            <a:pPr marL="12700" marR="2709545">
              <a:lnSpc>
                <a:spcPct val="94200"/>
              </a:lnSpc>
            </a:pPr>
            <a:r>
              <a:rPr sz="1000" dirty="0">
                <a:latin typeface="Courier New"/>
                <a:cs typeface="Courier New"/>
              </a:rPr>
              <a:t>&lt;SCRIPT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 window.status="Welcome"; </a:t>
            </a:r>
            <a:r>
              <a:rPr sz="1000" dirty="0">
                <a:latin typeface="Courier New"/>
                <a:cs typeface="Courier New"/>
              </a:rPr>
              <a:t>window.alert=("Selamat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Datang");</a:t>
            </a:r>
            <a:endParaRPr sz="1000">
              <a:latin typeface="Courier New"/>
              <a:cs typeface="Courier New"/>
            </a:endParaRPr>
          </a:p>
          <a:p>
            <a:pPr marL="12700" marR="600075">
              <a:lnSpc>
                <a:spcPct val="94200"/>
              </a:lnSpc>
              <a:spcBef>
                <a:spcPts val="10"/>
              </a:spcBef>
            </a:pPr>
            <a:r>
              <a:rPr sz="1000" spc="-10" dirty="0">
                <a:latin typeface="Courier New"/>
                <a:cs typeface="Courier New"/>
              </a:rPr>
              <a:t>angka=window.prompt("Inputkan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Angka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?",0); </a:t>
            </a:r>
            <a:r>
              <a:rPr sz="1000" dirty="0">
                <a:latin typeface="Courier New"/>
                <a:cs typeface="Courier New"/>
              </a:rPr>
              <a:t>document.write("Angka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vaforit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anda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adalah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=&lt;strong&gt;"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+angka+ "&lt;/strong&gt;&lt;br&gt;");</a:t>
            </a:r>
            <a:endParaRPr sz="1000">
              <a:latin typeface="Courier New"/>
              <a:cs typeface="Courier New"/>
            </a:endParaRPr>
          </a:p>
          <a:p>
            <a:pPr marL="12700" marR="1210310">
              <a:lnSpc>
                <a:spcPts val="1140"/>
              </a:lnSpc>
              <a:spcBef>
                <a:spcPts val="25"/>
              </a:spcBef>
            </a:pPr>
            <a:r>
              <a:rPr sz="1000" spc="-10" dirty="0">
                <a:latin typeface="Courier New"/>
                <a:cs typeface="Courier New"/>
              </a:rPr>
              <a:t>tampung=window.confirm("jenis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kelamin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anda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Pria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?"); </a:t>
            </a:r>
            <a:r>
              <a:rPr sz="1000" spc="-10" dirty="0">
                <a:latin typeface="Courier New"/>
                <a:cs typeface="Courier New"/>
              </a:rPr>
              <a:t>if(tampung)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ts val="1125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110"/>
              </a:lnSpc>
            </a:pPr>
            <a:r>
              <a:rPr sz="1000" spc="-10" dirty="0">
                <a:latin typeface="Courier New"/>
                <a:cs typeface="Courier New"/>
              </a:rPr>
              <a:t>document.write("Boleh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Kenalan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donk");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10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20" dirty="0">
                <a:latin typeface="Courier New"/>
                <a:cs typeface="Courier New"/>
              </a:rPr>
              <a:t>else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ts val="116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document.write("Ok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dech");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11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window.close();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508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penggunaan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perintah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window.open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window.location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membuka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lain.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4577" y="5668009"/>
            <a:ext cx="522160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8077" y="5820409"/>
            <a:ext cx="4860290" cy="3488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&lt;CENTER&gt;&lt;H3&gt;Latihan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Document&lt;/H3&gt;&lt;hr&gt;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Membuka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Web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Page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Perintah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Window.Open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dan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Window.Location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&lt;/CENTER&gt;</a:t>
            </a:r>
            <a:endParaRPr sz="1000">
              <a:latin typeface="Courier New"/>
              <a:cs typeface="Courier New"/>
            </a:endParaRPr>
          </a:p>
          <a:p>
            <a:pPr marL="12700" marR="2573655">
              <a:lnSpc>
                <a:spcPts val="1140"/>
              </a:lnSpc>
              <a:spcBef>
                <a:spcPts val="20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konek1()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7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window.open("utsb.HTML");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konek2()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window.location="kunci_jawaban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UTS.HTML";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&lt;FORM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METHOD="post"&gt;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&lt;P&gt;&lt;CENTER&gt;</a:t>
            </a:r>
            <a:endParaRPr sz="1000">
              <a:latin typeface="Courier New"/>
              <a:cs typeface="Courier New"/>
            </a:endParaRPr>
          </a:p>
          <a:p>
            <a:pPr marL="12700" marR="1206500">
              <a:lnSpc>
                <a:spcPts val="1140"/>
              </a:lnSpc>
              <a:spcBef>
                <a:spcPts val="55"/>
              </a:spcBef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TYPE="button"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VALUE="Kunci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Jawaban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UTS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A" </a:t>
            </a:r>
            <a:r>
              <a:rPr sz="1000" spc="-10" dirty="0">
                <a:latin typeface="Courier New"/>
                <a:cs typeface="Courier New"/>
              </a:rPr>
              <a:t>ONCLICK="konek1()"&gt;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60"/>
              </a:lnSpc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TYPE="button"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VALUE="Kunci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Jawaban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UTS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B"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ONCLICK="konek2()"&gt;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&lt;/FORM&gt;&lt;/CENTER&gt;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8077" y="884173"/>
            <a:ext cx="5166995" cy="3835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dirty="0">
                <a:latin typeface="Times New Roman"/>
                <a:cs typeface="Times New Roman"/>
              </a:rPr>
              <a:t>Contoh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penggunaan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window.location.href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membuka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spc="-10" dirty="0">
                <a:latin typeface="Times New Roman"/>
                <a:cs typeface="Times New Roman"/>
              </a:rPr>
              <a:t>lain.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4577" y="1432941"/>
            <a:ext cx="5221605" cy="180340"/>
          </a:xfrm>
          <a:prstGeom prst="rect">
            <a:avLst/>
          </a:prstGeom>
          <a:solidFill>
            <a:srgbClr val="B3B3B3"/>
          </a:solidFill>
        </p:spPr>
        <p:txBody>
          <a:bodyPr vert="horz" wrap="square" lIns="0" tIns="0" rIns="0" bIns="0" rtlCol="0">
            <a:spAutoFit/>
          </a:bodyPr>
          <a:lstStyle/>
          <a:p>
            <a:pPr marL="78740">
              <a:lnSpc>
                <a:spcPts val="1400"/>
              </a:lnSpc>
            </a:pPr>
            <a:r>
              <a:rPr sz="1200" b="1" dirty="0">
                <a:latin typeface="Times New Roman"/>
                <a:cs typeface="Times New Roman"/>
              </a:rPr>
              <a:t>Contoh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Program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JavaScript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8077" y="1585341"/>
            <a:ext cx="4728845" cy="7372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&lt;CENTER&gt;&lt;H3&gt;Latihan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Document&lt;/H3&gt;&lt;hr&gt;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Membuka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Web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Page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Perintah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Window.Location.href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&lt;/CENTER&gt;</a:t>
            </a:r>
            <a:endParaRPr sz="1000">
              <a:latin typeface="Courier New"/>
              <a:cs typeface="Courier New"/>
            </a:endParaRPr>
          </a:p>
          <a:p>
            <a:pPr marL="12700" marR="2442210">
              <a:lnSpc>
                <a:spcPts val="1140"/>
              </a:lnSpc>
              <a:spcBef>
                <a:spcPts val="55"/>
              </a:spcBef>
            </a:pPr>
            <a:r>
              <a:rPr sz="1000" spc="-10" dirty="0">
                <a:latin typeface="Courier New"/>
                <a:cs typeface="Courier New"/>
              </a:rPr>
              <a:t>&lt;SCRIPT</a:t>
            </a:r>
            <a:r>
              <a:rPr sz="1000" spc="-1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LANGUAGE="Javascript"&gt; </a:t>
            </a: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konek1()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if(document.pilihan.pilih.options[0].selected)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ts val="113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window.location.href="latobjekradio.HTML";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ts val="116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else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(document.pilihan.pilih.options[1].selected)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ts val="110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window.location.href="latobjekselect.HTML";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ts val="117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64465">
              <a:lnSpc>
                <a:spcPts val="1170"/>
              </a:lnSpc>
            </a:pPr>
            <a:r>
              <a:rPr sz="1000" dirty="0">
                <a:latin typeface="Courier New"/>
                <a:cs typeface="Courier New"/>
              </a:rPr>
              <a:t>else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(document.pilihan.pilih.options[2].selected)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ts val="110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window.location.href="latobjekteksarea.HTML";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ts val="113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return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true;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function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konek2()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88900" marR="3653790">
              <a:lnSpc>
                <a:spcPts val="1120"/>
              </a:lnSpc>
              <a:spcBef>
                <a:spcPts val="75"/>
              </a:spcBef>
            </a:pPr>
            <a:r>
              <a:rPr sz="1000" spc="-10" dirty="0">
                <a:latin typeface="Courier New"/>
                <a:cs typeface="Courier New"/>
              </a:rPr>
              <a:t>var</a:t>
            </a:r>
            <a:r>
              <a:rPr sz="1000" spc="-1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pilihint; </a:t>
            </a:r>
            <a:r>
              <a:rPr sz="1000" dirty="0">
                <a:latin typeface="Courier New"/>
                <a:cs typeface="Courier New"/>
              </a:rPr>
              <a:t>var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pilihstr;</a:t>
            </a:r>
            <a:endParaRPr sz="1000">
              <a:latin typeface="Courier New"/>
              <a:cs typeface="Courier New"/>
            </a:endParaRPr>
          </a:p>
          <a:p>
            <a:pPr marL="88900" marR="5080">
              <a:lnSpc>
                <a:spcPts val="1140"/>
              </a:lnSpc>
              <a:spcBef>
                <a:spcPts val="5"/>
              </a:spcBef>
            </a:pPr>
            <a:r>
              <a:rPr sz="1000" spc="-10" dirty="0">
                <a:latin typeface="Courier New"/>
                <a:cs typeface="Courier New"/>
              </a:rPr>
              <a:t>pilihint=document.pilihan.pilih.selectedIndex; pilihstr=document.pilihan.pilih.options[pilihint].text; document.pilihan.pilihteks.value=" </a:t>
            </a:r>
            <a:r>
              <a:rPr sz="1000" dirty="0">
                <a:latin typeface="Courier New"/>
                <a:cs typeface="Courier New"/>
              </a:rPr>
              <a:t>Go</a:t>
            </a:r>
            <a:r>
              <a:rPr sz="1000" spc="-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To</a:t>
            </a:r>
            <a:r>
              <a:rPr sz="1000" spc="-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pilihstr</a:t>
            </a:r>
            <a:r>
              <a:rPr sz="1000" spc="-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"!"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latin typeface="Courier New"/>
                <a:cs typeface="Courier New"/>
              </a:rPr>
              <a:t>&lt;/SCRIPT&gt;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spc="-10" dirty="0">
                <a:latin typeface="Courier New"/>
                <a:cs typeface="Courier New"/>
              </a:rPr>
              <a:t>&lt;CENTER&gt;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&lt;FORM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NAME="pilihan"&gt;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&lt;B&gt;MENU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PILIHAN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DENGAN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TOMBOL&lt;/B&gt;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&lt;P&gt;&lt;SELECT</a:t>
            </a:r>
            <a:r>
              <a:rPr sz="1000" spc="-1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NAME="pilih"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ONCHANGE="konek2()"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MULTIPLE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SIZE="3"&gt;</a:t>
            </a:r>
            <a:endParaRPr sz="1000">
              <a:latin typeface="Courier New"/>
              <a:cs typeface="Courier New"/>
            </a:endParaRPr>
          </a:p>
          <a:p>
            <a:pPr marL="594360">
              <a:lnSpc>
                <a:spcPts val="1170"/>
              </a:lnSpc>
            </a:pPr>
            <a:r>
              <a:rPr sz="1000" dirty="0">
                <a:latin typeface="Courier New"/>
                <a:cs typeface="Courier New"/>
              </a:rPr>
              <a:t>&lt;OPTION&gt;Latihan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Radio&lt;/OPTION&gt;</a:t>
            </a:r>
            <a:endParaRPr sz="1000">
              <a:latin typeface="Courier New"/>
              <a:cs typeface="Courier New"/>
            </a:endParaRPr>
          </a:p>
          <a:p>
            <a:pPr marL="59436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&lt;OPTION&gt;Latihan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Select&lt;/OPTION&gt;</a:t>
            </a:r>
            <a:endParaRPr sz="1000">
              <a:latin typeface="Courier New"/>
              <a:cs typeface="Courier New"/>
            </a:endParaRPr>
          </a:p>
          <a:p>
            <a:pPr marL="59436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&lt;OPTION&gt;Latihan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Objek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Teks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Area&lt;/OPTION&gt;</a:t>
            </a:r>
            <a:endParaRPr sz="1000">
              <a:latin typeface="Courier New"/>
              <a:cs typeface="Courier New"/>
            </a:endParaRPr>
          </a:p>
          <a:p>
            <a:pPr marL="2413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&lt;/SELECT&gt;</a:t>
            </a:r>
            <a:endParaRPr sz="1000">
              <a:latin typeface="Courier New"/>
              <a:cs typeface="Courier New"/>
            </a:endParaRPr>
          </a:p>
          <a:p>
            <a:pPr marL="88900">
              <a:lnSpc>
                <a:spcPts val="1130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&lt;P&gt;&lt;BR&gt;</a:t>
            </a:r>
            <a:endParaRPr sz="1000">
              <a:latin typeface="Courier New"/>
              <a:cs typeface="Courier New"/>
            </a:endParaRPr>
          </a:p>
          <a:p>
            <a:pPr marL="12700" marR="543560">
              <a:lnSpc>
                <a:spcPts val="1120"/>
              </a:lnSpc>
              <a:spcBef>
                <a:spcPts val="75"/>
              </a:spcBef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TYPE="button"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name="pilihteks"</a:t>
            </a:r>
            <a:r>
              <a:rPr sz="1000" spc="-10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value""</a:t>
            </a:r>
            <a:r>
              <a:rPr sz="1000" spc="-10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size="40" maxlength="40"&gt;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0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25" dirty="0">
                <a:latin typeface="Courier New"/>
                <a:cs typeface="Courier New"/>
              </a:rPr>
              <a:t>&lt;P&gt;</a:t>
            </a:r>
            <a:endParaRPr sz="1000">
              <a:latin typeface="Courier New"/>
              <a:cs typeface="Courier New"/>
            </a:endParaRPr>
          </a:p>
          <a:p>
            <a:pPr marL="12700" marR="920115">
              <a:lnSpc>
                <a:spcPts val="1140"/>
              </a:lnSpc>
              <a:spcBef>
                <a:spcPts val="45"/>
              </a:spcBef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114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TYPE="button"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NAME="Gobutton"</a:t>
            </a:r>
            <a:r>
              <a:rPr sz="1000" spc="-11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VALUE="Goo!!" ONCLICK="konek1()"&gt;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20" dirty="0">
                <a:latin typeface="Courier New"/>
                <a:cs typeface="Courier New"/>
              </a:rPr>
              <a:t>&lt;/P&gt;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spc="-10" dirty="0">
                <a:latin typeface="Courier New"/>
                <a:cs typeface="Courier New"/>
              </a:rPr>
              <a:t>&lt;/FORM&gt;&lt;/CENTER&gt;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4645" y="7770090"/>
            <a:ext cx="1774189" cy="207645"/>
            <a:chOff x="1874645" y="7770090"/>
            <a:chExt cx="1774189" cy="207645"/>
          </a:xfrm>
        </p:grpSpPr>
        <p:sp>
          <p:nvSpPr>
            <p:cNvPr id="3" name="object 3"/>
            <p:cNvSpPr/>
            <p:nvPr/>
          </p:nvSpPr>
          <p:spPr>
            <a:xfrm>
              <a:off x="3644129" y="7770090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5">
                  <a:moveTo>
                    <a:pt x="0" y="207283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3B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74645" y="7774662"/>
              <a:ext cx="1774189" cy="0"/>
            </a:xfrm>
            <a:custGeom>
              <a:avLst/>
              <a:gdLst/>
              <a:ahLst/>
              <a:cxnLst/>
              <a:rect l="l" t="t" r="r" b="b"/>
              <a:pathLst>
                <a:path w="1774189">
                  <a:moveTo>
                    <a:pt x="0" y="0"/>
                  </a:moveTo>
                  <a:lnTo>
                    <a:pt x="1774054" y="0"/>
                  </a:lnTo>
                </a:path>
              </a:pathLst>
            </a:custGeom>
            <a:ln w="9144">
              <a:solidFill>
                <a:srgbClr val="003B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74645" y="7972801"/>
              <a:ext cx="1774189" cy="0"/>
            </a:xfrm>
            <a:custGeom>
              <a:avLst/>
              <a:gdLst/>
              <a:ahLst/>
              <a:cxnLst/>
              <a:rect l="l" t="t" r="r" b="b"/>
              <a:pathLst>
                <a:path w="1774189">
                  <a:moveTo>
                    <a:pt x="0" y="0"/>
                  </a:moveTo>
                  <a:lnTo>
                    <a:pt x="1774054" y="0"/>
                  </a:lnTo>
                </a:path>
              </a:pathLst>
            </a:custGeom>
            <a:ln w="9144">
              <a:solidFill>
                <a:srgbClr val="003B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3720334" y="7770090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5">
                <a:moveTo>
                  <a:pt x="0" y="207283"/>
                </a:moveTo>
                <a:lnTo>
                  <a:pt x="0" y="0"/>
                </a:lnTo>
              </a:path>
            </a:pathLst>
          </a:custGeom>
          <a:ln w="9144">
            <a:solidFill>
              <a:srgbClr val="003B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33932" y="5712494"/>
          <a:ext cx="5233034" cy="2981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5655"/>
                <a:gridCol w="75564"/>
                <a:gridCol w="117475"/>
                <a:gridCol w="194945"/>
                <a:gridCol w="239395"/>
              </a:tblGrid>
              <a:tr h="261620"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50" dirty="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D:1bahan</a:t>
                      </a:r>
                      <a:r>
                        <a:rPr sz="1050" spc="114" dirty="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50" spc="-40" dirty="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ajar1javascript1latobjekdocumentwindows.HTML</a:t>
                      </a:r>
                      <a:r>
                        <a:rPr sz="1050" spc="130" dirty="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50" dirty="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- </a:t>
                      </a:r>
                      <a:r>
                        <a:rPr sz="1050" spc="-25" dirty="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Microsoft</a:t>
                      </a:r>
                      <a:r>
                        <a:rPr sz="1050" spc="235" dirty="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50" spc="-10" dirty="0">
                          <a:solidFill>
                            <a:srgbClr val="0F0F0F"/>
                          </a:solidFill>
                          <a:latin typeface="Cambria"/>
                          <a:cs typeface="Cambria"/>
                        </a:rPr>
                        <a:t>lnte...</a:t>
                      </a:r>
                      <a:endParaRPr sz="1050">
                        <a:latin typeface="Cambria"/>
                        <a:cs typeface="Cambria"/>
                      </a:endParaRPr>
                    </a:p>
                  </a:txBody>
                  <a:tcPr marL="0" marR="0" marT="47625" marB="0">
                    <a:lnL w="9525">
                      <a:solidFill>
                        <a:srgbClr val="646477"/>
                      </a:solidFill>
                      <a:prstDash val="solid"/>
                    </a:lnL>
                    <a:lnR w="9525">
                      <a:solidFill>
                        <a:srgbClr val="875B70"/>
                      </a:solidFill>
                      <a:prstDash val="solid"/>
                    </a:lnR>
                    <a:lnT w="9525">
                      <a:solidFill>
                        <a:srgbClr val="646477"/>
                      </a:solidFill>
                      <a:prstDash val="solid"/>
                    </a:lnT>
                    <a:lnB w="9525">
                      <a:solidFill>
                        <a:srgbClr val="646477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875B70"/>
                      </a:solidFill>
                      <a:prstDash val="solid"/>
                    </a:lnL>
                    <a:lnR w="9525">
                      <a:solidFill>
                        <a:srgbClr val="875B70"/>
                      </a:solidFill>
                      <a:prstDash val="solid"/>
                    </a:lnR>
                    <a:lnT w="9525">
                      <a:solidFill>
                        <a:srgbClr val="875B70"/>
                      </a:solidFill>
                      <a:prstDash val="solid"/>
                    </a:lnT>
                    <a:lnB w="9525">
                      <a:solidFill>
                        <a:srgbClr val="875B7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10" dirty="0">
                          <a:solidFill>
                            <a:srgbClr val="6E6D8E"/>
                          </a:solidFill>
                          <a:latin typeface="Cambria"/>
                          <a:cs typeface="Cambria"/>
                        </a:rPr>
                        <a:t>D</a:t>
                      </a:r>
                      <a:endParaRPr sz="1050">
                        <a:latin typeface="Cambria"/>
                        <a:cs typeface="Cambria"/>
                      </a:endParaRPr>
                    </a:p>
                  </a:txBody>
                  <a:tcPr marL="0" marR="0" marT="47625" marB="0">
                    <a:lnL w="9525">
                      <a:solidFill>
                        <a:srgbClr val="875B70"/>
                      </a:solidFill>
                      <a:prstDash val="solid"/>
                    </a:lnL>
                    <a:lnR w="12700">
                      <a:solidFill>
                        <a:srgbClr val="875B70"/>
                      </a:solidFill>
                      <a:prstDash val="solid"/>
                    </a:lnR>
                    <a:lnT w="9525">
                      <a:solidFill>
                        <a:srgbClr val="875B70"/>
                      </a:solidFill>
                      <a:prstDash val="solid"/>
                    </a:lnT>
                    <a:lnB w="9525">
                      <a:solidFill>
                        <a:srgbClr val="875B7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50" dirty="0">
                          <a:solidFill>
                            <a:srgbClr val="DF6967"/>
                          </a:solidFill>
                          <a:latin typeface="Cambria"/>
                          <a:cs typeface="Cambria"/>
                        </a:rPr>
                        <a:t>9</a:t>
                      </a:r>
                      <a:endParaRPr sz="1050">
                        <a:latin typeface="Cambria"/>
                        <a:cs typeface="Cambri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875B70"/>
                      </a:solidFill>
                      <a:prstDash val="solid"/>
                    </a:lnL>
                    <a:lnR w="9525">
                      <a:solidFill>
                        <a:srgbClr val="875B70"/>
                      </a:solidFill>
                      <a:prstDash val="solid"/>
                    </a:lnR>
                    <a:lnT w="9525">
                      <a:solidFill>
                        <a:srgbClr val="875B70"/>
                      </a:solidFill>
                      <a:prstDash val="solid"/>
                    </a:lnT>
                    <a:lnB w="9525">
                      <a:solidFill>
                        <a:srgbClr val="875B70"/>
                      </a:solidFill>
                      <a:prstDash val="solid"/>
                    </a:lnB>
                  </a:tcPr>
                </a:tc>
              </a:tr>
              <a:tr h="782955">
                <a:tc gridSpan="2"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412115" algn="l"/>
                          <a:tab pos="725170" algn="l"/>
                          <a:tab pos="1066800" algn="l"/>
                          <a:tab pos="1623695" algn="l"/>
                          <a:tab pos="1988185" algn="l"/>
                        </a:tabLst>
                      </a:pPr>
                      <a:r>
                        <a:rPr sz="900" spc="-20" dirty="0">
                          <a:latin typeface="Cambria"/>
                          <a:cs typeface="Cambria"/>
                        </a:rPr>
                        <a:t>File</a:t>
                      </a:r>
                      <a:r>
                        <a:rPr sz="9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900" spc="-20" dirty="0">
                          <a:latin typeface="Cambria"/>
                          <a:cs typeface="Cambria"/>
                        </a:rPr>
                        <a:t>Edit</a:t>
                      </a:r>
                      <a:r>
                        <a:rPr sz="9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900" spc="-20" dirty="0">
                          <a:latin typeface="Cambria"/>
                          <a:cs typeface="Cambria"/>
                        </a:rPr>
                        <a:t>View</a:t>
                      </a:r>
                      <a:r>
                        <a:rPr sz="9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900" spc="-10" dirty="0">
                          <a:latin typeface="Cambria"/>
                          <a:cs typeface="Cambria"/>
                        </a:rPr>
                        <a:t>favorites</a:t>
                      </a:r>
                      <a:r>
                        <a:rPr sz="9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900" spc="-10" dirty="0">
                          <a:latin typeface="Cambria"/>
                          <a:cs typeface="Cambria"/>
                        </a:rPr>
                        <a:t>}_ooIs</a:t>
                      </a:r>
                      <a:r>
                        <a:rPr sz="9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900" spc="-20" dirty="0">
                          <a:latin typeface="Cambria"/>
                          <a:cs typeface="Cambria"/>
                        </a:rPr>
                        <a:t>Help</a:t>
                      </a:r>
                      <a:endParaRPr sz="9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344420">
                        <a:lnSpc>
                          <a:spcPct val="100000"/>
                        </a:lnSpc>
                        <a:tabLst>
                          <a:tab pos="3067050" algn="l"/>
                          <a:tab pos="3693160" algn="l"/>
                          <a:tab pos="4455160" algn="l"/>
                        </a:tabLst>
                      </a:pPr>
                      <a:r>
                        <a:rPr sz="850" spc="-180" dirty="0">
                          <a:solidFill>
                            <a:srgbClr val="D1D1D1"/>
                          </a:solidFill>
                          <a:latin typeface="Cambria"/>
                          <a:cs typeface="Cambria"/>
                        </a:rPr>
                        <a:t>*!</a:t>
                      </a:r>
                      <a:r>
                        <a:rPr sz="850" spc="110" dirty="0">
                          <a:solidFill>
                            <a:srgbClr val="D1D1D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850" dirty="0">
                          <a:latin typeface="Cambria"/>
                          <a:cs typeface="Cambria"/>
                        </a:rPr>
                        <a:t>Search</a:t>
                      </a:r>
                      <a:r>
                        <a:rPr sz="850" spc="4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850" spc="-50" dirty="0">
                          <a:solidFill>
                            <a:srgbClr val="A5750F"/>
                          </a:solidFill>
                          <a:latin typeface="Cambria"/>
                          <a:cs typeface="Cambria"/>
                        </a:rPr>
                        <a:t>’</a:t>
                      </a:r>
                      <a:r>
                        <a:rPr sz="850" dirty="0">
                          <a:solidFill>
                            <a:srgbClr val="A5750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850" spc="-10" dirty="0">
                          <a:latin typeface="Cambria"/>
                          <a:cs typeface="Cambria"/>
                        </a:rPr>
                        <a:t>Favorites</a:t>
                      </a:r>
                      <a:r>
                        <a:rPr sz="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850" spc="-25" dirty="0">
                          <a:solidFill>
                            <a:srgbClr val="595959"/>
                          </a:solidFill>
                          <a:latin typeface="Cambria"/>
                          <a:cs typeface="Cambria"/>
                        </a:rPr>
                        <a:t>“}”</a:t>
                      </a:r>
                      <a:r>
                        <a:rPr sz="850" dirty="0">
                          <a:solidFill>
                            <a:srgbClr val="595959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850" spc="-50" dirty="0">
                          <a:solidFill>
                            <a:srgbClr val="4F4F4F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tabLst>
                          <a:tab pos="683895" algn="l"/>
                          <a:tab pos="3709035" algn="l"/>
                          <a:tab pos="4100829" algn="l"/>
                          <a:tab pos="4426585" algn="l"/>
                        </a:tabLst>
                      </a:pPr>
                      <a:r>
                        <a:rPr sz="850" spc="-10" dirty="0">
                          <a:solidFill>
                            <a:srgbClr val="797979"/>
                          </a:solidFill>
                          <a:latin typeface="Cambria"/>
                          <a:cs typeface="Cambria"/>
                        </a:rPr>
                        <a:t>Address</a:t>
                      </a:r>
                      <a:r>
                        <a:rPr sz="850" dirty="0">
                          <a:solidFill>
                            <a:srgbClr val="797979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850" spc="-20" dirty="0">
                          <a:latin typeface="Cambria"/>
                          <a:cs typeface="Cambria"/>
                        </a:rPr>
                        <a:t>D:tbahan</a:t>
                      </a:r>
                      <a:r>
                        <a:rPr sz="85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850" spc="-10" dirty="0">
                          <a:latin typeface="Cambria"/>
                          <a:cs typeface="Cambria"/>
                        </a:rPr>
                        <a:t>ajar\javascripttIatobjekdocumentwindows.HTML</a:t>
                      </a:r>
                      <a:r>
                        <a:rPr sz="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275" spc="-37" baseline="3267" dirty="0">
                          <a:solidFill>
                            <a:srgbClr val="3D3D3D"/>
                          </a:solidFill>
                          <a:latin typeface="Cambria"/>
                          <a:cs typeface="Cambria"/>
                        </a:rPr>
                        <a:t>'•’</a:t>
                      </a:r>
                      <a:r>
                        <a:rPr sz="1275" baseline="3267" dirty="0">
                          <a:solidFill>
                            <a:srgbClr val="3D3D3D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275" spc="-37" baseline="3267" dirty="0">
                          <a:latin typeface="Cambria"/>
                          <a:cs typeface="Cambria"/>
                        </a:rPr>
                        <a:t>Go</a:t>
                      </a:r>
                      <a:r>
                        <a:rPr sz="1275" baseline="3267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275" spc="-15" baseline="3267" dirty="0">
                          <a:solidFill>
                            <a:srgbClr val="797979"/>
                          </a:solidFill>
                          <a:latin typeface="Cambria"/>
                          <a:cs typeface="Cambria"/>
                        </a:rPr>
                        <a:t>Links</a:t>
                      </a:r>
                      <a:endParaRPr sz="1275" baseline="3267">
                        <a:latin typeface="Cambria"/>
                        <a:cs typeface="Cambria"/>
                      </a:endParaRPr>
                    </a:p>
                  </a:txBody>
                  <a:tcPr marL="0" marR="0" marT="12065" marB="0">
                    <a:lnL w="9525">
                      <a:solidFill>
                        <a:srgbClr val="646477"/>
                      </a:solidFill>
                      <a:prstDash val="solid"/>
                    </a:lnL>
                    <a:lnT w="9525">
                      <a:solidFill>
                        <a:srgbClr val="646477"/>
                      </a:solidFill>
                      <a:prstDash val="solid"/>
                    </a:lnT>
                    <a:lnB w="3175">
                      <a:solidFill>
                        <a:srgbClr val="67677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37465">
                        <a:lnSpc>
                          <a:spcPct val="100000"/>
                        </a:lnSpc>
                      </a:pPr>
                      <a:r>
                        <a:rPr sz="850" spc="-50" dirty="0">
                          <a:latin typeface="Cambria"/>
                          <a:cs typeface="Cambria"/>
                        </a:rPr>
                        <a:t>”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T w="9525">
                      <a:solidFill>
                        <a:srgbClr val="875B70"/>
                      </a:solidFill>
                      <a:prstDash val="solid"/>
                    </a:lnT>
                    <a:lnB w="3175">
                      <a:solidFill>
                        <a:srgbClr val="67677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875B70"/>
                      </a:solidFill>
                      <a:prstDash val="solid"/>
                    </a:lnT>
                    <a:lnB w="3175">
                      <a:solidFill>
                        <a:srgbClr val="67677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-50" dirty="0">
                          <a:solidFill>
                            <a:srgbClr val="3F75B3"/>
                          </a:solidFill>
                          <a:latin typeface="Cambria"/>
                          <a:cs typeface="Cambria"/>
                        </a:rPr>
                        <a:t>y</a:t>
                      </a:r>
                      <a:endParaRPr sz="900">
                        <a:latin typeface="Cambria"/>
                        <a:cs typeface="Cambria"/>
                      </a:endParaRPr>
                    </a:p>
                  </a:txBody>
                  <a:tcPr marL="0" marR="0" marT="12065" marB="0">
                    <a:lnR w="9525">
                      <a:solidFill>
                        <a:srgbClr val="646477"/>
                      </a:solidFill>
                      <a:prstDash val="solid"/>
                    </a:lnR>
                    <a:lnT w="9525">
                      <a:solidFill>
                        <a:srgbClr val="875B70"/>
                      </a:solidFill>
                      <a:prstDash val="solid"/>
                    </a:lnT>
                    <a:lnB w="3175">
                      <a:solidFill>
                        <a:srgbClr val="676770"/>
                      </a:solidFill>
                      <a:prstDash val="solid"/>
                    </a:lnB>
                  </a:tcPr>
                </a:tc>
              </a:tr>
              <a:tr h="1936750">
                <a:tc gridSpan="5">
                  <a:txBody>
                    <a:bodyPr/>
                    <a:lstStyle/>
                    <a:p>
                      <a:pPr marR="161290"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150" spc="95" dirty="0">
                          <a:latin typeface="Cambria"/>
                          <a:cs typeface="Cambria"/>
                        </a:rPr>
                        <a:t>Latihan</a:t>
                      </a:r>
                      <a:r>
                        <a:rPr sz="115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50" spc="95" dirty="0">
                          <a:latin typeface="Cambria"/>
                          <a:cs typeface="Cambria"/>
                        </a:rPr>
                        <a:t>Objek</a:t>
                      </a:r>
                      <a:r>
                        <a:rPr sz="115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50" spc="50" dirty="0">
                          <a:latin typeface="Cambria"/>
                          <a:cs typeface="Cambria"/>
                        </a:rPr>
                        <a:t>Document</a:t>
                      </a:r>
                      <a:endParaRPr sz="115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R="137795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Membuka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dengan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Perintah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Window.</a:t>
                      </a:r>
                      <a:r>
                        <a:rPr sz="11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dan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Window.Location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140335" algn="ctr">
                        <a:lnSpc>
                          <a:spcPct val="100000"/>
                        </a:lnSpc>
                        <a:tabLst>
                          <a:tab pos="1838960" algn="l"/>
                        </a:tabLst>
                      </a:pPr>
                      <a:r>
                        <a:rPr sz="950" spc="-20" dirty="0">
                          <a:latin typeface="Cambria"/>
                          <a:cs typeface="Cambria"/>
                        </a:rPr>
                        <a:t>Kunci</a:t>
                      </a:r>
                      <a:r>
                        <a:rPr sz="950" spc="1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950" dirty="0">
                          <a:latin typeface="Cambria"/>
                          <a:cs typeface="Cambria"/>
                        </a:rPr>
                        <a:t>Jawab</a:t>
                      </a:r>
                      <a:r>
                        <a:rPr sz="950" spc="-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950" dirty="0">
                          <a:latin typeface="Cambria"/>
                          <a:cs typeface="Cambria"/>
                        </a:rPr>
                        <a:t>an</a:t>
                      </a:r>
                      <a:r>
                        <a:rPr sz="95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950" dirty="0">
                          <a:latin typeface="Cambria"/>
                          <a:cs typeface="Cambria"/>
                        </a:rPr>
                        <a:t>UTS</a:t>
                      </a:r>
                      <a:r>
                        <a:rPr sz="950" spc="3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950" spc="5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9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950" spc="-20" dirty="0">
                          <a:latin typeface="Trebuchet MS"/>
                          <a:cs typeface="Trebuchet MS"/>
                        </a:rPr>
                        <a:t>Kunci</a:t>
                      </a:r>
                      <a:r>
                        <a:rPr sz="95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JawabBn</a:t>
                      </a:r>
                      <a:r>
                        <a:rPr sz="95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dirty="0">
                          <a:latin typeface="Trebuchet MS"/>
                          <a:cs typeface="Trebuchet MS"/>
                        </a:rPr>
                        <a:t>UTS</a:t>
                      </a:r>
                      <a:r>
                        <a:rPr sz="950" spc="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950" spc="-50" dirty="0">
                          <a:latin typeface="Trebuchet MS"/>
                          <a:cs typeface="Trebuchet MS"/>
                        </a:rPr>
                        <a:t>B</a:t>
                      </a:r>
                      <a:endParaRPr sz="95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tabLst>
                          <a:tab pos="4027804" algn="l"/>
                        </a:tabLst>
                      </a:pPr>
                      <a:r>
                        <a:rPr sz="850" dirty="0">
                          <a:solidFill>
                            <a:srgbClr val="3A97E9"/>
                          </a:solidFill>
                          <a:latin typeface="Cambria"/>
                          <a:cs typeface="Cambria"/>
                        </a:rPr>
                        <a:t>@</a:t>
                      </a:r>
                      <a:r>
                        <a:rPr sz="850" spc="155" dirty="0">
                          <a:solidFill>
                            <a:srgbClr val="3A97E9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850" spc="-20" dirty="0">
                          <a:latin typeface="Cambria"/>
                          <a:cs typeface="Cambria"/>
                        </a:rPr>
                        <a:t>Done</a:t>
                      </a:r>
                      <a:r>
                        <a:rPr sz="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800" spc="-10" dirty="0">
                          <a:latin typeface="Cambria"/>
                          <a:cs typeface="Cambria"/>
                        </a:rPr>
                        <a:t>My</a:t>
                      </a:r>
                      <a:r>
                        <a:rPr sz="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800" spc="-10" dirty="0">
                          <a:latin typeface="Cambria"/>
                          <a:cs typeface="Cambria"/>
                        </a:rPr>
                        <a:t>Computer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T="147955" marB="0">
                    <a:lnL w="9525">
                      <a:solidFill>
                        <a:srgbClr val="646477"/>
                      </a:solidFill>
                      <a:prstDash val="solid"/>
                    </a:lnL>
                    <a:lnR w="9525">
                      <a:solidFill>
                        <a:srgbClr val="646477"/>
                      </a:solidFill>
                      <a:prstDash val="solid"/>
                    </a:lnR>
                    <a:lnT w="3175">
                      <a:solidFill>
                        <a:srgbClr val="676770"/>
                      </a:solidFill>
                      <a:prstDash val="solid"/>
                    </a:lnT>
                    <a:lnB w="9525">
                      <a:solidFill>
                        <a:srgbClr val="64647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879218" y="7770090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5">
                <a:moveTo>
                  <a:pt x="0" y="207283"/>
                </a:moveTo>
                <a:lnTo>
                  <a:pt x="0" y="0"/>
                </a:lnTo>
              </a:path>
            </a:pathLst>
          </a:custGeom>
          <a:ln w="9144">
            <a:solidFill>
              <a:srgbClr val="003B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715762" y="7770090"/>
            <a:ext cx="1771014" cy="207645"/>
            <a:chOff x="3715762" y="7770090"/>
            <a:chExt cx="1771014" cy="207645"/>
          </a:xfrm>
        </p:grpSpPr>
        <p:sp>
          <p:nvSpPr>
            <p:cNvPr id="10" name="object 10"/>
            <p:cNvSpPr/>
            <p:nvPr/>
          </p:nvSpPr>
          <p:spPr>
            <a:xfrm>
              <a:off x="5482196" y="7770090"/>
              <a:ext cx="0" cy="207645"/>
            </a:xfrm>
            <a:custGeom>
              <a:avLst/>
              <a:gdLst/>
              <a:ahLst/>
              <a:cxnLst/>
              <a:rect l="l" t="t" r="r" b="b"/>
              <a:pathLst>
                <a:path h="207645">
                  <a:moveTo>
                    <a:pt x="0" y="207283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3B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15762" y="7774662"/>
              <a:ext cx="1771014" cy="0"/>
            </a:xfrm>
            <a:custGeom>
              <a:avLst/>
              <a:gdLst/>
              <a:ahLst/>
              <a:cxnLst/>
              <a:rect l="l" t="t" r="r" b="b"/>
              <a:pathLst>
                <a:path w="1771014">
                  <a:moveTo>
                    <a:pt x="0" y="0"/>
                  </a:moveTo>
                  <a:lnTo>
                    <a:pt x="1771006" y="0"/>
                  </a:lnTo>
                </a:path>
              </a:pathLst>
            </a:custGeom>
            <a:ln w="9144">
              <a:solidFill>
                <a:srgbClr val="003B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15762" y="7972801"/>
              <a:ext cx="1771014" cy="0"/>
            </a:xfrm>
            <a:custGeom>
              <a:avLst/>
              <a:gdLst/>
              <a:ahLst/>
              <a:cxnLst/>
              <a:rect l="l" t="t" r="r" b="b"/>
              <a:pathLst>
                <a:path w="1771014">
                  <a:moveTo>
                    <a:pt x="0" y="0"/>
                  </a:moveTo>
                  <a:lnTo>
                    <a:pt x="1771006" y="0"/>
                  </a:lnTo>
                </a:path>
              </a:pathLst>
            </a:custGeom>
            <a:ln w="9144">
              <a:solidFill>
                <a:srgbClr val="003B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234523" y="8466624"/>
            <a:ext cx="5084445" cy="0"/>
          </a:xfrm>
          <a:custGeom>
            <a:avLst/>
            <a:gdLst/>
            <a:ahLst/>
            <a:cxnLst/>
            <a:rect l="l" t="t" r="r" b="b"/>
            <a:pathLst>
              <a:path w="5084445">
                <a:moveTo>
                  <a:pt x="0" y="0"/>
                </a:moveTo>
                <a:lnTo>
                  <a:pt x="508440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594021" y="4252363"/>
            <a:ext cx="2231390" cy="195580"/>
            <a:chOff x="2594021" y="4252363"/>
            <a:chExt cx="2231390" cy="195580"/>
          </a:xfrm>
        </p:grpSpPr>
        <p:sp>
          <p:nvSpPr>
            <p:cNvPr id="15" name="object 15"/>
            <p:cNvSpPr/>
            <p:nvPr/>
          </p:nvSpPr>
          <p:spPr>
            <a:xfrm>
              <a:off x="2594021" y="4252363"/>
              <a:ext cx="2231390" cy="195580"/>
            </a:xfrm>
            <a:custGeom>
              <a:avLst/>
              <a:gdLst/>
              <a:ahLst/>
              <a:cxnLst/>
              <a:rect l="l" t="t" r="r" b="b"/>
              <a:pathLst>
                <a:path w="2231390" h="195579">
                  <a:moveTo>
                    <a:pt x="0" y="4572"/>
                  </a:moveTo>
                  <a:lnTo>
                    <a:pt x="2231136" y="4572"/>
                  </a:lnTo>
                </a:path>
                <a:path w="2231390" h="195579">
                  <a:moveTo>
                    <a:pt x="4572" y="195072"/>
                  </a:moveTo>
                  <a:lnTo>
                    <a:pt x="4572" y="0"/>
                  </a:lnTo>
                </a:path>
              </a:pathLst>
            </a:custGeom>
            <a:ln w="9144">
              <a:solidFill>
                <a:srgbClr val="003B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20735" y="4252363"/>
              <a:ext cx="0" cy="195580"/>
            </a:xfrm>
            <a:custGeom>
              <a:avLst/>
              <a:gdLst/>
              <a:ahLst/>
              <a:cxnLst/>
              <a:rect l="l" t="t" r="r" b="b"/>
              <a:pathLst>
                <a:path h="195579">
                  <a:moveTo>
                    <a:pt x="0" y="195090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3B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5420" y="3456761"/>
            <a:ext cx="1511909" cy="432857"/>
          </a:xfrm>
          <a:prstGeom prst="rect">
            <a:avLst/>
          </a:prstGeom>
        </p:spPr>
      </p:pic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130884" y="1094336"/>
          <a:ext cx="5255260" cy="4239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5260"/>
              </a:tblGrid>
              <a:tr h="264795"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90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D:\bahan</a:t>
                      </a:r>
                      <a:r>
                        <a:rPr sz="900" spc="18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55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ajar\javascript\a0413-</a:t>
                      </a:r>
                      <a:r>
                        <a:rPr sz="900" spc="-25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6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ue.html</a:t>
                      </a:r>
                      <a:r>
                        <a:rPr sz="900" spc="16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sz="900" spc="16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Microsoft</a:t>
                      </a:r>
                      <a:r>
                        <a:rPr sz="900" spc="37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Internet</a:t>
                      </a:r>
                      <a:r>
                        <a:rPr sz="900" spc="28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Expkirer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6675" marB="0">
                    <a:lnL w="9525">
                      <a:solidFill>
                        <a:srgbClr val="676774"/>
                      </a:solidFill>
                      <a:prstDash val="solid"/>
                    </a:lnL>
                    <a:lnR w="9525">
                      <a:solidFill>
                        <a:srgbClr val="676774"/>
                      </a:solidFill>
                      <a:prstDash val="solid"/>
                    </a:lnR>
                    <a:lnT w="9525">
                      <a:solidFill>
                        <a:srgbClr val="676774"/>
                      </a:solidFill>
                      <a:prstDash val="solid"/>
                    </a:lnT>
                    <a:lnB w="9525">
                      <a:solidFill>
                        <a:srgbClr val="676774"/>
                      </a:solidFill>
                      <a:prstDash val="solid"/>
                    </a:lnB>
                  </a:tcPr>
                </a:tc>
              </a:tr>
              <a:tr h="789305"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408305" algn="l"/>
                          <a:tab pos="716280" algn="l"/>
                          <a:tab pos="1047750" algn="l"/>
                          <a:tab pos="1593215" algn="l"/>
                          <a:tab pos="1953260" algn="l"/>
                        </a:tabLst>
                      </a:pPr>
                      <a:r>
                        <a:rPr sz="750" spc="-20" dirty="0">
                          <a:latin typeface="Arial MT"/>
                          <a:cs typeface="Arial MT"/>
                        </a:rPr>
                        <a:t>File</a:t>
                      </a:r>
                      <a:r>
                        <a:rPr sz="75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750" spc="-20" dirty="0">
                          <a:latin typeface="Arial MT"/>
                          <a:cs typeface="Arial MT"/>
                        </a:rPr>
                        <a:t>Edit</a:t>
                      </a:r>
                      <a:r>
                        <a:rPr sz="75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750" spc="-20" dirty="0">
                          <a:latin typeface="Arial MT"/>
                          <a:cs typeface="Arial MT"/>
                        </a:rPr>
                        <a:t>view</a:t>
                      </a:r>
                      <a:r>
                        <a:rPr sz="75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750" spc="-10" dirty="0">
                          <a:latin typeface="Arial MT"/>
                          <a:cs typeface="Arial MT"/>
                        </a:rPr>
                        <a:t>Favorites</a:t>
                      </a:r>
                      <a:r>
                        <a:rPr sz="75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750" spc="-10" dirty="0">
                          <a:latin typeface="Arial MT"/>
                          <a:cs typeface="Arial MT"/>
                        </a:rPr>
                        <a:t>}_ools</a:t>
                      </a:r>
                      <a:r>
                        <a:rPr sz="75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750" spc="-20" dirty="0">
                          <a:latin typeface="Arial MT"/>
                          <a:cs typeface="Arial MT"/>
                        </a:rPr>
                        <a:t>Help</a:t>
                      </a:r>
                      <a:endParaRPr sz="750">
                        <a:latin typeface="Arial MT"/>
                        <a:cs typeface="Arial MT"/>
                      </a:endParaRPr>
                    </a:p>
                    <a:p>
                      <a:pPr marL="363855">
                        <a:lnSpc>
                          <a:spcPct val="100000"/>
                        </a:lnSpc>
                        <a:spcBef>
                          <a:spcPts val="385"/>
                        </a:spcBef>
                        <a:tabLst>
                          <a:tab pos="998855" algn="l"/>
                          <a:tab pos="1917064" algn="l"/>
                          <a:tab pos="2205990" algn="l"/>
                          <a:tab pos="3011805" algn="l"/>
                          <a:tab pos="3688079" algn="l"/>
                        </a:tabLst>
                      </a:pPr>
                      <a:r>
                        <a:rPr sz="850" spc="-20" dirty="0">
                          <a:latin typeface="Cambria"/>
                          <a:cs typeface="Cambria"/>
                        </a:rPr>
                        <a:t>B</a:t>
                      </a:r>
                      <a:r>
                        <a:rPr sz="1000" spc="-2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700" spc="-20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900" spc="-20" dirty="0">
                          <a:latin typeface="Cambria"/>
                          <a:cs typeface="Cambria"/>
                        </a:rPr>
                        <a:t>k</a:t>
                      </a:r>
                      <a:r>
                        <a:rPr sz="9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700" spc="-50" dirty="0">
                          <a:solidFill>
                            <a:srgbClr val="858585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700" dirty="0">
                          <a:solidFill>
                            <a:srgbClr val="858585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700" spc="-484" dirty="0">
                          <a:solidFill>
                            <a:srgbClr val="C4C4C4"/>
                          </a:solidFill>
                          <a:latin typeface="Cambria"/>
                          <a:cs typeface="Cambria"/>
                        </a:rPr>
                        <a:t>p”j</a:t>
                      </a:r>
                      <a:r>
                        <a:rPr sz="1700" dirty="0">
                          <a:solidFill>
                            <a:srgbClr val="C4C4C4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700" spc="-80" dirty="0">
                          <a:solidFill>
                            <a:srgbClr val="AEA8CC"/>
                          </a:solidFill>
                          <a:latin typeface="Cambria"/>
                          <a:cs typeface="Cambria"/>
                        </a:rPr>
                        <a:t>.-</a:t>
                      </a:r>
                      <a:r>
                        <a:rPr sz="1700" spc="-125" dirty="0">
                          <a:solidFill>
                            <a:srgbClr val="7E85AC"/>
                          </a:solidFill>
                          <a:latin typeface="Cambria"/>
                          <a:cs typeface="Cambria"/>
                        </a:rPr>
                        <a:t>!</a:t>
                      </a:r>
                      <a:r>
                        <a:rPr sz="1700" spc="-125" dirty="0">
                          <a:latin typeface="Cambria"/>
                          <a:cs typeface="Cambria"/>
                        </a:rPr>
                        <a:t>S</a:t>
                      </a:r>
                      <a:r>
                        <a:rPr sz="1000" spc="-125" dirty="0">
                          <a:latin typeface="Cambria"/>
                          <a:cs typeface="Cambria"/>
                        </a:rPr>
                        <a:t>ear</a:t>
                      </a:r>
                      <a:r>
                        <a:rPr sz="1700" spc="-125" dirty="0">
                          <a:latin typeface="Cambria"/>
                          <a:cs typeface="Cambria"/>
                        </a:rPr>
                        <a:t>c</a:t>
                      </a:r>
                      <a:r>
                        <a:rPr sz="900" spc="-125" dirty="0">
                          <a:latin typeface="Cambria"/>
                          <a:cs typeface="Cambria"/>
                        </a:rPr>
                        <a:t>h</a:t>
                      </a:r>
                      <a:r>
                        <a:rPr sz="900" spc="2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700" spc="-50" dirty="0">
                          <a:solidFill>
                            <a:srgbClr val="A5750F"/>
                          </a:solidFill>
                          <a:latin typeface="Cambria"/>
                          <a:cs typeface="Cambria"/>
                        </a:rPr>
                        <a:t>’</a:t>
                      </a:r>
                      <a:r>
                        <a:rPr sz="1700" dirty="0">
                          <a:solidFill>
                            <a:srgbClr val="A5750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900" spc="-10" dirty="0">
                          <a:latin typeface="Cambria"/>
                          <a:cs typeface="Cambria"/>
                        </a:rPr>
                        <a:t>F</a:t>
                      </a:r>
                      <a:r>
                        <a:rPr sz="1000" spc="-10" dirty="0">
                          <a:latin typeface="Cambria"/>
                          <a:cs typeface="Cambria"/>
                        </a:rPr>
                        <a:t>a</a:t>
                      </a:r>
                      <a:r>
                        <a:rPr sz="1700" spc="-10" dirty="0">
                          <a:latin typeface="Cambria"/>
                          <a:cs typeface="Cambria"/>
                        </a:rPr>
                        <a:t>vo</a:t>
                      </a:r>
                      <a:r>
                        <a:rPr sz="1000" spc="-10" dirty="0">
                          <a:latin typeface="Cambria"/>
                          <a:cs typeface="Cambria"/>
                        </a:rPr>
                        <a:t>r</a:t>
                      </a:r>
                      <a:r>
                        <a:rPr sz="1700" spc="-10" dirty="0">
                          <a:latin typeface="Cambria"/>
                          <a:cs typeface="Cambria"/>
                        </a:rPr>
                        <a:t>it</a:t>
                      </a:r>
                      <a:r>
                        <a:rPr sz="1000" spc="-10" dirty="0">
                          <a:latin typeface="Cambria"/>
                          <a:cs typeface="Cambria"/>
                        </a:rPr>
                        <a:t>es</a:t>
                      </a:r>
                      <a:r>
                        <a:rPr sz="10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700" spc="-525" dirty="0">
                          <a:solidFill>
                            <a:srgbClr val="858585"/>
                          </a:solidFill>
                          <a:latin typeface="Cambria"/>
                          <a:cs typeface="Cambria"/>
                        </a:rPr>
                        <a:t>}”</a:t>
                      </a:r>
                      <a:endParaRPr sz="1700">
                        <a:latin typeface="Cambria"/>
                        <a:cs typeface="Cambria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674370" algn="l"/>
                          <a:tab pos="3757929" algn="l"/>
                          <a:tab pos="4140200" algn="l"/>
                          <a:tab pos="4460240" algn="l"/>
                        </a:tabLst>
                      </a:pPr>
                      <a:r>
                        <a:rPr sz="850" spc="-10" dirty="0">
                          <a:solidFill>
                            <a:srgbClr val="797979"/>
                          </a:solidFill>
                          <a:latin typeface="Cambria"/>
                          <a:cs typeface="Cambria"/>
                        </a:rPr>
                        <a:t>Address</a:t>
                      </a:r>
                      <a:r>
                        <a:rPr sz="850" dirty="0">
                          <a:solidFill>
                            <a:srgbClr val="797979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850" spc="-45" dirty="0">
                          <a:latin typeface="Cambria"/>
                          <a:cs typeface="Cambria"/>
                        </a:rPr>
                        <a:t>D:\bahan</a:t>
                      </a:r>
                      <a:r>
                        <a:rPr sz="85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850" spc="-45" dirty="0">
                          <a:latin typeface="Cambria"/>
                          <a:cs typeface="Cambria"/>
                        </a:rPr>
                        <a:t>ajar\javascript\a0413</a:t>
                      </a:r>
                      <a:r>
                        <a:rPr sz="850" spc="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850" spc="-10" dirty="0">
                          <a:latin typeface="Cambria"/>
                          <a:cs typeface="Cambria"/>
                        </a:rPr>
                        <a:t>ue.html</a:t>
                      </a:r>
                      <a:r>
                        <a:rPr sz="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275" spc="-37" baseline="3267" dirty="0">
                          <a:solidFill>
                            <a:srgbClr val="3D3D3D"/>
                          </a:solidFill>
                          <a:latin typeface="Cambria"/>
                          <a:cs typeface="Cambria"/>
                        </a:rPr>
                        <a:t>'•’</a:t>
                      </a:r>
                      <a:r>
                        <a:rPr sz="1275" baseline="3267" dirty="0">
                          <a:solidFill>
                            <a:srgbClr val="3D3D3D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1275" spc="-37" baseline="3267" dirty="0">
                          <a:latin typeface="Cambria"/>
                          <a:cs typeface="Cambria"/>
                        </a:rPr>
                        <a:t>Go</a:t>
                      </a:r>
                      <a:r>
                        <a:rPr sz="1275" baseline="3267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1275" spc="-67" baseline="3267" dirty="0">
                          <a:solidFill>
                            <a:srgbClr val="797979"/>
                          </a:solidFill>
                          <a:latin typeface="Cambria"/>
                          <a:cs typeface="Cambria"/>
                        </a:rPr>
                        <a:t>Links</a:t>
                      </a:r>
                      <a:r>
                        <a:rPr sz="1275" spc="419" baseline="3267" dirty="0">
                          <a:solidFill>
                            <a:srgbClr val="79797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75" spc="-75" baseline="3267" dirty="0">
                          <a:latin typeface="Cambria"/>
                          <a:cs typeface="Cambria"/>
                        </a:rPr>
                        <a:t>”</a:t>
                      </a:r>
                      <a:endParaRPr sz="1275" baseline="3267">
                        <a:latin typeface="Cambria"/>
                        <a:cs typeface="Cambria"/>
                      </a:endParaRPr>
                    </a:p>
                  </a:txBody>
                  <a:tcPr marL="0" marR="0" marT="24765" marB="0">
                    <a:lnL w="9525">
                      <a:solidFill>
                        <a:srgbClr val="676774"/>
                      </a:solidFill>
                      <a:prstDash val="solid"/>
                    </a:lnL>
                    <a:lnR w="9525">
                      <a:solidFill>
                        <a:srgbClr val="676774"/>
                      </a:solidFill>
                      <a:prstDash val="solid"/>
                    </a:lnR>
                    <a:lnT w="9525">
                      <a:solidFill>
                        <a:srgbClr val="676774"/>
                      </a:solidFill>
                      <a:prstDash val="solid"/>
                    </a:lnT>
                    <a:lnB w="9525">
                      <a:solidFill>
                        <a:srgbClr val="676774"/>
                      </a:solidFill>
                      <a:prstDash val="solid"/>
                    </a:lnB>
                  </a:tcPr>
                </a:tc>
              </a:tr>
              <a:tr h="3185160">
                <a:tc>
                  <a:txBody>
                    <a:bodyPr/>
                    <a:lstStyle/>
                    <a:p>
                      <a:pPr marR="14732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200" spc="50" dirty="0">
                          <a:latin typeface="Cambria"/>
                          <a:cs typeface="Cambria"/>
                        </a:rPr>
                        <a:t>Latihan</a:t>
                      </a:r>
                      <a:r>
                        <a:rPr sz="1200" spc="1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55" dirty="0">
                          <a:latin typeface="Cambria"/>
                          <a:cs typeface="Cambria"/>
                        </a:rPr>
                        <a:t>Objek</a:t>
                      </a:r>
                      <a:r>
                        <a:rPr sz="12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Document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13906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10" dirty="0">
                          <a:latin typeface="Cambria"/>
                          <a:cs typeface="Cambria"/>
                        </a:rPr>
                        <a:t>Membuka</a:t>
                      </a:r>
                      <a:r>
                        <a:rPr sz="1050" spc="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50" dirty="0">
                          <a:latin typeface="Cambria"/>
                          <a:cs typeface="Cambria"/>
                        </a:rPr>
                        <a:t>Web</a:t>
                      </a:r>
                      <a:r>
                        <a:rPr sz="105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50" dirty="0">
                          <a:latin typeface="Cambria"/>
                          <a:cs typeface="Cambria"/>
                        </a:rPr>
                        <a:t>Page</a:t>
                      </a:r>
                      <a:r>
                        <a:rPr sz="105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50" spc="-70" dirty="0">
                          <a:latin typeface="Cambria"/>
                          <a:cs typeface="Cambria"/>
                        </a:rPr>
                        <a:t>dengan</a:t>
                      </a:r>
                      <a:r>
                        <a:rPr sz="105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50" spc="-50" dirty="0">
                          <a:latin typeface="Cambria"/>
                          <a:cs typeface="Cambria"/>
                        </a:rPr>
                        <a:t>Perintah</a:t>
                      </a:r>
                      <a:r>
                        <a:rPr sz="105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50" spc="-10" dirty="0">
                          <a:latin typeface="Cambria"/>
                          <a:cs typeface="Cambria"/>
                        </a:rPr>
                        <a:t>Window.Location.href</a:t>
                      </a:r>
                      <a:endParaRPr sz="105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R="147955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MENU</a:t>
                      </a:r>
                      <a:r>
                        <a:rPr sz="11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PILIHAN</a:t>
                      </a:r>
                      <a:r>
                        <a:rPr sz="11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DENGAN</a:t>
                      </a:r>
                      <a:r>
                        <a:rPr sz="11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TOMBOL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828800" marR="2104390">
                        <a:lnSpc>
                          <a:spcPct val="93000"/>
                        </a:lnSpc>
                      </a:pPr>
                      <a:r>
                        <a:rPr sz="1000" spc="-45" dirty="0">
                          <a:latin typeface="Cambria"/>
                          <a:cs typeface="Cambria"/>
                        </a:rPr>
                        <a:t>Latihan</a:t>
                      </a:r>
                      <a:r>
                        <a:rPr sz="100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latin typeface="Cambria"/>
                          <a:cs typeface="Cambria"/>
                        </a:rPr>
                        <a:t>Objek</a:t>
                      </a:r>
                      <a:r>
                        <a:rPr sz="100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10" dirty="0">
                          <a:latin typeface="Cambria"/>
                          <a:cs typeface="Cambria"/>
                        </a:rPr>
                        <a:t>RBdio </a:t>
                      </a:r>
                      <a:r>
                        <a:rPr sz="1000" spc="-45" dirty="0">
                          <a:latin typeface="Cambria"/>
                          <a:cs typeface="Cambria"/>
                        </a:rPr>
                        <a:t>Latihan</a:t>
                      </a:r>
                      <a:r>
                        <a:rPr sz="100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10" dirty="0">
                          <a:latin typeface="Cambria"/>
                          <a:cs typeface="Cambria"/>
                        </a:rPr>
                        <a:t>Ob[ek</a:t>
                      </a:r>
                      <a:r>
                        <a:rPr sz="10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10" dirty="0">
                          <a:latin typeface="Cambria"/>
                          <a:cs typeface="Cambria"/>
                        </a:rPr>
                        <a:t>Select </a:t>
                      </a:r>
                      <a:r>
                        <a:rPr sz="1000" spc="-45" dirty="0">
                          <a:latin typeface="Cambria"/>
                          <a:cs typeface="Cambria"/>
                        </a:rPr>
                        <a:t>Latihan</a:t>
                      </a:r>
                      <a:r>
                        <a:rPr sz="10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latin typeface="Cambria"/>
                          <a:cs typeface="Cambria"/>
                        </a:rPr>
                        <a:t>Objek</a:t>
                      </a:r>
                      <a:r>
                        <a:rPr sz="100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latin typeface="Cambria"/>
                          <a:cs typeface="Cambria"/>
                        </a:rPr>
                        <a:t>Teks</a:t>
                      </a:r>
                      <a:r>
                        <a:rPr sz="1000" spc="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20" dirty="0">
                          <a:latin typeface="Cambria"/>
                          <a:cs typeface="Cambria"/>
                        </a:rPr>
                        <a:t>Area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44970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829435" algn="l"/>
                        </a:tabLst>
                      </a:pPr>
                      <a:r>
                        <a:rPr sz="950" spc="-50" dirty="0">
                          <a:solidFill>
                            <a:srgbClr val="6789A3"/>
                          </a:solidFill>
                          <a:latin typeface="Cambria"/>
                          <a:cs typeface="Cambria"/>
                        </a:rPr>
                        <a:t>t</a:t>
                      </a:r>
                      <a:r>
                        <a:rPr sz="950" dirty="0">
                          <a:solidFill>
                            <a:srgbClr val="6789A3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sz="950" spc="-60" dirty="0">
                          <a:latin typeface="Cambria"/>
                          <a:cs typeface="Cambria"/>
                        </a:rPr>
                        <a:t>Go</a:t>
                      </a:r>
                      <a:r>
                        <a:rPr sz="950" spc="30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950" spc="-50" dirty="0">
                          <a:latin typeface="Cambria"/>
                          <a:cs typeface="Cambria"/>
                        </a:rPr>
                        <a:t>To</a:t>
                      </a:r>
                      <a:r>
                        <a:rPr sz="950" spc="3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950" spc="-20" dirty="0">
                          <a:latin typeface="Cambria"/>
                          <a:cs typeface="Cambria"/>
                        </a:rPr>
                        <a:t>Latihan</a:t>
                      </a:r>
                      <a:r>
                        <a:rPr sz="95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950" dirty="0">
                          <a:latin typeface="Cambria"/>
                          <a:cs typeface="Cambria"/>
                        </a:rPr>
                        <a:t>Objek</a:t>
                      </a:r>
                      <a:r>
                        <a:rPr sz="950" spc="-10" dirty="0">
                          <a:latin typeface="Cambria"/>
                          <a:cs typeface="Cambria"/>
                        </a:rPr>
                        <a:t> Select!</a:t>
                      </a:r>
                      <a:endParaRPr sz="95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4070985" algn="l"/>
                        </a:tabLst>
                      </a:pPr>
                      <a:r>
                        <a:rPr sz="850" dirty="0">
                          <a:solidFill>
                            <a:srgbClr val="3197EB"/>
                          </a:solidFill>
                          <a:latin typeface="Cambria"/>
                          <a:cs typeface="Cambria"/>
                        </a:rPr>
                        <a:t>:@</a:t>
                      </a:r>
                      <a:r>
                        <a:rPr sz="850" spc="240" dirty="0">
                          <a:solidFill>
                            <a:srgbClr val="3197EB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850" spc="-20" dirty="0">
                          <a:latin typeface="Cambria"/>
                          <a:cs typeface="Cambria"/>
                        </a:rPr>
                        <a:t>Done</a:t>
                      </a:r>
                      <a:r>
                        <a:rPr sz="85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800" spc="-30" dirty="0">
                          <a:latin typeface="Cambria"/>
                          <a:cs typeface="Cambria"/>
                        </a:rPr>
                        <a:t>My</a:t>
                      </a:r>
                      <a:r>
                        <a:rPr sz="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800" spc="-10" dirty="0">
                          <a:latin typeface="Cambria"/>
                          <a:cs typeface="Cambria"/>
                        </a:rPr>
                        <a:t>Computer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T="111125" marB="0">
                    <a:lnL w="9525">
                      <a:solidFill>
                        <a:srgbClr val="676774"/>
                      </a:solidFill>
                      <a:prstDash val="solid"/>
                    </a:lnL>
                    <a:lnR w="9525">
                      <a:solidFill>
                        <a:srgbClr val="676774"/>
                      </a:solidFill>
                      <a:prstDash val="solid"/>
                    </a:lnR>
                    <a:lnT w="9525">
                      <a:solidFill>
                        <a:srgbClr val="676774"/>
                      </a:solidFill>
                      <a:prstDash val="solid"/>
                    </a:lnT>
                    <a:lnB w="9525">
                      <a:solidFill>
                        <a:srgbClr val="67677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1188799" y="5293355"/>
            <a:ext cx="5179060" cy="0"/>
          </a:xfrm>
          <a:custGeom>
            <a:avLst/>
            <a:gdLst/>
            <a:ahLst/>
            <a:cxnLst/>
            <a:rect l="l" t="t" r="r" b="b"/>
            <a:pathLst>
              <a:path w="5179060">
                <a:moveTo>
                  <a:pt x="0" y="0"/>
                </a:moveTo>
                <a:lnTo>
                  <a:pt x="5178898" y="0"/>
                </a:lnTo>
              </a:path>
            </a:pathLst>
          </a:custGeom>
          <a:ln w="9144">
            <a:solidFill>
              <a:srgbClr val="6464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34523" y="5089119"/>
            <a:ext cx="5099685" cy="0"/>
          </a:xfrm>
          <a:custGeom>
            <a:avLst/>
            <a:gdLst/>
            <a:ahLst/>
            <a:cxnLst/>
            <a:rect l="l" t="t" r="r" b="b"/>
            <a:pathLst>
              <a:path w="5099685">
                <a:moveTo>
                  <a:pt x="0" y="0"/>
                </a:moveTo>
                <a:lnTo>
                  <a:pt x="5099645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94021" y="4442881"/>
            <a:ext cx="2231390" cy="0"/>
          </a:xfrm>
          <a:custGeom>
            <a:avLst/>
            <a:gdLst/>
            <a:ahLst/>
            <a:cxnLst/>
            <a:rect l="l" t="t" r="r" b="b"/>
            <a:pathLst>
              <a:path w="2231390">
                <a:moveTo>
                  <a:pt x="0" y="0"/>
                </a:moveTo>
                <a:lnTo>
                  <a:pt x="2231285" y="0"/>
                </a:lnTo>
              </a:path>
            </a:pathLst>
          </a:custGeom>
          <a:ln w="9144">
            <a:solidFill>
              <a:srgbClr val="003B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767203" y="1312288"/>
            <a:ext cx="186055" cy="0"/>
          </a:xfrm>
          <a:custGeom>
            <a:avLst/>
            <a:gdLst/>
            <a:ahLst/>
            <a:cxnLst/>
            <a:rect l="l" t="t" r="r" b="b"/>
            <a:pathLst>
              <a:path w="186054">
                <a:moveTo>
                  <a:pt x="0" y="0"/>
                </a:moveTo>
                <a:lnTo>
                  <a:pt x="185940" y="0"/>
                </a:lnTo>
              </a:path>
            </a:pathLst>
          </a:custGeom>
          <a:ln w="9144">
            <a:solidFill>
              <a:srgbClr val="875B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5767203" y="1130915"/>
            <a:ext cx="594995" cy="186055"/>
            <a:chOff x="5767203" y="1130915"/>
            <a:chExt cx="594995" cy="186055"/>
          </a:xfrm>
        </p:grpSpPr>
        <p:sp>
          <p:nvSpPr>
            <p:cNvPr id="24" name="object 24"/>
            <p:cNvSpPr/>
            <p:nvPr/>
          </p:nvSpPr>
          <p:spPr>
            <a:xfrm>
              <a:off x="5767203" y="1130915"/>
              <a:ext cx="186055" cy="186055"/>
            </a:xfrm>
            <a:custGeom>
              <a:avLst/>
              <a:gdLst/>
              <a:ahLst/>
              <a:cxnLst/>
              <a:rect l="l" t="t" r="r" b="b"/>
              <a:pathLst>
                <a:path w="186054" h="186055">
                  <a:moveTo>
                    <a:pt x="0" y="4572"/>
                  </a:moveTo>
                  <a:lnTo>
                    <a:pt x="185928" y="4572"/>
                  </a:lnTo>
                </a:path>
                <a:path w="186054" h="186055">
                  <a:moveTo>
                    <a:pt x="4572" y="185928"/>
                  </a:moveTo>
                  <a:lnTo>
                    <a:pt x="4572" y="0"/>
                  </a:lnTo>
                </a:path>
              </a:pathLst>
            </a:custGeom>
            <a:ln w="9144">
              <a:solidFill>
                <a:srgbClr val="875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48572" y="1130915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5">
                  <a:moveTo>
                    <a:pt x="0" y="185945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875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71433" y="1312288"/>
              <a:ext cx="186055" cy="0"/>
            </a:xfrm>
            <a:custGeom>
              <a:avLst/>
              <a:gdLst/>
              <a:ahLst/>
              <a:cxnLst/>
              <a:rect l="l" t="t" r="r" b="b"/>
              <a:pathLst>
                <a:path w="186054">
                  <a:moveTo>
                    <a:pt x="0" y="0"/>
                  </a:moveTo>
                  <a:lnTo>
                    <a:pt x="185940" y="0"/>
                  </a:lnTo>
                </a:path>
              </a:pathLst>
            </a:custGeom>
            <a:ln w="9144">
              <a:solidFill>
                <a:srgbClr val="875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71433" y="1130915"/>
              <a:ext cx="186055" cy="186055"/>
            </a:xfrm>
            <a:custGeom>
              <a:avLst/>
              <a:gdLst/>
              <a:ahLst/>
              <a:cxnLst/>
              <a:rect l="l" t="t" r="r" b="b"/>
              <a:pathLst>
                <a:path w="186054" h="186055">
                  <a:moveTo>
                    <a:pt x="0" y="4572"/>
                  </a:moveTo>
                  <a:lnTo>
                    <a:pt x="185928" y="4572"/>
                  </a:lnTo>
                </a:path>
                <a:path w="186054" h="186055">
                  <a:moveTo>
                    <a:pt x="4572" y="185928"/>
                  </a:moveTo>
                  <a:lnTo>
                    <a:pt x="4572" y="0"/>
                  </a:lnTo>
                </a:path>
              </a:pathLst>
            </a:custGeom>
            <a:ln w="9144">
              <a:solidFill>
                <a:srgbClr val="875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52801" y="1130915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5">
                  <a:moveTo>
                    <a:pt x="0" y="185945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875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75663" y="1293999"/>
              <a:ext cx="186055" cy="0"/>
            </a:xfrm>
            <a:custGeom>
              <a:avLst/>
              <a:gdLst/>
              <a:ahLst/>
              <a:cxnLst/>
              <a:rect l="l" t="t" r="r" b="b"/>
              <a:pathLst>
                <a:path w="186054">
                  <a:moveTo>
                    <a:pt x="0" y="0"/>
                  </a:moveTo>
                  <a:lnTo>
                    <a:pt x="185940" y="0"/>
                  </a:lnTo>
                </a:path>
              </a:pathLst>
            </a:custGeom>
            <a:ln w="9144">
              <a:solidFill>
                <a:srgbClr val="875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75663" y="1130915"/>
              <a:ext cx="186055" cy="168275"/>
            </a:xfrm>
            <a:custGeom>
              <a:avLst/>
              <a:gdLst/>
              <a:ahLst/>
              <a:cxnLst/>
              <a:rect l="l" t="t" r="r" b="b"/>
              <a:pathLst>
                <a:path w="186054" h="168275">
                  <a:moveTo>
                    <a:pt x="0" y="4572"/>
                  </a:moveTo>
                  <a:lnTo>
                    <a:pt x="185928" y="4572"/>
                  </a:lnTo>
                </a:path>
                <a:path w="186054" h="168275">
                  <a:moveTo>
                    <a:pt x="4572" y="167640"/>
                  </a:moveTo>
                  <a:lnTo>
                    <a:pt x="4572" y="0"/>
                  </a:lnTo>
                </a:path>
              </a:pathLst>
            </a:custGeom>
            <a:ln w="9144">
              <a:solidFill>
                <a:srgbClr val="875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57031" y="1130915"/>
              <a:ext cx="0" cy="168275"/>
            </a:xfrm>
            <a:custGeom>
              <a:avLst/>
              <a:gdLst/>
              <a:ahLst/>
              <a:cxnLst/>
              <a:rect l="l" t="t" r="r" b="b"/>
              <a:pathLst>
                <a:path h="168275">
                  <a:moveTo>
                    <a:pt x="0" y="167655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875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7686" y="1185784"/>
            <a:ext cx="542580" cy="97545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9499" y="6255090"/>
            <a:ext cx="2091068" cy="21642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34949" y="1764959"/>
            <a:ext cx="97542" cy="7011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54325" y="1374778"/>
            <a:ext cx="124976" cy="149366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87146" y="4630351"/>
            <a:ext cx="411506" cy="2103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1263</Words>
  <Application>Microsoft Office PowerPoint</Application>
  <PresentationFormat>Custom</PresentationFormat>
  <Paragraphs>287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Objek JavaScript (1)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Objek JavaScript (1)</dc:title>
  <dc:creator>Pramadjaya</dc:creator>
  <cp:lastModifiedBy>Pramadjaya</cp:lastModifiedBy>
  <cp:revision>1</cp:revision>
  <dcterms:created xsi:type="dcterms:W3CDTF">2025-02-18T14:15:46Z</dcterms:created>
  <dcterms:modified xsi:type="dcterms:W3CDTF">2025-02-24T07:15:28Z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2025-02-18T00:00:00Z</vt:filetime>
  </property>
  <property fmtid="{D5CDD505-2E9C-101B-9397-08002B2CF9AE}" pid="5" name="Producer">
    <vt:lpwstr>Microsoft® Word 2010</vt:lpwstr>
  </property>
</Properties>
</file>
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7556500" cy="10693400"/>
  <p:notesSz cx="7556500" cy="106934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51" d="100"/>
          <a:sy n="51" d="100"/>
        </p:scale>
        <p:origin x="-792" y="19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66737" y="3314954"/>
            <a:ext cx="6423025" cy="224561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133475" y="5988304"/>
            <a:ext cx="5289550" cy="2673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2/24/2025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2/24/2025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377825" y="2459482"/>
            <a:ext cx="3287077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3891597" y="2459482"/>
            <a:ext cx="3287077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2/24/2025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2/24/2025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2/24/2025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266695" y="1303273"/>
            <a:ext cx="3693795" cy="57403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128077" y="3452748"/>
            <a:ext cx="5149850" cy="43008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69210" y="9944862"/>
            <a:ext cx="2418080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7825" y="9944862"/>
            <a:ext cx="1737995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2/24/2025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40680" y="9944862"/>
            <a:ext cx="1737995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mailto:irawan@unikom.ac.id" TargetMode="External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16977" y="1453197"/>
            <a:ext cx="869315" cy="701675"/>
          </a:xfrm>
          <a:prstGeom prst="rect">
            <a:avLst/>
          </a:prstGeom>
          <a:solidFill>
            <a:srgbClr val="000000"/>
          </a:solidFill>
        </p:spPr>
        <p:txBody>
          <a:bodyPr vert="horz" wrap="square" lIns="0" tIns="0" rIns="0" bIns="0" rtlCol="0">
            <a:spAutoFit/>
          </a:bodyPr>
          <a:lstStyle/>
          <a:p>
            <a:pPr marL="157480">
              <a:lnSpc>
                <a:spcPts val="5360"/>
              </a:lnSpc>
            </a:pPr>
            <a:r>
              <a:rPr sz="4800" b="1" spc="-25" dirty="0">
                <a:solidFill>
                  <a:srgbClr val="FFFFFF"/>
                </a:solidFill>
                <a:latin typeface="Times New Roman"/>
                <a:cs typeface="Times New Roman"/>
              </a:rPr>
              <a:t>19</a:t>
            </a:r>
            <a:endParaRPr sz="48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Marquee</a:t>
            </a:r>
            <a:r>
              <a:rPr spc="-105" dirty="0"/>
              <a:t> </a:t>
            </a:r>
            <a:r>
              <a:rPr dirty="0"/>
              <a:t>dan</a:t>
            </a:r>
            <a:r>
              <a:rPr spc="-125" dirty="0"/>
              <a:t> </a:t>
            </a:r>
            <a:r>
              <a:rPr spc="-10" dirty="0"/>
              <a:t>Frame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128077" y="2406015"/>
            <a:ext cx="5299710" cy="7289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just">
              <a:lnSpc>
                <a:spcPts val="1390"/>
              </a:lnSpc>
              <a:spcBef>
                <a:spcPts val="100"/>
              </a:spcBef>
            </a:pPr>
            <a:r>
              <a:rPr sz="1200" b="1" spc="-10" dirty="0">
                <a:latin typeface="Times New Roman"/>
                <a:cs typeface="Times New Roman"/>
              </a:rPr>
              <a:t>19.1Membuat</a:t>
            </a:r>
            <a:r>
              <a:rPr sz="1200" b="1" spc="20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Marquee</a:t>
            </a:r>
            <a:endParaRPr sz="1200">
              <a:latin typeface="Times New Roman"/>
              <a:cs typeface="Times New Roman"/>
            </a:endParaRPr>
          </a:p>
          <a:p>
            <a:pPr marL="12700" marR="5080" algn="just">
              <a:lnSpc>
                <a:spcPts val="1380"/>
              </a:lnSpc>
              <a:spcBef>
                <a:spcPts val="45"/>
              </a:spcBef>
            </a:pPr>
            <a:r>
              <a:rPr sz="1200" dirty="0">
                <a:latin typeface="Times New Roman"/>
                <a:cs typeface="Times New Roman"/>
              </a:rPr>
              <a:t>Marquee</a:t>
            </a:r>
            <a:r>
              <a:rPr sz="1200" spc="114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berarti</a:t>
            </a:r>
            <a:r>
              <a:rPr sz="1200" spc="9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teks</a:t>
            </a:r>
            <a:r>
              <a:rPr sz="1200" spc="10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yang</a:t>
            </a:r>
            <a:r>
              <a:rPr sz="1200" spc="9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dapat</a:t>
            </a:r>
            <a:r>
              <a:rPr sz="1200" spc="1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berjalan</a:t>
            </a:r>
            <a:r>
              <a:rPr sz="1200" spc="8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pada</a:t>
            </a:r>
            <a:r>
              <a:rPr sz="1200" spc="114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halaman</a:t>
            </a:r>
            <a:r>
              <a:rPr sz="1200" spc="10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website.</a:t>
            </a:r>
            <a:r>
              <a:rPr sz="1200" spc="9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Terdapat</a:t>
            </a:r>
            <a:r>
              <a:rPr sz="1200" spc="1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2</a:t>
            </a:r>
            <a:r>
              <a:rPr sz="1200" spc="8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macam </a:t>
            </a:r>
            <a:r>
              <a:rPr sz="1200" dirty="0">
                <a:latin typeface="Times New Roman"/>
                <a:cs typeface="Times New Roman"/>
              </a:rPr>
              <a:t>jenis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marquee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yaitu marquee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pada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halaman web dan marquee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pada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status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bar.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Berikut </a:t>
            </a:r>
            <a:r>
              <a:rPr sz="1200" dirty="0">
                <a:latin typeface="Times New Roman"/>
                <a:cs typeface="Times New Roman"/>
              </a:rPr>
              <a:t>ini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adalah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contoh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program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marquee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dengan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menggunakan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JavaScript.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064577" y="3300095"/>
            <a:ext cx="5427345" cy="180340"/>
          </a:xfrm>
          <a:prstGeom prst="rect">
            <a:avLst/>
          </a:prstGeom>
          <a:solidFill>
            <a:srgbClr val="B3B3B3"/>
          </a:solidFill>
        </p:spPr>
        <p:txBody>
          <a:bodyPr vert="horz" wrap="square" lIns="0" tIns="0" rIns="0" bIns="0" rtlCol="0">
            <a:spAutoFit/>
          </a:bodyPr>
          <a:lstStyle/>
          <a:p>
            <a:pPr marL="78740">
              <a:lnSpc>
                <a:spcPts val="1400"/>
              </a:lnSpc>
            </a:pPr>
            <a:r>
              <a:rPr sz="1200" b="1" dirty="0">
                <a:latin typeface="Times New Roman"/>
                <a:cs typeface="Times New Roman"/>
              </a:rPr>
              <a:t>Contoh</a:t>
            </a:r>
            <a:r>
              <a:rPr sz="1200" b="1" spc="-4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Program</a:t>
            </a:r>
            <a:r>
              <a:rPr sz="1200" b="1" spc="-40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JavaScript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128077" y="3452748"/>
            <a:ext cx="5149850" cy="43008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10" dirty="0">
                <a:latin typeface="Courier New"/>
                <a:cs typeface="Courier New"/>
              </a:rPr>
              <a:t>&lt;html&gt;</a:t>
            </a:r>
            <a:endParaRPr sz="1000">
              <a:latin typeface="Courier New"/>
              <a:cs typeface="Courier New"/>
            </a:endParaRPr>
          </a:p>
          <a:p>
            <a:pPr marL="12700">
              <a:lnSpc>
                <a:spcPts val="1160"/>
              </a:lnSpc>
            </a:pPr>
            <a:r>
              <a:rPr sz="1000" spc="-10" dirty="0">
                <a:latin typeface="Courier New"/>
                <a:cs typeface="Courier New"/>
              </a:rPr>
              <a:t>&lt;Head&gt;</a:t>
            </a:r>
            <a:endParaRPr sz="1000">
              <a:latin typeface="Courier New"/>
              <a:cs typeface="Courier New"/>
            </a:endParaRPr>
          </a:p>
          <a:p>
            <a:pPr marL="12700">
              <a:lnSpc>
                <a:spcPts val="1100"/>
              </a:lnSpc>
            </a:pPr>
            <a:r>
              <a:rPr sz="1000" spc="-10" dirty="0">
                <a:latin typeface="Courier New"/>
                <a:cs typeface="Courier New"/>
              </a:rPr>
              <a:t>&lt;Title&gt;membuat</a:t>
            </a:r>
            <a:endParaRPr sz="1000">
              <a:latin typeface="Courier New"/>
              <a:cs typeface="Courier New"/>
            </a:endParaRPr>
          </a:p>
          <a:p>
            <a:pPr marL="12700">
              <a:lnSpc>
                <a:spcPts val="1100"/>
              </a:lnSpc>
            </a:pPr>
            <a:r>
              <a:rPr sz="1000" dirty="0">
                <a:latin typeface="Courier New"/>
                <a:cs typeface="Courier New"/>
              </a:rPr>
              <a:t>Marquee</a:t>
            </a:r>
            <a:r>
              <a:rPr sz="1000" spc="-65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Pada</a:t>
            </a:r>
            <a:r>
              <a:rPr sz="1000" spc="-7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Status</a:t>
            </a:r>
            <a:r>
              <a:rPr sz="1000" spc="-40" dirty="0">
                <a:latin typeface="Courier New"/>
                <a:cs typeface="Courier New"/>
              </a:rPr>
              <a:t> </a:t>
            </a:r>
            <a:r>
              <a:rPr sz="1000" spc="-10" dirty="0">
                <a:latin typeface="Courier New"/>
                <a:cs typeface="Courier New"/>
              </a:rPr>
              <a:t>bar&lt;/Title&gt;</a:t>
            </a:r>
            <a:endParaRPr sz="1000">
              <a:latin typeface="Courier New"/>
              <a:cs typeface="Courier New"/>
            </a:endParaRPr>
          </a:p>
          <a:p>
            <a:pPr marL="12700">
              <a:lnSpc>
                <a:spcPts val="1130"/>
              </a:lnSpc>
            </a:pPr>
            <a:r>
              <a:rPr sz="1000" spc="-10" dirty="0">
                <a:latin typeface="Courier New"/>
                <a:cs typeface="Courier New"/>
              </a:rPr>
              <a:t>&lt;/head&gt;</a:t>
            </a:r>
            <a:endParaRPr sz="1000">
              <a:latin typeface="Courier New"/>
              <a:cs typeface="Courier New"/>
            </a:endParaRPr>
          </a:p>
          <a:p>
            <a:pPr marL="12700">
              <a:lnSpc>
                <a:spcPts val="1140"/>
              </a:lnSpc>
            </a:pPr>
            <a:r>
              <a:rPr sz="1000" dirty="0">
                <a:latin typeface="Courier New"/>
                <a:cs typeface="Courier New"/>
              </a:rPr>
              <a:t>&lt;body</a:t>
            </a:r>
            <a:r>
              <a:rPr sz="1000" spc="-40" dirty="0">
                <a:latin typeface="Courier New"/>
                <a:cs typeface="Courier New"/>
              </a:rPr>
              <a:t> </a:t>
            </a:r>
            <a:r>
              <a:rPr sz="1000" spc="-10" dirty="0">
                <a:latin typeface="Courier New"/>
                <a:cs typeface="Courier New"/>
              </a:rPr>
              <a:t>bgcolor="lightblue"&gt;&lt;center&gt;</a:t>
            </a:r>
            <a:endParaRPr sz="1000">
              <a:latin typeface="Courier New"/>
              <a:cs typeface="Courier New"/>
            </a:endParaRPr>
          </a:p>
          <a:p>
            <a:pPr marL="12700" marR="888365" indent="76200">
              <a:lnSpc>
                <a:spcPts val="1140"/>
              </a:lnSpc>
              <a:spcBef>
                <a:spcPts val="55"/>
              </a:spcBef>
            </a:pPr>
            <a:r>
              <a:rPr sz="1000" dirty="0">
                <a:latin typeface="Courier New"/>
                <a:cs typeface="Courier New"/>
              </a:rPr>
              <a:t>&lt;p&gt;&lt;font</a:t>
            </a:r>
            <a:r>
              <a:rPr sz="1000" spc="-11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color="orange"</a:t>
            </a:r>
            <a:r>
              <a:rPr sz="1000" spc="-105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size="5"&gt;Latihan</a:t>
            </a:r>
            <a:r>
              <a:rPr sz="1000" spc="-10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Marquee</a:t>
            </a:r>
            <a:r>
              <a:rPr sz="1000" spc="-105" dirty="0">
                <a:latin typeface="Courier New"/>
                <a:cs typeface="Courier New"/>
              </a:rPr>
              <a:t> </a:t>
            </a:r>
            <a:r>
              <a:rPr sz="1000" spc="-10" dirty="0">
                <a:latin typeface="Courier New"/>
                <a:cs typeface="Courier New"/>
              </a:rPr>
              <a:t>Dengan JavaScript&lt;/p&gt;</a:t>
            </a:r>
            <a:endParaRPr sz="1000">
              <a:latin typeface="Courier New"/>
              <a:cs typeface="Courier New"/>
            </a:endParaRPr>
          </a:p>
          <a:p>
            <a:pPr marL="12700">
              <a:lnSpc>
                <a:spcPts val="1090"/>
              </a:lnSpc>
            </a:pPr>
            <a:r>
              <a:rPr sz="1000" dirty="0">
                <a:latin typeface="Courier New"/>
                <a:cs typeface="Courier New"/>
              </a:rPr>
              <a:t>&lt;body</a:t>
            </a:r>
            <a:r>
              <a:rPr sz="1000" spc="-40" dirty="0">
                <a:latin typeface="Courier New"/>
                <a:cs typeface="Courier New"/>
              </a:rPr>
              <a:t> </a:t>
            </a:r>
            <a:r>
              <a:rPr sz="1000" spc="-10" dirty="0">
                <a:latin typeface="Courier New"/>
                <a:cs typeface="Courier New"/>
              </a:rPr>
              <a:t>onload="p()"&gt;</a:t>
            </a:r>
            <a:endParaRPr sz="1000">
              <a:latin typeface="Courier New"/>
              <a:cs typeface="Courier New"/>
            </a:endParaRPr>
          </a:p>
          <a:p>
            <a:pPr marL="12700">
              <a:lnSpc>
                <a:spcPts val="1100"/>
              </a:lnSpc>
            </a:pPr>
            <a:r>
              <a:rPr sz="1000" dirty="0">
                <a:latin typeface="Courier New"/>
                <a:cs typeface="Courier New"/>
              </a:rPr>
              <a:t>&lt;script</a:t>
            </a:r>
            <a:r>
              <a:rPr sz="1000" spc="-70" dirty="0">
                <a:latin typeface="Courier New"/>
                <a:cs typeface="Courier New"/>
              </a:rPr>
              <a:t> </a:t>
            </a:r>
            <a:r>
              <a:rPr sz="1000" spc="-10" dirty="0">
                <a:latin typeface="Courier New"/>
                <a:cs typeface="Courier New"/>
              </a:rPr>
              <a:t>languange="JavaScript"&gt;</a:t>
            </a:r>
            <a:endParaRPr sz="1000">
              <a:latin typeface="Courier New"/>
              <a:cs typeface="Courier New"/>
            </a:endParaRPr>
          </a:p>
          <a:p>
            <a:pPr marL="12700" marR="2028825">
              <a:lnSpc>
                <a:spcPts val="1140"/>
              </a:lnSpc>
              <a:spcBef>
                <a:spcPts val="50"/>
              </a:spcBef>
            </a:pPr>
            <a:r>
              <a:rPr sz="1000" dirty="0">
                <a:latin typeface="Courier New"/>
                <a:cs typeface="Courier New"/>
              </a:rPr>
              <a:t>var</a:t>
            </a:r>
            <a:r>
              <a:rPr sz="1000" spc="-7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pesan</a:t>
            </a:r>
            <a:r>
              <a:rPr sz="1000" spc="-75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="Hallo</a:t>
            </a:r>
            <a:r>
              <a:rPr sz="1000" spc="-7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Friend...Apa</a:t>
            </a:r>
            <a:r>
              <a:rPr sz="1000" spc="-7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Khabar?</a:t>
            </a:r>
            <a:r>
              <a:rPr sz="1000" spc="-65" dirty="0">
                <a:latin typeface="Courier New"/>
                <a:cs typeface="Courier New"/>
              </a:rPr>
              <a:t> </a:t>
            </a:r>
            <a:r>
              <a:rPr sz="1000" spc="-25" dirty="0">
                <a:latin typeface="Courier New"/>
                <a:cs typeface="Courier New"/>
              </a:rPr>
              <a:t>"; </a:t>
            </a:r>
            <a:r>
              <a:rPr sz="1000" dirty="0">
                <a:latin typeface="Courier New"/>
                <a:cs typeface="Courier New"/>
              </a:rPr>
              <a:t>var</a:t>
            </a:r>
            <a:r>
              <a:rPr sz="1000" spc="-35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pesan2</a:t>
            </a:r>
            <a:r>
              <a:rPr sz="1000" spc="-25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="Welcome</a:t>
            </a:r>
            <a:r>
              <a:rPr sz="1000" spc="-25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To</a:t>
            </a:r>
            <a:r>
              <a:rPr sz="1000" spc="-25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My</a:t>
            </a:r>
            <a:r>
              <a:rPr sz="1000" spc="-25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website</a:t>
            </a:r>
            <a:r>
              <a:rPr sz="1000" spc="-20" dirty="0">
                <a:latin typeface="Courier New"/>
                <a:cs typeface="Courier New"/>
              </a:rPr>
              <a:t> </a:t>
            </a:r>
            <a:r>
              <a:rPr sz="1000" spc="-25" dirty="0">
                <a:latin typeface="Courier New"/>
                <a:cs typeface="Courier New"/>
              </a:rPr>
              <a:t>"; </a:t>
            </a:r>
            <a:r>
              <a:rPr sz="1000" dirty="0">
                <a:latin typeface="Courier New"/>
                <a:cs typeface="Courier New"/>
              </a:rPr>
              <a:t>function</a:t>
            </a:r>
            <a:r>
              <a:rPr sz="1000" spc="-40" dirty="0">
                <a:latin typeface="Courier New"/>
                <a:cs typeface="Courier New"/>
              </a:rPr>
              <a:t> </a:t>
            </a:r>
            <a:r>
              <a:rPr sz="1000" spc="-25" dirty="0">
                <a:latin typeface="Courier New"/>
                <a:cs typeface="Courier New"/>
              </a:rPr>
              <a:t>p()</a:t>
            </a:r>
            <a:endParaRPr sz="1000">
              <a:latin typeface="Courier New"/>
              <a:cs typeface="Courier New"/>
            </a:endParaRPr>
          </a:p>
          <a:p>
            <a:pPr marL="12700">
              <a:lnSpc>
                <a:spcPts val="1090"/>
              </a:lnSpc>
            </a:pPr>
            <a:r>
              <a:rPr sz="1000" spc="-50" dirty="0">
                <a:latin typeface="Courier New"/>
                <a:cs typeface="Courier New"/>
              </a:rPr>
              <a:t>{</a:t>
            </a:r>
            <a:endParaRPr sz="1000">
              <a:latin typeface="Courier New"/>
              <a:cs typeface="Courier New"/>
            </a:endParaRPr>
          </a:p>
          <a:p>
            <a:pPr marL="88900" marR="780415">
              <a:lnSpc>
                <a:spcPct val="94400"/>
              </a:lnSpc>
              <a:spcBef>
                <a:spcPts val="10"/>
              </a:spcBef>
            </a:pPr>
            <a:r>
              <a:rPr sz="1000" spc="-10" dirty="0">
                <a:latin typeface="Courier New"/>
                <a:cs typeface="Courier New"/>
              </a:rPr>
              <a:t>document.basis.kotak.value=pesan; pesan=pesan.substr(1,pesan.length)+pesan.substr(0,1); </a:t>
            </a:r>
            <a:r>
              <a:rPr sz="1000" spc="-20" dirty="0">
                <a:latin typeface="Courier New"/>
                <a:cs typeface="Courier New"/>
              </a:rPr>
              <a:t>pesan2=pesan2.substr(1,pesan2.length)+pesan2.substr(0,1); </a:t>
            </a:r>
            <a:r>
              <a:rPr sz="1000" spc="-10" dirty="0">
                <a:latin typeface="Courier New"/>
                <a:cs typeface="Courier New"/>
              </a:rPr>
              <a:t>window.status=pesan2;</a:t>
            </a:r>
            <a:endParaRPr sz="1000">
              <a:latin typeface="Courier New"/>
              <a:cs typeface="Courier New"/>
            </a:endParaRPr>
          </a:p>
          <a:p>
            <a:pPr marL="88900">
              <a:lnSpc>
                <a:spcPts val="1120"/>
              </a:lnSpc>
            </a:pPr>
            <a:r>
              <a:rPr sz="1000" spc="-10" dirty="0">
                <a:latin typeface="Courier New"/>
                <a:cs typeface="Courier New"/>
              </a:rPr>
              <a:t>setTimeout("p()",100);</a:t>
            </a:r>
            <a:endParaRPr sz="1000">
              <a:latin typeface="Courier New"/>
              <a:cs typeface="Courier New"/>
            </a:endParaRPr>
          </a:p>
          <a:p>
            <a:pPr marL="88900">
              <a:lnSpc>
                <a:spcPts val="1110"/>
              </a:lnSpc>
            </a:pPr>
            <a:r>
              <a:rPr sz="1000" spc="-50" dirty="0">
                <a:latin typeface="Courier New"/>
                <a:cs typeface="Courier New"/>
              </a:rPr>
              <a:t>}</a:t>
            </a:r>
            <a:endParaRPr sz="1000">
              <a:latin typeface="Courier New"/>
              <a:cs typeface="Courier New"/>
            </a:endParaRPr>
          </a:p>
          <a:p>
            <a:pPr marL="88900">
              <a:lnSpc>
                <a:spcPts val="1160"/>
              </a:lnSpc>
            </a:pPr>
            <a:r>
              <a:rPr sz="1000" spc="-10" dirty="0">
                <a:latin typeface="Courier New"/>
                <a:cs typeface="Courier New"/>
              </a:rPr>
              <a:t>&lt;/script&gt;</a:t>
            </a:r>
            <a:endParaRPr sz="1000">
              <a:latin typeface="Courier New"/>
              <a:cs typeface="Courier New"/>
            </a:endParaRPr>
          </a:p>
          <a:p>
            <a:pPr marL="164465">
              <a:lnSpc>
                <a:spcPts val="1160"/>
              </a:lnSpc>
            </a:pPr>
            <a:r>
              <a:rPr sz="1000" dirty="0">
                <a:latin typeface="Courier New"/>
                <a:cs typeface="Courier New"/>
              </a:rPr>
              <a:t>&lt;form</a:t>
            </a:r>
            <a:r>
              <a:rPr sz="1000" spc="-8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method="post"</a:t>
            </a:r>
            <a:r>
              <a:rPr sz="1000" spc="-80" dirty="0">
                <a:latin typeface="Courier New"/>
                <a:cs typeface="Courier New"/>
              </a:rPr>
              <a:t> </a:t>
            </a:r>
            <a:r>
              <a:rPr sz="1000" spc="-10" dirty="0">
                <a:latin typeface="Courier New"/>
                <a:cs typeface="Courier New"/>
              </a:rPr>
              <a:t>name="basis"&gt;</a:t>
            </a:r>
            <a:endParaRPr sz="1000">
              <a:latin typeface="Courier New"/>
              <a:cs typeface="Courier New"/>
            </a:endParaRPr>
          </a:p>
          <a:p>
            <a:pPr marL="88900">
              <a:lnSpc>
                <a:spcPts val="1100"/>
              </a:lnSpc>
            </a:pPr>
            <a:r>
              <a:rPr sz="1000" dirty="0">
                <a:latin typeface="Courier New"/>
                <a:cs typeface="Courier New"/>
              </a:rPr>
              <a:t>&lt;input</a:t>
            </a:r>
            <a:r>
              <a:rPr sz="1000" spc="-105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type="text"</a:t>
            </a:r>
            <a:r>
              <a:rPr sz="1000" spc="-105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name="kotak"</a:t>
            </a:r>
            <a:r>
              <a:rPr sz="1000" spc="-80" dirty="0">
                <a:latin typeface="Courier New"/>
                <a:cs typeface="Courier New"/>
              </a:rPr>
              <a:t> </a:t>
            </a:r>
            <a:r>
              <a:rPr sz="1000" spc="-10" dirty="0">
                <a:latin typeface="Courier New"/>
                <a:cs typeface="Courier New"/>
              </a:rPr>
              <a:t>size=20&gt;</a:t>
            </a:r>
            <a:endParaRPr sz="1000">
              <a:latin typeface="Courier New"/>
              <a:cs typeface="Courier New"/>
            </a:endParaRPr>
          </a:p>
          <a:p>
            <a:pPr marL="88900">
              <a:lnSpc>
                <a:spcPts val="1100"/>
              </a:lnSpc>
            </a:pPr>
            <a:r>
              <a:rPr sz="1000" spc="-10" dirty="0">
                <a:latin typeface="Courier New"/>
                <a:cs typeface="Courier New"/>
              </a:rPr>
              <a:t>&lt;/form&gt;</a:t>
            </a:r>
            <a:endParaRPr sz="1000">
              <a:latin typeface="Courier New"/>
              <a:cs typeface="Courier New"/>
            </a:endParaRPr>
          </a:p>
          <a:p>
            <a:pPr marL="12700">
              <a:lnSpc>
                <a:spcPts val="1140"/>
              </a:lnSpc>
            </a:pPr>
            <a:r>
              <a:rPr sz="1000" spc="-10" dirty="0">
                <a:latin typeface="Courier New"/>
                <a:cs typeface="Courier New"/>
              </a:rPr>
              <a:t>&lt;/body&gt;</a:t>
            </a:r>
            <a:endParaRPr sz="1000">
              <a:latin typeface="Courier New"/>
              <a:cs typeface="Courier New"/>
            </a:endParaRPr>
          </a:p>
          <a:p>
            <a:pPr marL="12700">
              <a:lnSpc>
                <a:spcPts val="1170"/>
              </a:lnSpc>
            </a:pPr>
            <a:r>
              <a:rPr sz="1000" spc="-10" dirty="0">
                <a:latin typeface="Courier New"/>
                <a:cs typeface="Courier New"/>
              </a:rPr>
              <a:t>&lt;/html&gt;</a:t>
            </a:r>
            <a:endParaRPr sz="10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280"/>
              </a:spcBef>
            </a:pPr>
            <a:endParaRPr sz="1000">
              <a:latin typeface="Courier New"/>
              <a:cs typeface="Courier New"/>
            </a:endParaRPr>
          </a:p>
          <a:p>
            <a:pPr marL="12700" marR="5080">
              <a:lnSpc>
                <a:spcPts val="1380"/>
              </a:lnSpc>
            </a:pPr>
            <a:r>
              <a:rPr sz="1200" dirty="0">
                <a:latin typeface="Times New Roman"/>
                <a:cs typeface="Times New Roman"/>
              </a:rPr>
              <a:t>Dengan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program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tersebut</a:t>
            </a:r>
            <a:r>
              <a:rPr sz="1200" spc="-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marquee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dapat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dibuat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didalam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halaman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web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maupun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pada </a:t>
            </a:r>
            <a:r>
              <a:rPr sz="1200" dirty="0">
                <a:latin typeface="Times New Roman"/>
                <a:cs typeface="Times New Roman"/>
              </a:rPr>
              <a:t>status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bar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yang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terletak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dibawah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halaman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web.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2283460" y="2004060"/>
            <a:ext cx="4343400" cy="0"/>
          </a:xfrm>
          <a:custGeom>
            <a:avLst/>
            <a:gdLst/>
            <a:ahLst/>
            <a:cxnLst/>
            <a:rect l="l" t="t" r="r" b="b"/>
            <a:pathLst>
              <a:path w="4343400">
                <a:moveTo>
                  <a:pt x="0" y="0"/>
                </a:moveTo>
                <a:lnTo>
                  <a:pt x="4343399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28077" y="4105528"/>
            <a:ext cx="5302250" cy="1255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just">
              <a:lnSpc>
                <a:spcPts val="1390"/>
              </a:lnSpc>
              <a:spcBef>
                <a:spcPts val="100"/>
              </a:spcBef>
            </a:pPr>
            <a:r>
              <a:rPr sz="1200" b="1" spc="-10" dirty="0">
                <a:latin typeface="Times New Roman"/>
                <a:cs typeface="Times New Roman"/>
              </a:rPr>
              <a:t>19.2Membuat</a:t>
            </a:r>
            <a:r>
              <a:rPr sz="1200" b="1" spc="20" dirty="0">
                <a:latin typeface="Times New Roman"/>
                <a:cs typeface="Times New Roman"/>
              </a:rPr>
              <a:t> </a:t>
            </a:r>
            <a:r>
              <a:rPr sz="1200" b="1" spc="-20" dirty="0">
                <a:latin typeface="Times New Roman"/>
                <a:cs typeface="Times New Roman"/>
              </a:rPr>
              <a:t>Frame</a:t>
            </a:r>
            <a:endParaRPr sz="1200">
              <a:latin typeface="Times New Roman"/>
              <a:cs typeface="Times New Roman"/>
            </a:endParaRPr>
          </a:p>
          <a:p>
            <a:pPr marL="12700" marR="5080" algn="just">
              <a:lnSpc>
                <a:spcPct val="95900"/>
              </a:lnSpc>
              <a:spcBef>
                <a:spcPts val="10"/>
              </a:spcBef>
            </a:pPr>
            <a:r>
              <a:rPr sz="1200" dirty="0">
                <a:latin typeface="Times New Roman"/>
                <a:cs typeface="Times New Roman"/>
              </a:rPr>
              <a:t>Frame</a:t>
            </a:r>
            <a:r>
              <a:rPr sz="1200" spc="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digunakan</a:t>
            </a:r>
            <a:r>
              <a:rPr sz="1200" spc="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untuk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memisahkan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beberapa</a:t>
            </a:r>
            <a:r>
              <a:rPr sz="1200" spc="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halaman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web</a:t>
            </a:r>
            <a:r>
              <a:rPr sz="1200" spc="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yang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ditampilkan</a:t>
            </a:r>
            <a:r>
              <a:rPr sz="1200" spc="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dalam </a:t>
            </a:r>
            <a:r>
              <a:rPr sz="1200" dirty="0">
                <a:latin typeface="Times New Roman"/>
                <a:cs typeface="Times New Roman"/>
              </a:rPr>
              <a:t>suatu</a:t>
            </a:r>
            <a:r>
              <a:rPr sz="1200" spc="9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halaman</a:t>
            </a:r>
            <a:r>
              <a:rPr sz="1200" spc="9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web.</a:t>
            </a:r>
            <a:r>
              <a:rPr sz="1200" spc="9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Penggunaan</a:t>
            </a:r>
            <a:r>
              <a:rPr sz="1200" spc="9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frame</a:t>
            </a:r>
            <a:r>
              <a:rPr sz="1200" spc="10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biasa</a:t>
            </a:r>
            <a:r>
              <a:rPr sz="1200" spc="10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diperuntukkan</a:t>
            </a:r>
            <a:r>
              <a:rPr sz="1200" spc="9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untuk</a:t>
            </a:r>
            <a:r>
              <a:rPr sz="1200" spc="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memuat</a:t>
            </a:r>
            <a:r>
              <a:rPr sz="1200" spc="10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halaman </a:t>
            </a:r>
            <a:r>
              <a:rPr sz="1200" dirty="0">
                <a:latin typeface="Times New Roman"/>
                <a:cs typeface="Times New Roman"/>
              </a:rPr>
              <a:t>yang</a:t>
            </a:r>
            <a:r>
              <a:rPr sz="1200" spc="3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selalu</a:t>
            </a:r>
            <a:r>
              <a:rPr sz="1200" spc="3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diakses</a:t>
            </a:r>
            <a:r>
              <a:rPr sz="1200" spc="3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misal</a:t>
            </a:r>
            <a:r>
              <a:rPr sz="1200" spc="3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halaman</a:t>
            </a:r>
            <a:r>
              <a:rPr sz="1200" spc="3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menu.</a:t>
            </a:r>
            <a:r>
              <a:rPr sz="1200" spc="3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Berikut</a:t>
            </a:r>
            <a:r>
              <a:rPr sz="1200" spc="3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adalah</a:t>
            </a:r>
            <a:r>
              <a:rPr sz="1200" spc="3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contoh</a:t>
            </a:r>
            <a:r>
              <a:rPr sz="1200" spc="3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program</a:t>
            </a:r>
            <a:r>
              <a:rPr sz="1200" spc="370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yang </a:t>
            </a:r>
            <a:r>
              <a:rPr sz="1200" spc="-10" dirty="0">
                <a:latin typeface="Times New Roman"/>
                <a:cs typeface="Times New Roman"/>
              </a:rPr>
              <a:t>menggunakan</a:t>
            </a:r>
            <a:r>
              <a:rPr sz="1200" spc="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frame.</a:t>
            </a:r>
            <a:endParaRPr sz="1200">
              <a:latin typeface="Times New Roman"/>
              <a:cs typeface="Times New Roman"/>
            </a:endParaRPr>
          </a:p>
          <a:p>
            <a:pPr marL="12700" algn="just">
              <a:lnSpc>
                <a:spcPct val="100000"/>
              </a:lnSpc>
              <a:spcBef>
                <a:spcPts val="1320"/>
              </a:spcBef>
            </a:pPr>
            <a:r>
              <a:rPr sz="1200" spc="-10" dirty="0">
                <a:latin typeface="Times New Roman"/>
                <a:cs typeface="Times New Roman"/>
              </a:rPr>
              <a:t>Halaman UTAMA.HTML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64577" y="5350509"/>
            <a:ext cx="5427345" cy="180340"/>
          </a:xfrm>
          <a:prstGeom prst="rect">
            <a:avLst/>
          </a:prstGeom>
          <a:solidFill>
            <a:srgbClr val="B3B3B3"/>
          </a:solidFill>
        </p:spPr>
        <p:txBody>
          <a:bodyPr vert="horz" wrap="square" lIns="0" tIns="0" rIns="0" bIns="0" rtlCol="0">
            <a:spAutoFit/>
          </a:bodyPr>
          <a:lstStyle/>
          <a:p>
            <a:pPr marL="78740">
              <a:lnSpc>
                <a:spcPts val="1400"/>
              </a:lnSpc>
            </a:pPr>
            <a:r>
              <a:rPr sz="1200" b="1" dirty="0">
                <a:latin typeface="Times New Roman"/>
                <a:cs typeface="Times New Roman"/>
              </a:rPr>
              <a:t>Contoh</a:t>
            </a:r>
            <a:r>
              <a:rPr sz="1200" b="1" spc="-4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Program</a:t>
            </a:r>
            <a:r>
              <a:rPr sz="1200" b="1" spc="-40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JavaScript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28077" y="5507990"/>
            <a:ext cx="2589530" cy="1671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1170"/>
              </a:lnSpc>
              <a:spcBef>
                <a:spcPts val="100"/>
              </a:spcBef>
            </a:pPr>
            <a:r>
              <a:rPr sz="1000" spc="-10" dirty="0">
                <a:latin typeface="Courier New"/>
                <a:cs typeface="Courier New"/>
              </a:rPr>
              <a:t>&lt;html&gt;</a:t>
            </a:r>
            <a:endParaRPr sz="1000">
              <a:latin typeface="Courier New"/>
              <a:cs typeface="Courier New"/>
            </a:endParaRPr>
          </a:p>
          <a:p>
            <a:pPr marL="12700">
              <a:lnSpc>
                <a:spcPts val="1100"/>
              </a:lnSpc>
            </a:pPr>
            <a:r>
              <a:rPr sz="1000" spc="-10" dirty="0">
                <a:latin typeface="Courier New"/>
                <a:cs typeface="Courier New"/>
              </a:rPr>
              <a:t>&lt;Head&gt;</a:t>
            </a:r>
            <a:endParaRPr sz="1000">
              <a:latin typeface="Courier New"/>
              <a:cs typeface="Courier New"/>
            </a:endParaRPr>
          </a:p>
          <a:p>
            <a:pPr marL="12700">
              <a:lnSpc>
                <a:spcPts val="1100"/>
              </a:lnSpc>
            </a:pPr>
            <a:r>
              <a:rPr sz="1000" dirty="0">
                <a:latin typeface="Courier New"/>
                <a:cs typeface="Courier New"/>
              </a:rPr>
              <a:t>&lt;Title&gt;Latihan</a:t>
            </a:r>
            <a:r>
              <a:rPr sz="1000" spc="-140" dirty="0">
                <a:latin typeface="Courier New"/>
                <a:cs typeface="Courier New"/>
              </a:rPr>
              <a:t> </a:t>
            </a:r>
            <a:r>
              <a:rPr sz="1000" spc="-10" dirty="0">
                <a:latin typeface="Courier New"/>
                <a:cs typeface="Courier New"/>
              </a:rPr>
              <a:t>Frame&lt;/Title&gt;</a:t>
            </a:r>
            <a:endParaRPr sz="1000">
              <a:latin typeface="Courier New"/>
              <a:cs typeface="Courier New"/>
            </a:endParaRPr>
          </a:p>
          <a:p>
            <a:pPr marL="12700">
              <a:lnSpc>
                <a:spcPts val="1140"/>
              </a:lnSpc>
            </a:pPr>
            <a:r>
              <a:rPr sz="1000" spc="-10" dirty="0">
                <a:latin typeface="Courier New"/>
                <a:cs typeface="Courier New"/>
              </a:rPr>
              <a:t>&lt;/head&gt;</a:t>
            </a:r>
            <a:endParaRPr sz="1000">
              <a:latin typeface="Courier New"/>
              <a:cs typeface="Courier New"/>
            </a:endParaRPr>
          </a:p>
          <a:p>
            <a:pPr marL="12700">
              <a:lnSpc>
                <a:spcPts val="1160"/>
              </a:lnSpc>
            </a:pPr>
            <a:r>
              <a:rPr sz="1000" dirty="0">
                <a:latin typeface="Courier New"/>
                <a:cs typeface="Courier New"/>
              </a:rPr>
              <a:t>&lt;Frameset</a:t>
            </a:r>
            <a:r>
              <a:rPr sz="1000" spc="-80" dirty="0">
                <a:latin typeface="Courier New"/>
                <a:cs typeface="Courier New"/>
              </a:rPr>
              <a:t> </a:t>
            </a:r>
            <a:r>
              <a:rPr sz="1000" spc="-10" dirty="0">
                <a:latin typeface="Courier New"/>
                <a:cs typeface="Courier New"/>
              </a:rPr>
              <a:t>cols="30%,*"&gt;</a:t>
            </a:r>
            <a:endParaRPr sz="1000">
              <a:latin typeface="Courier New"/>
              <a:cs typeface="Courier New"/>
            </a:endParaRPr>
          </a:p>
          <a:p>
            <a:pPr marL="12700">
              <a:lnSpc>
                <a:spcPts val="1160"/>
              </a:lnSpc>
            </a:pPr>
            <a:r>
              <a:rPr sz="1000" dirty="0">
                <a:latin typeface="Courier New"/>
                <a:cs typeface="Courier New"/>
              </a:rPr>
              <a:t>&lt;frame</a:t>
            </a:r>
            <a:r>
              <a:rPr sz="1000" spc="-11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src="menu.html"</a:t>
            </a:r>
            <a:r>
              <a:rPr sz="1000" spc="-105" dirty="0">
                <a:latin typeface="Courier New"/>
                <a:cs typeface="Courier New"/>
              </a:rPr>
              <a:t> </a:t>
            </a:r>
            <a:r>
              <a:rPr sz="1000" spc="-10" dirty="0">
                <a:latin typeface="Courier New"/>
                <a:cs typeface="Courier New"/>
              </a:rPr>
              <a:t>name="fr1"&gt;</a:t>
            </a:r>
            <a:endParaRPr sz="1000">
              <a:latin typeface="Courier New"/>
              <a:cs typeface="Courier New"/>
            </a:endParaRPr>
          </a:p>
          <a:p>
            <a:pPr marL="12700">
              <a:lnSpc>
                <a:spcPts val="1110"/>
              </a:lnSpc>
            </a:pPr>
            <a:r>
              <a:rPr sz="1000" dirty="0">
                <a:latin typeface="Courier New"/>
                <a:cs typeface="Courier New"/>
              </a:rPr>
              <a:t>&lt;frame</a:t>
            </a:r>
            <a:r>
              <a:rPr sz="1000" spc="-11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src="awal.html"</a:t>
            </a:r>
            <a:r>
              <a:rPr sz="1000" spc="-105" dirty="0">
                <a:latin typeface="Courier New"/>
                <a:cs typeface="Courier New"/>
              </a:rPr>
              <a:t> </a:t>
            </a:r>
            <a:r>
              <a:rPr sz="1000" spc="-10" dirty="0">
                <a:latin typeface="Courier New"/>
                <a:cs typeface="Courier New"/>
              </a:rPr>
              <a:t>name="fr2"&gt;</a:t>
            </a:r>
            <a:endParaRPr sz="1000">
              <a:latin typeface="Courier New"/>
              <a:cs typeface="Courier New"/>
            </a:endParaRPr>
          </a:p>
          <a:p>
            <a:pPr marL="12700">
              <a:lnSpc>
                <a:spcPts val="1100"/>
              </a:lnSpc>
            </a:pPr>
            <a:r>
              <a:rPr sz="1000" spc="-10" dirty="0">
                <a:latin typeface="Courier New"/>
                <a:cs typeface="Courier New"/>
              </a:rPr>
              <a:t>&lt;/frameset&gt;</a:t>
            </a:r>
            <a:endParaRPr sz="1000">
              <a:latin typeface="Courier New"/>
              <a:cs typeface="Courier New"/>
            </a:endParaRPr>
          </a:p>
          <a:p>
            <a:pPr marL="12700">
              <a:lnSpc>
                <a:spcPts val="1160"/>
              </a:lnSpc>
            </a:pPr>
            <a:r>
              <a:rPr sz="1000" spc="-10" dirty="0">
                <a:latin typeface="Courier New"/>
                <a:cs typeface="Courier New"/>
              </a:rPr>
              <a:t>&lt;/html&gt;</a:t>
            </a:r>
            <a:endParaRPr sz="10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185"/>
              </a:spcBef>
            </a:pPr>
            <a:endParaRPr sz="1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1200" dirty="0">
                <a:latin typeface="Times New Roman"/>
                <a:cs typeface="Times New Roman"/>
              </a:rPr>
              <a:t>Halaman</a:t>
            </a:r>
            <a:r>
              <a:rPr sz="1200" spc="-6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MENU.HTML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064577" y="7169531"/>
            <a:ext cx="5427345" cy="180340"/>
          </a:xfrm>
          <a:prstGeom prst="rect">
            <a:avLst/>
          </a:prstGeom>
          <a:solidFill>
            <a:srgbClr val="B3B3B3"/>
          </a:solidFill>
        </p:spPr>
        <p:txBody>
          <a:bodyPr vert="horz" wrap="square" lIns="0" tIns="0" rIns="0" bIns="0" rtlCol="0">
            <a:spAutoFit/>
          </a:bodyPr>
          <a:lstStyle/>
          <a:p>
            <a:pPr marL="78740">
              <a:lnSpc>
                <a:spcPts val="1400"/>
              </a:lnSpc>
            </a:pPr>
            <a:r>
              <a:rPr sz="1200" b="1" dirty="0">
                <a:latin typeface="Times New Roman"/>
                <a:cs typeface="Times New Roman"/>
              </a:rPr>
              <a:t>Contoh</a:t>
            </a:r>
            <a:r>
              <a:rPr sz="1200" b="1" spc="-4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Program</a:t>
            </a:r>
            <a:r>
              <a:rPr sz="1200" b="1" spc="-40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JavaScript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128077" y="7321931"/>
            <a:ext cx="3277235" cy="2337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10" dirty="0">
                <a:latin typeface="Courier New"/>
                <a:cs typeface="Courier New"/>
              </a:rPr>
              <a:t>&lt;html&gt;</a:t>
            </a:r>
            <a:endParaRPr sz="1000">
              <a:latin typeface="Courier New"/>
              <a:cs typeface="Courier New"/>
            </a:endParaRPr>
          </a:p>
          <a:p>
            <a:pPr marL="12700">
              <a:lnSpc>
                <a:spcPts val="1160"/>
              </a:lnSpc>
            </a:pPr>
            <a:r>
              <a:rPr sz="1000" spc="-10" dirty="0">
                <a:latin typeface="Courier New"/>
                <a:cs typeface="Courier New"/>
              </a:rPr>
              <a:t>&lt;Head&gt;</a:t>
            </a:r>
            <a:endParaRPr sz="1000">
              <a:latin typeface="Courier New"/>
              <a:cs typeface="Courier New"/>
            </a:endParaRPr>
          </a:p>
          <a:p>
            <a:pPr marL="12700">
              <a:lnSpc>
                <a:spcPts val="1100"/>
              </a:lnSpc>
            </a:pPr>
            <a:r>
              <a:rPr sz="1000" spc="-10" dirty="0">
                <a:latin typeface="Courier New"/>
                <a:cs typeface="Courier New"/>
              </a:rPr>
              <a:t>&lt;Title&gt;Latihan</a:t>
            </a:r>
            <a:r>
              <a:rPr sz="1000" spc="10" dirty="0">
                <a:latin typeface="Courier New"/>
                <a:cs typeface="Courier New"/>
              </a:rPr>
              <a:t> </a:t>
            </a:r>
            <a:r>
              <a:rPr sz="1000" spc="-10" dirty="0">
                <a:latin typeface="Courier New"/>
                <a:cs typeface="Courier New"/>
              </a:rPr>
              <a:t>Frame-Menu&lt;/Title&gt;</a:t>
            </a:r>
            <a:endParaRPr sz="1000">
              <a:latin typeface="Courier New"/>
              <a:cs typeface="Courier New"/>
            </a:endParaRPr>
          </a:p>
          <a:p>
            <a:pPr marL="12700">
              <a:lnSpc>
                <a:spcPts val="1100"/>
              </a:lnSpc>
            </a:pPr>
            <a:r>
              <a:rPr sz="1000" spc="-10" dirty="0">
                <a:latin typeface="Courier New"/>
                <a:cs typeface="Courier New"/>
              </a:rPr>
              <a:t>&lt;/head&gt;</a:t>
            </a:r>
            <a:endParaRPr sz="1000">
              <a:latin typeface="Courier New"/>
              <a:cs typeface="Courier New"/>
            </a:endParaRPr>
          </a:p>
          <a:p>
            <a:pPr marL="12700">
              <a:lnSpc>
                <a:spcPts val="1130"/>
              </a:lnSpc>
            </a:pPr>
            <a:r>
              <a:rPr sz="1000" dirty="0">
                <a:latin typeface="Courier New"/>
                <a:cs typeface="Courier New"/>
              </a:rPr>
              <a:t>&lt;body</a:t>
            </a:r>
            <a:r>
              <a:rPr sz="1000" spc="-40" dirty="0">
                <a:latin typeface="Courier New"/>
                <a:cs typeface="Courier New"/>
              </a:rPr>
              <a:t> </a:t>
            </a:r>
            <a:r>
              <a:rPr sz="1000" spc="-10" dirty="0">
                <a:latin typeface="Courier New"/>
                <a:cs typeface="Courier New"/>
              </a:rPr>
              <a:t>bgcolor="lightgreen"&gt;</a:t>
            </a:r>
            <a:endParaRPr sz="1000">
              <a:latin typeface="Courier New"/>
              <a:cs typeface="Courier New"/>
            </a:endParaRPr>
          </a:p>
          <a:p>
            <a:pPr marL="12700" marR="990600">
              <a:lnSpc>
                <a:spcPts val="1140"/>
              </a:lnSpc>
              <a:spcBef>
                <a:spcPts val="55"/>
              </a:spcBef>
            </a:pPr>
            <a:r>
              <a:rPr sz="1000" spc="-10" dirty="0">
                <a:latin typeface="Courier New"/>
                <a:cs typeface="Courier New"/>
              </a:rPr>
              <a:t>&lt;script</a:t>
            </a:r>
            <a:r>
              <a:rPr sz="1000" spc="-120" dirty="0">
                <a:latin typeface="Courier New"/>
                <a:cs typeface="Courier New"/>
              </a:rPr>
              <a:t> </a:t>
            </a:r>
            <a:r>
              <a:rPr sz="1000" spc="-10" dirty="0">
                <a:latin typeface="Courier New"/>
                <a:cs typeface="Courier New"/>
              </a:rPr>
              <a:t>language="JavaScript"&gt; </a:t>
            </a:r>
            <a:r>
              <a:rPr sz="1000" dirty="0">
                <a:latin typeface="Courier New"/>
                <a:cs typeface="Courier New"/>
              </a:rPr>
              <a:t>function</a:t>
            </a:r>
            <a:r>
              <a:rPr sz="1000" spc="-40" dirty="0">
                <a:latin typeface="Courier New"/>
                <a:cs typeface="Courier New"/>
              </a:rPr>
              <a:t> </a:t>
            </a:r>
            <a:r>
              <a:rPr sz="1000" spc="-10" dirty="0">
                <a:latin typeface="Courier New"/>
                <a:cs typeface="Courier New"/>
              </a:rPr>
              <a:t>menu()</a:t>
            </a:r>
            <a:endParaRPr sz="1000">
              <a:latin typeface="Courier New"/>
              <a:cs typeface="Courier New"/>
            </a:endParaRPr>
          </a:p>
          <a:p>
            <a:pPr marL="12700">
              <a:lnSpc>
                <a:spcPts val="1150"/>
              </a:lnSpc>
            </a:pPr>
            <a:r>
              <a:rPr sz="1000" spc="-50" dirty="0">
                <a:latin typeface="Courier New"/>
                <a:cs typeface="Courier New"/>
              </a:rPr>
              <a:t>{</a:t>
            </a:r>
            <a:endParaRPr sz="1000">
              <a:latin typeface="Courier New"/>
              <a:cs typeface="Courier New"/>
            </a:endParaRPr>
          </a:p>
          <a:p>
            <a:pPr marL="317500">
              <a:lnSpc>
                <a:spcPts val="1160"/>
              </a:lnSpc>
              <a:spcBef>
                <a:spcPts val="1019"/>
              </a:spcBef>
            </a:pPr>
            <a:r>
              <a:rPr sz="1000" spc="-10" dirty="0">
                <a:latin typeface="Courier New"/>
                <a:cs typeface="Courier New"/>
              </a:rPr>
              <a:t>str="latmath.HTML";</a:t>
            </a:r>
            <a:endParaRPr sz="1000">
              <a:latin typeface="Courier New"/>
              <a:cs typeface="Courier New"/>
            </a:endParaRPr>
          </a:p>
          <a:p>
            <a:pPr marL="317500" marR="381000" indent="-229235">
              <a:lnSpc>
                <a:spcPts val="1140"/>
              </a:lnSpc>
              <a:spcBef>
                <a:spcPts val="50"/>
              </a:spcBef>
            </a:pPr>
            <a:r>
              <a:rPr sz="1000" spc="-10" dirty="0">
                <a:latin typeface="Courier New"/>
                <a:cs typeface="Courier New"/>
              </a:rPr>
              <a:t>if</a:t>
            </a:r>
            <a:r>
              <a:rPr sz="1000" spc="-145" dirty="0">
                <a:latin typeface="Courier New"/>
                <a:cs typeface="Courier New"/>
              </a:rPr>
              <a:t> </a:t>
            </a:r>
            <a:r>
              <a:rPr sz="1000" spc="-10" dirty="0">
                <a:latin typeface="Courier New"/>
                <a:cs typeface="Courier New"/>
              </a:rPr>
              <a:t>(document.fform.rbmenu[1].checked) str="latobjekteks.HTML";</a:t>
            </a:r>
            <a:endParaRPr sz="1000">
              <a:latin typeface="Courier New"/>
              <a:cs typeface="Courier New"/>
            </a:endParaRPr>
          </a:p>
          <a:p>
            <a:pPr marL="241300" marR="5080" indent="-153035">
              <a:lnSpc>
                <a:spcPts val="1120"/>
              </a:lnSpc>
              <a:spcBef>
                <a:spcPts val="15"/>
              </a:spcBef>
            </a:pPr>
            <a:r>
              <a:rPr sz="1000" dirty="0">
                <a:latin typeface="Courier New"/>
                <a:cs typeface="Courier New"/>
              </a:rPr>
              <a:t>else</a:t>
            </a:r>
            <a:r>
              <a:rPr sz="1000" spc="-114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if</a:t>
            </a:r>
            <a:r>
              <a:rPr sz="1000" spc="-110" dirty="0">
                <a:latin typeface="Courier New"/>
                <a:cs typeface="Courier New"/>
              </a:rPr>
              <a:t> </a:t>
            </a:r>
            <a:r>
              <a:rPr sz="1000" spc="-10" dirty="0">
                <a:latin typeface="Courier New"/>
                <a:cs typeface="Courier New"/>
              </a:rPr>
              <a:t>(document.fform.rbmenu[2].checked) str="latobjekselect.HTML";</a:t>
            </a:r>
            <a:endParaRPr sz="1000">
              <a:latin typeface="Courier New"/>
              <a:cs typeface="Courier New"/>
            </a:endParaRPr>
          </a:p>
          <a:p>
            <a:pPr marL="164465" marR="5080" indent="-76200">
              <a:lnSpc>
                <a:spcPts val="1140"/>
              </a:lnSpc>
              <a:spcBef>
                <a:spcPts val="5"/>
              </a:spcBef>
            </a:pPr>
            <a:r>
              <a:rPr sz="1000" dirty="0">
                <a:latin typeface="Courier New"/>
                <a:cs typeface="Courier New"/>
              </a:rPr>
              <a:t>else</a:t>
            </a:r>
            <a:r>
              <a:rPr sz="1000" spc="-114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if</a:t>
            </a:r>
            <a:r>
              <a:rPr sz="1000" spc="-110" dirty="0">
                <a:latin typeface="Courier New"/>
                <a:cs typeface="Courier New"/>
              </a:rPr>
              <a:t> </a:t>
            </a:r>
            <a:r>
              <a:rPr sz="1000" spc="-10" dirty="0">
                <a:latin typeface="Courier New"/>
                <a:cs typeface="Courier New"/>
              </a:rPr>
              <a:t>(document.fform.rbmenu[3].checked) str="latobjekcheck.HTML";</a:t>
            </a:r>
            <a:endParaRPr sz="1000">
              <a:latin typeface="Courier New"/>
              <a:cs typeface="Courier New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95425" y="914400"/>
            <a:ext cx="4561840" cy="300482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41094" y="5211445"/>
            <a:ext cx="5243830" cy="3454273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1128077" y="884173"/>
            <a:ext cx="5229225" cy="22536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8900">
              <a:lnSpc>
                <a:spcPts val="1170"/>
              </a:lnSpc>
              <a:spcBef>
                <a:spcPts val="100"/>
              </a:spcBef>
            </a:pPr>
            <a:r>
              <a:rPr sz="1000" spc="-10" dirty="0">
                <a:latin typeface="Courier New"/>
                <a:cs typeface="Courier New"/>
              </a:rPr>
              <a:t>parent.fr2.location.href=str;</a:t>
            </a:r>
            <a:endParaRPr sz="1000">
              <a:latin typeface="Courier New"/>
              <a:cs typeface="Courier New"/>
            </a:endParaRPr>
          </a:p>
          <a:p>
            <a:pPr marL="12700">
              <a:lnSpc>
                <a:spcPts val="1160"/>
              </a:lnSpc>
            </a:pPr>
            <a:r>
              <a:rPr sz="1000" spc="-50" dirty="0">
                <a:latin typeface="Courier New"/>
                <a:cs typeface="Courier New"/>
              </a:rPr>
              <a:t>}</a:t>
            </a:r>
            <a:endParaRPr sz="1000">
              <a:latin typeface="Courier New"/>
              <a:cs typeface="Courier New"/>
            </a:endParaRPr>
          </a:p>
          <a:p>
            <a:pPr marL="12700">
              <a:lnSpc>
                <a:spcPts val="1160"/>
              </a:lnSpc>
            </a:pPr>
            <a:r>
              <a:rPr sz="1000" spc="-10" dirty="0">
                <a:latin typeface="Courier New"/>
                <a:cs typeface="Courier New"/>
              </a:rPr>
              <a:t>&lt;/script&gt;</a:t>
            </a:r>
            <a:endParaRPr sz="1000">
              <a:latin typeface="Courier New"/>
              <a:cs typeface="Courier New"/>
            </a:endParaRPr>
          </a:p>
          <a:p>
            <a:pPr marL="12700">
              <a:lnSpc>
                <a:spcPts val="1100"/>
              </a:lnSpc>
            </a:pPr>
            <a:r>
              <a:rPr sz="1000" dirty="0">
                <a:latin typeface="Courier New"/>
                <a:cs typeface="Courier New"/>
              </a:rPr>
              <a:t>&lt;p&gt;Pilih</a:t>
            </a:r>
            <a:r>
              <a:rPr sz="1000" spc="-75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latihan</a:t>
            </a:r>
            <a:r>
              <a:rPr sz="1000" spc="-7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Dibawah</a:t>
            </a:r>
            <a:r>
              <a:rPr sz="1000" spc="-75" dirty="0">
                <a:latin typeface="Courier New"/>
                <a:cs typeface="Courier New"/>
              </a:rPr>
              <a:t> </a:t>
            </a:r>
            <a:r>
              <a:rPr sz="1000" spc="-10" dirty="0">
                <a:latin typeface="Courier New"/>
                <a:cs typeface="Courier New"/>
              </a:rPr>
              <a:t>Ini&lt;/p&gt;</a:t>
            </a:r>
            <a:endParaRPr sz="1000">
              <a:latin typeface="Courier New"/>
              <a:cs typeface="Courier New"/>
            </a:endParaRPr>
          </a:p>
          <a:p>
            <a:pPr marL="12700">
              <a:lnSpc>
                <a:spcPts val="1100"/>
              </a:lnSpc>
            </a:pPr>
            <a:r>
              <a:rPr sz="1000" dirty="0">
                <a:latin typeface="Courier New"/>
                <a:cs typeface="Courier New"/>
              </a:rPr>
              <a:t>&lt;form</a:t>
            </a:r>
            <a:r>
              <a:rPr sz="1000" spc="-40" dirty="0">
                <a:latin typeface="Courier New"/>
                <a:cs typeface="Courier New"/>
              </a:rPr>
              <a:t> </a:t>
            </a:r>
            <a:r>
              <a:rPr sz="1000" spc="-10" dirty="0">
                <a:latin typeface="Courier New"/>
                <a:cs typeface="Courier New"/>
              </a:rPr>
              <a:t>name="fform"&gt;</a:t>
            </a:r>
            <a:endParaRPr sz="1000">
              <a:latin typeface="Courier New"/>
              <a:cs typeface="Courier New"/>
            </a:endParaRPr>
          </a:p>
          <a:p>
            <a:pPr marL="12700">
              <a:lnSpc>
                <a:spcPts val="1140"/>
              </a:lnSpc>
            </a:pPr>
            <a:r>
              <a:rPr sz="1000" dirty="0">
                <a:latin typeface="Courier New"/>
                <a:cs typeface="Courier New"/>
              </a:rPr>
              <a:t>&lt;p&gt;&lt;input</a:t>
            </a:r>
            <a:r>
              <a:rPr sz="1000" spc="-114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type="radio"</a:t>
            </a:r>
            <a:r>
              <a:rPr sz="1000" spc="-10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checked</a:t>
            </a:r>
            <a:r>
              <a:rPr sz="1000" spc="-10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name="rbmenu"</a:t>
            </a:r>
            <a:r>
              <a:rPr sz="1000" spc="-100" dirty="0">
                <a:latin typeface="Courier New"/>
                <a:cs typeface="Courier New"/>
              </a:rPr>
              <a:t> </a:t>
            </a:r>
            <a:r>
              <a:rPr sz="1000" spc="-10" dirty="0">
                <a:latin typeface="Courier New"/>
                <a:cs typeface="Courier New"/>
              </a:rPr>
              <a:t>value="1"&gt;Matematika&lt;/p&gt;</a:t>
            </a:r>
            <a:endParaRPr sz="1000">
              <a:latin typeface="Courier New"/>
              <a:cs typeface="Courier New"/>
            </a:endParaRPr>
          </a:p>
          <a:p>
            <a:pPr marL="12700">
              <a:lnSpc>
                <a:spcPts val="1160"/>
              </a:lnSpc>
              <a:tabLst>
                <a:tab pos="1821180" algn="l"/>
              </a:tabLst>
            </a:pPr>
            <a:r>
              <a:rPr sz="1000" dirty="0">
                <a:latin typeface="Courier New"/>
                <a:cs typeface="Courier New"/>
              </a:rPr>
              <a:t>&lt;p&gt;&lt;input</a:t>
            </a:r>
            <a:r>
              <a:rPr sz="1000" spc="-110" dirty="0">
                <a:latin typeface="Courier New"/>
                <a:cs typeface="Courier New"/>
              </a:rPr>
              <a:t> </a:t>
            </a:r>
            <a:r>
              <a:rPr sz="1000" spc="-10" dirty="0">
                <a:latin typeface="Courier New"/>
                <a:cs typeface="Courier New"/>
              </a:rPr>
              <a:t>type="radio"</a:t>
            </a:r>
            <a:r>
              <a:rPr sz="1000" dirty="0">
                <a:latin typeface="Courier New"/>
                <a:cs typeface="Courier New"/>
              </a:rPr>
              <a:t>	name="rbmenu"</a:t>
            </a:r>
            <a:r>
              <a:rPr sz="1000" spc="-13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value="2"&gt;Objek</a:t>
            </a:r>
            <a:r>
              <a:rPr sz="1000" spc="-105" dirty="0">
                <a:latin typeface="Courier New"/>
                <a:cs typeface="Courier New"/>
              </a:rPr>
              <a:t> </a:t>
            </a:r>
            <a:r>
              <a:rPr sz="1000" spc="-10" dirty="0">
                <a:latin typeface="Courier New"/>
                <a:cs typeface="Courier New"/>
              </a:rPr>
              <a:t>teks&lt;/p&gt;</a:t>
            </a:r>
            <a:endParaRPr sz="1000">
              <a:latin typeface="Courier New"/>
              <a:cs typeface="Courier New"/>
            </a:endParaRPr>
          </a:p>
          <a:p>
            <a:pPr marL="12700">
              <a:lnSpc>
                <a:spcPts val="1160"/>
              </a:lnSpc>
              <a:tabLst>
                <a:tab pos="1821180" algn="l"/>
              </a:tabLst>
            </a:pPr>
            <a:r>
              <a:rPr sz="1000" dirty="0">
                <a:latin typeface="Courier New"/>
                <a:cs typeface="Courier New"/>
              </a:rPr>
              <a:t>&lt;p&gt;&lt;input</a:t>
            </a:r>
            <a:r>
              <a:rPr sz="1000" spc="-110" dirty="0">
                <a:latin typeface="Courier New"/>
                <a:cs typeface="Courier New"/>
              </a:rPr>
              <a:t> </a:t>
            </a:r>
            <a:r>
              <a:rPr sz="1000" spc="-10" dirty="0">
                <a:latin typeface="Courier New"/>
                <a:cs typeface="Courier New"/>
              </a:rPr>
              <a:t>type="radio"</a:t>
            </a:r>
            <a:r>
              <a:rPr sz="1000" dirty="0">
                <a:latin typeface="Courier New"/>
                <a:cs typeface="Courier New"/>
              </a:rPr>
              <a:t>	name="rbmenu"</a:t>
            </a:r>
            <a:r>
              <a:rPr sz="1000" spc="-13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value="3"&gt;Objek</a:t>
            </a:r>
            <a:r>
              <a:rPr sz="1000" spc="-105" dirty="0">
                <a:latin typeface="Courier New"/>
                <a:cs typeface="Courier New"/>
              </a:rPr>
              <a:t> </a:t>
            </a:r>
            <a:r>
              <a:rPr sz="1000" spc="-10" dirty="0">
                <a:latin typeface="Courier New"/>
                <a:cs typeface="Courier New"/>
              </a:rPr>
              <a:t>Select&lt;/p&gt;</a:t>
            </a:r>
            <a:endParaRPr sz="1000">
              <a:latin typeface="Courier New"/>
              <a:cs typeface="Courier New"/>
            </a:endParaRPr>
          </a:p>
          <a:p>
            <a:pPr marL="12700">
              <a:lnSpc>
                <a:spcPts val="1100"/>
              </a:lnSpc>
              <a:tabLst>
                <a:tab pos="1821180" algn="l"/>
              </a:tabLst>
            </a:pPr>
            <a:r>
              <a:rPr sz="1000" dirty="0">
                <a:latin typeface="Courier New"/>
                <a:cs typeface="Courier New"/>
              </a:rPr>
              <a:t>&lt;p&gt;&lt;input</a:t>
            </a:r>
            <a:r>
              <a:rPr sz="1000" spc="-110" dirty="0">
                <a:latin typeface="Courier New"/>
                <a:cs typeface="Courier New"/>
              </a:rPr>
              <a:t> </a:t>
            </a:r>
            <a:r>
              <a:rPr sz="1000" spc="-10" dirty="0">
                <a:latin typeface="Courier New"/>
                <a:cs typeface="Courier New"/>
              </a:rPr>
              <a:t>type="radio"</a:t>
            </a:r>
            <a:r>
              <a:rPr sz="1000" dirty="0">
                <a:latin typeface="Courier New"/>
                <a:cs typeface="Courier New"/>
              </a:rPr>
              <a:t>	name="rbmenu"</a:t>
            </a:r>
            <a:r>
              <a:rPr sz="1000" spc="-13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value="4"&gt;Objek</a:t>
            </a:r>
            <a:r>
              <a:rPr sz="1000" spc="-105" dirty="0">
                <a:latin typeface="Courier New"/>
                <a:cs typeface="Courier New"/>
              </a:rPr>
              <a:t> </a:t>
            </a:r>
            <a:r>
              <a:rPr sz="1000" spc="-10" dirty="0">
                <a:latin typeface="Courier New"/>
                <a:cs typeface="Courier New"/>
              </a:rPr>
              <a:t>Check&lt;/p&gt;</a:t>
            </a:r>
            <a:endParaRPr sz="1000">
              <a:latin typeface="Courier New"/>
              <a:cs typeface="Courier New"/>
            </a:endParaRPr>
          </a:p>
          <a:p>
            <a:pPr marL="12700">
              <a:lnSpc>
                <a:spcPts val="1100"/>
              </a:lnSpc>
            </a:pPr>
            <a:r>
              <a:rPr sz="1000" dirty="0">
                <a:latin typeface="Courier New"/>
                <a:cs typeface="Courier New"/>
              </a:rPr>
              <a:t>&lt;p&gt;&lt;input</a:t>
            </a:r>
            <a:r>
              <a:rPr sz="1000" spc="-13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type="button"</a:t>
            </a:r>
            <a:r>
              <a:rPr sz="1000" spc="-12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onclick="menu()"</a:t>
            </a:r>
            <a:r>
              <a:rPr sz="1000" spc="-114" dirty="0">
                <a:latin typeface="Courier New"/>
                <a:cs typeface="Courier New"/>
              </a:rPr>
              <a:t> </a:t>
            </a:r>
            <a:r>
              <a:rPr sz="1000" spc="-10" dirty="0">
                <a:latin typeface="Courier New"/>
                <a:cs typeface="Courier New"/>
              </a:rPr>
              <a:t>value="tampilkan"&gt;</a:t>
            </a:r>
            <a:endParaRPr sz="1000">
              <a:latin typeface="Courier New"/>
              <a:cs typeface="Courier New"/>
            </a:endParaRPr>
          </a:p>
          <a:p>
            <a:pPr marL="12700">
              <a:lnSpc>
                <a:spcPts val="1140"/>
              </a:lnSpc>
            </a:pPr>
            <a:r>
              <a:rPr sz="1000" spc="-10" dirty="0">
                <a:latin typeface="Courier New"/>
                <a:cs typeface="Courier New"/>
              </a:rPr>
              <a:t>&lt;/form&gt;</a:t>
            </a:r>
            <a:endParaRPr sz="1000">
              <a:latin typeface="Courier New"/>
              <a:cs typeface="Courier New"/>
            </a:endParaRPr>
          </a:p>
          <a:p>
            <a:pPr marL="12700">
              <a:lnSpc>
                <a:spcPts val="1140"/>
              </a:lnSpc>
            </a:pPr>
            <a:r>
              <a:rPr sz="1000" spc="-10" dirty="0">
                <a:latin typeface="Courier New"/>
                <a:cs typeface="Courier New"/>
              </a:rPr>
              <a:t>&lt;/body&gt;</a:t>
            </a:r>
            <a:endParaRPr sz="1000">
              <a:latin typeface="Courier New"/>
              <a:cs typeface="Courier New"/>
            </a:endParaRPr>
          </a:p>
          <a:p>
            <a:pPr marL="12700">
              <a:lnSpc>
                <a:spcPts val="1170"/>
              </a:lnSpc>
            </a:pPr>
            <a:r>
              <a:rPr sz="1000" spc="-10" dirty="0">
                <a:latin typeface="Courier New"/>
                <a:cs typeface="Courier New"/>
              </a:rPr>
              <a:t>&lt;/html&gt;</a:t>
            </a:r>
            <a:endParaRPr sz="10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165"/>
              </a:spcBef>
            </a:pPr>
            <a:endParaRPr sz="1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1200" dirty="0">
                <a:latin typeface="Times New Roman"/>
                <a:cs typeface="Times New Roman"/>
              </a:rPr>
              <a:t>Halaman</a:t>
            </a:r>
            <a:r>
              <a:rPr sz="1200" spc="-6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AWAL.HTML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64577" y="3127375"/>
            <a:ext cx="5427345" cy="180340"/>
          </a:xfrm>
          <a:prstGeom prst="rect">
            <a:avLst/>
          </a:prstGeom>
          <a:solidFill>
            <a:srgbClr val="B3B3B3"/>
          </a:solidFill>
        </p:spPr>
        <p:txBody>
          <a:bodyPr vert="horz" wrap="square" lIns="0" tIns="0" rIns="0" bIns="0" rtlCol="0">
            <a:spAutoFit/>
          </a:bodyPr>
          <a:lstStyle/>
          <a:p>
            <a:pPr marL="78740">
              <a:lnSpc>
                <a:spcPts val="1400"/>
              </a:lnSpc>
            </a:pPr>
            <a:r>
              <a:rPr sz="1200" b="1" dirty="0">
                <a:latin typeface="Times New Roman"/>
                <a:cs typeface="Times New Roman"/>
              </a:rPr>
              <a:t>Contoh</a:t>
            </a:r>
            <a:r>
              <a:rPr sz="1200" b="1" spc="-4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Program</a:t>
            </a:r>
            <a:r>
              <a:rPr sz="1200" b="1" spc="-40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JavaScript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128077" y="3279775"/>
            <a:ext cx="4192270" cy="17608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1170"/>
              </a:lnSpc>
              <a:spcBef>
                <a:spcPts val="100"/>
              </a:spcBef>
            </a:pPr>
            <a:r>
              <a:rPr sz="1000" spc="-10" dirty="0">
                <a:latin typeface="Courier New"/>
                <a:cs typeface="Courier New"/>
              </a:rPr>
              <a:t>&lt;html&gt;</a:t>
            </a:r>
            <a:endParaRPr sz="1000">
              <a:latin typeface="Courier New"/>
              <a:cs typeface="Courier New"/>
            </a:endParaRPr>
          </a:p>
          <a:p>
            <a:pPr marL="12700">
              <a:lnSpc>
                <a:spcPts val="1130"/>
              </a:lnSpc>
            </a:pPr>
            <a:r>
              <a:rPr sz="1000" dirty="0">
                <a:latin typeface="Courier New"/>
                <a:cs typeface="Courier New"/>
              </a:rPr>
              <a:t>&lt;body</a:t>
            </a:r>
            <a:r>
              <a:rPr sz="1000" spc="-40" dirty="0">
                <a:latin typeface="Courier New"/>
                <a:cs typeface="Courier New"/>
              </a:rPr>
              <a:t> </a:t>
            </a:r>
            <a:r>
              <a:rPr sz="1000" spc="-10" dirty="0">
                <a:latin typeface="Courier New"/>
                <a:cs typeface="Courier New"/>
              </a:rPr>
              <a:t>bgcolor="pink"&gt;</a:t>
            </a:r>
            <a:endParaRPr sz="1000">
              <a:latin typeface="Courier New"/>
              <a:cs typeface="Courier New"/>
            </a:endParaRPr>
          </a:p>
          <a:p>
            <a:pPr marL="12700">
              <a:lnSpc>
                <a:spcPts val="1130"/>
              </a:lnSpc>
            </a:pPr>
            <a:r>
              <a:rPr sz="1000" spc="-10" dirty="0">
                <a:latin typeface="Courier New"/>
                <a:cs typeface="Courier New"/>
              </a:rPr>
              <a:t>&lt;center&gt;</a:t>
            </a:r>
            <a:endParaRPr sz="1000">
              <a:latin typeface="Courier New"/>
              <a:cs typeface="Courier New"/>
            </a:endParaRPr>
          </a:p>
          <a:p>
            <a:pPr marL="12700">
              <a:lnSpc>
                <a:spcPts val="1170"/>
              </a:lnSpc>
            </a:pPr>
            <a:r>
              <a:rPr sz="1000" dirty="0">
                <a:latin typeface="Courier New"/>
                <a:cs typeface="Courier New"/>
              </a:rPr>
              <a:t>&lt;h1&gt;Halaman</a:t>
            </a:r>
            <a:r>
              <a:rPr sz="1000" spc="-7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ini</a:t>
            </a:r>
            <a:r>
              <a:rPr sz="1000" spc="-7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dengan</a:t>
            </a:r>
            <a:r>
              <a:rPr sz="1000" spc="-50" dirty="0">
                <a:latin typeface="Courier New"/>
                <a:cs typeface="Courier New"/>
              </a:rPr>
              <a:t> </a:t>
            </a:r>
            <a:r>
              <a:rPr sz="1000" spc="-10" dirty="0">
                <a:latin typeface="Courier New"/>
                <a:cs typeface="Courier New"/>
              </a:rPr>
              <a:t>menggunakan&lt;/h1&gt;</a:t>
            </a:r>
            <a:endParaRPr sz="1000">
              <a:latin typeface="Courier New"/>
              <a:cs typeface="Courier New"/>
            </a:endParaRPr>
          </a:p>
          <a:p>
            <a:pPr marL="12700">
              <a:lnSpc>
                <a:spcPts val="1160"/>
              </a:lnSpc>
            </a:pPr>
            <a:r>
              <a:rPr sz="1000" spc="-10" dirty="0">
                <a:latin typeface="Courier New"/>
                <a:cs typeface="Courier New"/>
              </a:rPr>
              <a:t>&lt;h1&gt;Frame&lt;/h1&gt;</a:t>
            </a:r>
            <a:endParaRPr sz="1000">
              <a:latin typeface="Courier New"/>
              <a:cs typeface="Courier New"/>
            </a:endParaRPr>
          </a:p>
          <a:p>
            <a:pPr marL="12700">
              <a:lnSpc>
                <a:spcPts val="1100"/>
              </a:lnSpc>
            </a:pPr>
            <a:r>
              <a:rPr sz="1000" dirty="0">
                <a:latin typeface="Courier New"/>
                <a:cs typeface="Courier New"/>
              </a:rPr>
              <a:t>&lt;p&gt;&lt;strong&gt;Design</a:t>
            </a:r>
            <a:r>
              <a:rPr sz="1000" spc="-75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By</a:t>
            </a:r>
            <a:r>
              <a:rPr sz="1000" spc="-8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Irawan</a:t>
            </a:r>
            <a:r>
              <a:rPr sz="1000" spc="-75" dirty="0">
                <a:latin typeface="Courier New"/>
                <a:cs typeface="Courier New"/>
              </a:rPr>
              <a:t> </a:t>
            </a:r>
            <a:r>
              <a:rPr sz="1000" spc="-10" dirty="0">
                <a:latin typeface="Courier New"/>
                <a:cs typeface="Courier New"/>
              </a:rPr>
              <a:t>Afrianto&lt;/strong&gt;&lt;/p&gt;</a:t>
            </a:r>
            <a:endParaRPr sz="1000">
              <a:latin typeface="Courier New"/>
              <a:cs typeface="Courier New"/>
            </a:endParaRPr>
          </a:p>
          <a:p>
            <a:pPr marL="12700" marR="5080">
              <a:lnSpc>
                <a:spcPts val="1140"/>
              </a:lnSpc>
              <a:spcBef>
                <a:spcPts val="25"/>
              </a:spcBef>
            </a:pPr>
            <a:r>
              <a:rPr sz="1000" spc="-10" dirty="0">
                <a:latin typeface="Courier New"/>
                <a:cs typeface="Courier New"/>
              </a:rPr>
              <a:t>&lt;p&gt;&lt;strong&gt;Email</a:t>
            </a:r>
            <a:r>
              <a:rPr sz="1000" spc="-6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:&lt;a</a:t>
            </a:r>
            <a:r>
              <a:rPr sz="1000" spc="-65" dirty="0">
                <a:latin typeface="Courier New"/>
                <a:cs typeface="Courier New"/>
              </a:rPr>
              <a:t> </a:t>
            </a:r>
            <a:r>
              <a:rPr sz="1000" spc="-10" dirty="0">
                <a:latin typeface="Courier New"/>
                <a:cs typeface="Courier New"/>
                <a:hlinkClick r:id="rId3"/>
              </a:rPr>
              <a:t>href="mailto:irawan@unikom.ac.id"&gt;</a:t>
            </a:r>
            <a:r>
              <a:rPr sz="1000" spc="-10" dirty="0">
                <a:latin typeface="Courier New"/>
                <a:cs typeface="Courier New"/>
              </a:rPr>
              <a:t> </a:t>
            </a:r>
            <a:r>
              <a:rPr sz="1000" spc="-10" dirty="0">
                <a:latin typeface="Courier New"/>
                <a:cs typeface="Courier New"/>
                <a:hlinkClick r:id="rId3"/>
              </a:rPr>
              <a:t>irawan@unikom.ac.id</a:t>
            </a:r>
            <a:endParaRPr sz="1000">
              <a:latin typeface="Courier New"/>
              <a:cs typeface="Courier New"/>
            </a:endParaRPr>
          </a:p>
          <a:p>
            <a:pPr marL="12700">
              <a:lnSpc>
                <a:spcPts val="1090"/>
              </a:lnSpc>
            </a:pPr>
            <a:r>
              <a:rPr sz="1000" spc="-10" dirty="0">
                <a:latin typeface="Courier New"/>
                <a:cs typeface="Courier New"/>
              </a:rPr>
              <a:t>&lt;/strong&gt;&lt;/p&gt;</a:t>
            </a:r>
            <a:endParaRPr sz="1000">
              <a:latin typeface="Courier New"/>
              <a:cs typeface="Courier New"/>
            </a:endParaRPr>
          </a:p>
          <a:p>
            <a:pPr marL="12700">
              <a:lnSpc>
                <a:spcPts val="1160"/>
              </a:lnSpc>
            </a:pPr>
            <a:r>
              <a:rPr sz="1000" spc="-10" dirty="0">
                <a:latin typeface="Courier New"/>
                <a:cs typeface="Courier New"/>
              </a:rPr>
              <a:t>&lt;/center&gt;</a:t>
            </a:r>
            <a:endParaRPr sz="1000">
              <a:latin typeface="Courier New"/>
              <a:cs typeface="Courier New"/>
            </a:endParaRPr>
          </a:p>
          <a:p>
            <a:pPr marL="12700">
              <a:lnSpc>
                <a:spcPts val="1100"/>
              </a:lnSpc>
            </a:pPr>
            <a:r>
              <a:rPr sz="1000" spc="-10" dirty="0">
                <a:latin typeface="Courier New"/>
                <a:cs typeface="Courier New"/>
              </a:rPr>
              <a:t>&lt;/body&gt;</a:t>
            </a:r>
            <a:endParaRPr sz="1000">
              <a:latin typeface="Courier New"/>
              <a:cs typeface="Courier New"/>
            </a:endParaRPr>
          </a:p>
          <a:p>
            <a:pPr marL="12700">
              <a:lnSpc>
                <a:spcPts val="1140"/>
              </a:lnSpc>
            </a:pPr>
            <a:r>
              <a:rPr sz="1000" spc="-10" dirty="0">
                <a:latin typeface="Courier New"/>
                <a:cs typeface="Courier New"/>
              </a:rPr>
              <a:t>&lt;/html&gt;</a:t>
            </a:r>
            <a:endParaRPr sz="10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55763" y="914400"/>
            <a:ext cx="5229161" cy="3410269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1201066" y="1685206"/>
            <a:ext cx="303530" cy="1282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650" spc="-10" dirty="0">
                <a:solidFill>
                  <a:srgbClr val="3D3D3D"/>
                </a:solidFill>
                <a:latin typeface="Times New Roman"/>
                <a:cs typeface="Times New Roman"/>
              </a:rPr>
              <a:t>Address</a:t>
            </a:r>
            <a:endParaRPr sz="65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818900" y="2130130"/>
            <a:ext cx="2579370" cy="2895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700" spc="120" dirty="0">
                <a:latin typeface="Times New Roman"/>
                <a:cs typeface="Times New Roman"/>
              </a:rPr>
              <a:t>Penggunaan</a:t>
            </a:r>
            <a:r>
              <a:rPr sz="1700" spc="275" dirty="0">
                <a:latin typeface="Times New Roman"/>
                <a:cs typeface="Times New Roman"/>
              </a:rPr>
              <a:t> </a:t>
            </a:r>
            <a:r>
              <a:rPr sz="1700" spc="140" dirty="0">
                <a:latin typeface="Times New Roman"/>
                <a:cs typeface="Times New Roman"/>
              </a:rPr>
              <a:t>Objek</a:t>
            </a:r>
            <a:r>
              <a:rPr sz="1700" spc="110" dirty="0">
                <a:latin typeface="Times New Roman"/>
                <a:cs typeface="Times New Roman"/>
              </a:rPr>
              <a:t> </a:t>
            </a:r>
            <a:r>
              <a:rPr sz="1700" spc="40" dirty="0">
                <a:latin typeface="Times New Roman"/>
                <a:cs typeface="Times New Roman"/>
              </a:rPr>
              <a:t>Select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803643" y="3098207"/>
            <a:ext cx="2160905" cy="15748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850" spc="135" dirty="0">
                <a:latin typeface="Times New Roman"/>
                <a:cs typeface="Times New Roman"/>
              </a:rPr>
              <a:t>furus</a:t>
            </a:r>
            <a:r>
              <a:rPr sz="850" spc="-145" dirty="0">
                <a:latin typeface="Times New Roman"/>
                <a:cs typeface="Times New Roman"/>
              </a:rPr>
              <a:t> </a:t>
            </a:r>
            <a:r>
              <a:rPr sz="850" spc="165" dirty="0">
                <a:latin typeface="Times New Roman"/>
                <a:cs typeface="Times New Roman"/>
              </a:rPr>
              <a:t>an</a:t>
            </a:r>
            <a:r>
              <a:rPr sz="850" spc="-5" dirty="0">
                <a:latin typeface="Times New Roman"/>
                <a:cs typeface="Times New Roman"/>
              </a:rPr>
              <a:t> </a:t>
            </a:r>
            <a:r>
              <a:rPr sz="850" spc="170" dirty="0">
                <a:latin typeface="Times New Roman"/>
                <a:cs typeface="Times New Roman"/>
              </a:rPr>
              <a:t>Di</a:t>
            </a:r>
            <a:r>
              <a:rPr sz="850" spc="-85" dirty="0">
                <a:latin typeface="Times New Roman"/>
                <a:cs typeface="Times New Roman"/>
              </a:rPr>
              <a:t> </a:t>
            </a:r>
            <a:r>
              <a:rPr sz="850" spc="180" dirty="0">
                <a:latin typeface="Times New Roman"/>
                <a:cs typeface="Times New Roman"/>
              </a:rPr>
              <a:t>łINITOR</a:t>
            </a:r>
            <a:r>
              <a:rPr sz="850" spc="150" dirty="0">
                <a:latin typeface="Times New Roman"/>
                <a:cs typeface="Times New Roman"/>
              </a:rPr>
              <a:t> </a:t>
            </a:r>
            <a:r>
              <a:rPr sz="850" spc="95" dirty="0">
                <a:latin typeface="Times New Roman"/>
                <a:cs typeface="Times New Roman"/>
              </a:rPr>
              <a:t>;</a:t>
            </a:r>
            <a:r>
              <a:rPr sz="850" spc="5" dirty="0">
                <a:latin typeface="Times New Roman"/>
                <a:cs typeface="Times New Roman"/>
              </a:rPr>
              <a:t> </a:t>
            </a:r>
            <a:r>
              <a:rPr sz="850" spc="-10" dirty="0">
                <a:latin typeface="Times New Roman"/>
                <a:cs typeface="Times New Roman"/>
              </a:rPr>
              <a:t>Teknik</a:t>
            </a:r>
            <a:r>
              <a:rPr sz="850" spc="60" dirty="0">
                <a:latin typeface="Times New Roman"/>
                <a:cs typeface="Times New Roman"/>
              </a:rPr>
              <a:t> </a:t>
            </a:r>
            <a:r>
              <a:rPr sz="850" spc="-30" dirty="0">
                <a:latin typeface="Times New Roman"/>
                <a:cs typeface="Times New Roman"/>
              </a:rPr>
              <a:t>Informatika</a:t>
            </a:r>
            <a:endParaRPr sz="8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0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483</Words>
  <Application>Microsoft Office PowerPoint</Application>
  <PresentationFormat>Custom</PresentationFormat>
  <Paragraphs>84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Office Theme</vt:lpstr>
      <vt:lpstr>Marquee dan Frame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Marquee dan Frame</dc:title>
  <dc:creator>Pramadjaya</dc:creator>
  <cp:lastModifiedBy>Pramadjaya</cp:lastModifiedBy>
  <cp:revision>1</cp:revision>
  <dcterms:created xsi:type="dcterms:W3CDTF">2025-02-18T14:42:39Z</dcterms:created>
  <dcterms:modified xsi:type="dcterms:W3CDTF">2025-02-24T07:29:58Z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2025-02-18T00:00:00Z</vt:filetime>
  </property>
  <property fmtid="{D5CDD505-2E9C-101B-9397-08002B2CF9AE}" pid="3" name="Creator">
    <vt:lpwstr>Microsoft® Word 2010</vt:lpwstr>
  </property>
  <property fmtid="{D5CDD505-2E9C-101B-9397-08002B2CF9AE}" pid="4" name="LastSaved">
    <vt:filetime>2025-02-18T00:00:00Z</vt:filetime>
  </property>
  <property fmtid="{D5CDD505-2E9C-101B-9397-08002B2CF9AE}" pid="5" name="Producer">
    <vt:lpwstr>Microsoft® Word 2010</vt:lpwstr>
  </property>
</Properties>
</file>
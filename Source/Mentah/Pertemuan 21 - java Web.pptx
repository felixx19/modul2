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7569200" cy="10693400"/>
  <p:notesSz cx="75692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1" d="100"/>
          <a:sy n="51" d="100"/>
        </p:scale>
        <p:origin x="-786" y="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690" y="3314954"/>
            <a:ext cx="6433820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5380" y="5988304"/>
            <a:ext cx="529844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19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19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460" y="2459482"/>
            <a:ext cx="329260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8138" y="2459482"/>
            <a:ext cx="329260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19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19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19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460" y="427736"/>
            <a:ext cx="6812280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460" y="2459482"/>
            <a:ext cx="6812280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3528" y="9944862"/>
            <a:ext cx="242214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460" y="9944862"/>
            <a:ext cx="1740916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318884" y="10054131"/>
            <a:ext cx="210820" cy="166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19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49475" y="1567433"/>
            <a:ext cx="3895725" cy="643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016885" algn="r">
              <a:lnSpc>
                <a:spcPts val="141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21.1Definisi</a:t>
            </a:r>
            <a:endParaRPr sz="1200">
              <a:latin typeface="Times New Roman"/>
              <a:cs typeface="Times New Roman"/>
            </a:endParaRPr>
          </a:p>
          <a:p>
            <a:pPr marR="3044190" algn="r">
              <a:lnSpc>
                <a:spcPts val="1410"/>
              </a:lnSpc>
            </a:pPr>
            <a:r>
              <a:rPr sz="1200" b="1" spc="-10" dirty="0">
                <a:latin typeface="Times New Roman"/>
                <a:cs typeface="Times New Roman"/>
              </a:rPr>
              <a:t>Servlet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593090" algn="l"/>
                <a:tab pos="1143000" algn="l"/>
                <a:tab pos="1717039" algn="l"/>
                <a:tab pos="2107565" algn="l"/>
                <a:tab pos="2632710" algn="l"/>
                <a:tab pos="3629660" algn="l"/>
              </a:tabLst>
            </a:pPr>
            <a:r>
              <a:rPr sz="1200" spc="-10" dirty="0">
                <a:latin typeface="Times New Roman"/>
                <a:cs typeface="Times New Roman"/>
              </a:rPr>
              <a:t>Servlet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adalah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sebuah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5" dirty="0">
                <a:latin typeface="Times New Roman"/>
                <a:cs typeface="Times New Roman"/>
              </a:rPr>
              <a:t>API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0" dirty="0">
                <a:latin typeface="Times New Roman"/>
                <a:cs typeface="Times New Roman"/>
              </a:rPr>
              <a:t>dalam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pemrograman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0" dirty="0">
                <a:latin typeface="Times New Roman"/>
                <a:cs typeface="Times New Roman"/>
              </a:rPr>
              <a:t>java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26790" y="957961"/>
            <a:ext cx="131508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31140">
              <a:lnSpc>
                <a:spcPct val="14580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Pertemuan</a:t>
            </a:r>
            <a:r>
              <a:rPr sz="1200" b="1" spc="10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21 </a:t>
            </a:r>
            <a:r>
              <a:rPr sz="1200" b="1" spc="-10" dirty="0">
                <a:latin typeface="Times New Roman"/>
                <a:cs typeface="Times New Roman"/>
              </a:rPr>
              <a:t>Dasar-</a:t>
            </a:r>
            <a:r>
              <a:rPr sz="1200" b="1" spc="-20" dirty="0">
                <a:latin typeface="Times New Roman"/>
                <a:cs typeface="Times New Roman"/>
              </a:rPr>
              <a:t>dasar</a:t>
            </a:r>
            <a:r>
              <a:rPr sz="1200" b="1" spc="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Servlet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90"/>
              </a:lnSpc>
            </a:pPr>
            <a:r>
              <a:rPr spc="-25" dirty="0"/>
              <a:t>11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72254" y="2002155"/>
            <a:ext cx="3200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Times New Roman"/>
                <a:cs typeface="Times New Roman"/>
              </a:rPr>
              <a:t>yang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77695" y="2187575"/>
            <a:ext cx="4624070" cy="7388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43500"/>
              </a:lnSpc>
              <a:spcBef>
                <a:spcPts val="90"/>
              </a:spcBef>
            </a:pPr>
            <a:r>
              <a:rPr sz="1200" dirty="0">
                <a:latin typeface="Times New Roman"/>
                <a:cs typeface="Times New Roman"/>
              </a:rPr>
              <a:t>mempermudah</a:t>
            </a:r>
            <a:r>
              <a:rPr sz="1200" spc="229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para</a:t>
            </a:r>
            <a:r>
              <a:rPr sz="1200" spc="23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developer</a:t>
            </a:r>
            <a:r>
              <a:rPr sz="1200" spc="229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22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menambahkan</a:t>
            </a:r>
            <a:r>
              <a:rPr sz="1200" spc="229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konten-konten </a:t>
            </a:r>
            <a:r>
              <a:rPr sz="1200" dirty="0">
                <a:latin typeface="Times New Roman"/>
                <a:cs typeface="Times New Roman"/>
              </a:rPr>
              <a:t>dinamis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sebuah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server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mengimplementasikan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platform </a:t>
            </a:r>
            <a:r>
              <a:rPr sz="1200" dirty="0">
                <a:latin typeface="Times New Roman"/>
                <a:cs typeface="Times New Roman"/>
              </a:rPr>
              <a:t>java.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Spesifikasi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Servlet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dibuat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oleh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Sun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Microsystem.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Hingga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10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Mei </a:t>
            </a:r>
            <a:r>
              <a:rPr sz="1200" dirty="0">
                <a:latin typeface="Times New Roman"/>
                <a:cs typeface="Times New Roman"/>
              </a:rPr>
              <a:t>2006,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versi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spesifikasi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Servlet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sudah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sampai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versi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2.5.</a:t>
            </a:r>
            <a:endParaRPr sz="1200">
              <a:latin typeface="Times New Roman"/>
              <a:cs typeface="Times New Roman"/>
            </a:endParaRPr>
          </a:p>
          <a:p>
            <a:pPr marL="12700" marR="12065" indent="271780" algn="just">
              <a:lnSpc>
                <a:spcPct val="1438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Konten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dihasilkan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Servlet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API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umumnya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berupa </a:t>
            </a:r>
            <a:r>
              <a:rPr sz="1200" dirty="0">
                <a:latin typeface="Times New Roman"/>
                <a:cs typeface="Times New Roman"/>
              </a:rPr>
              <a:t>HTML,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tetapi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tidak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menutup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kemungkinan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menghasilkan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konten </a:t>
            </a:r>
            <a:r>
              <a:rPr sz="1200" dirty="0">
                <a:latin typeface="Times New Roman"/>
                <a:cs typeface="Times New Roman"/>
              </a:rPr>
              <a:t>XML</a:t>
            </a:r>
            <a:r>
              <a:rPr sz="1200" spc="16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190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konten-</a:t>
            </a:r>
            <a:r>
              <a:rPr sz="1200" dirty="0">
                <a:latin typeface="Times New Roman"/>
                <a:cs typeface="Times New Roman"/>
              </a:rPr>
              <a:t>konten</a:t>
            </a:r>
            <a:r>
              <a:rPr sz="1200" spc="19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17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lain.</a:t>
            </a:r>
            <a:r>
              <a:rPr sz="1200" spc="18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Servlet</a:t>
            </a:r>
            <a:r>
              <a:rPr sz="1200" spc="19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sendiri</a:t>
            </a:r>
            <a:r>
              <a:rPr sz="1200" spc="19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dibuat</a:t>
            </a:r>
            <a:r>
              <a:rPr sz="1200" spc="185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untuk </a:t>
            </a:r>
            <a:r>
              <a:rPr sz="1200" dirty="0">
                <a:latin typeface="Times New Roman"/>
                <a:cs typeface="Times New Roman"/>
              </a:rPr>
              <a:t>menandingi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teknologi-</a:t>
            </a:r>
            <a:r>
              <a:rPr sz="1200" dirty="0">
                <a:latin typeface="Times New Roman"/>
                <a:cs typeface="Times New Roman"/>
              </a:rPr>
              <a:t>teknologi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konten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dinamis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lainnya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seperti </a:t>
            </a:r>
            <a:r>
              <a:rPr sz="1200" dirty="0">
                <a:latin typeface="Times New Roman"/>
                <a:cs typeface="Times New Roman"/>
              </a:rPr>
              <a:t>PHP,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CGI,</a:t>
            </a:r>
            <a:r>
              <a:rPr sz="1200" spc="-10" dirty="0">
                <a:latin typeface="Times New Roman"/>
                <a:cs typeface="Times New Roman"/>
              </a:rPr>
              <a:t> ASP.NET.</a:t>
            </a:r>
            <a:endParaRPr sz="1200">
              <a:latin typeface="Times New Roman"/>
              <a:cs typeface="Times New Roman"/>
            </a:endParaRPr>
          </a:p>
          <a:p>
            <a:pPr marL="12700" marR="5715" indent="271780" algn="just">
              <a:lnSpc>
                <a:spcPct val="1437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Servlet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API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terdapat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didalam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javax.servlet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package.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sebuah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Server,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Servlet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berinteraksi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sebuah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Container,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dimana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114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Container</a:t>
            </a:r>
            <a:r>
              <a:rPr sz="1200" spc="10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11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bertanggung</a:t>
            </a:r>
            <a:r>
              <a:rPr sz="1200" spc="10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jawab</a:t>
            </a:r>
            <a:r>
              <a:rPr sz="1200" spc="114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penuh</a:t>
            </a:r>
            <a:r>
              <a:rPr sz="1200" spc="114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terhadap</a:t>
            </a:r>
            <a:r>
              <a:rPr sz="1200" spc="10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daur</a:t>
            </a:r>
            <a:r>
              <a:rPr sz="1200" spc="114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hidup, </a:t>
            </a:r>
            <a:r>
              <a:rPr sz="1200" dirty="0">
                <a:latin typeface="Times New Roman"/>
                <a:cs typeface="Times New Roman"/>
              </a:rPr>
              <a:t>pemetaan</a:t>
            </a:r>
            <a:r>
              <a:rPr sz="1200" spc="204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URL</a:t>
            </a:r>
            <a:r>
              <a:rPr sz="1200" spc="19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terhadap</a:t>
            </a:r>
            <a:r>
              <a:rPr sz="1200" spc="21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Servlet</a:t>
            </a:r>
            <a:r>
              <a:rPr sz="1200" spc="21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tertentu</a:t>
            </a:r>
            <a:r>
              <a:rPr sz="1200" spc="21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lainnya.</a:t>
            </a:r>
            <a:r>
              <a:rPr sz="1200" spc="22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Servlet</a:t>
            </a:r>
            <a:r>
              <a:rPr sz="1200" spc="220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sendiri </a:t>
            </a:r>
            <a:r>
              <a:rPr sz="1200" dirty="0">
                <a:latin typeface="Times New Roman"/>
                <a:cs typeface="Times New Roman"/>
              </a:rPr>
              <a:t>sebenarnya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sebuah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object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(dari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interface)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menerima </a:t>
            </a:r>
            <a:r>
              <a:rPr sz="1200" dirty="0">
                <a:latin typeface="Times New Roman"/>
                <a:cs typeface="Times New Roman"/>
              </a:rPr>
              <a:t>request,</a:t>
            </a:r>
            <a:r>
              <a:rPr sz="1200" spc="10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kemudian</a:t>
            </a:r>
            <a:r>
              <a:rPr sz="1200" spc="10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menggenerate</a:t>
            </a:r>
            <a:r>
              <a:rPr sz="1200" spc="10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response</a:t>
            </a:r>
            <a:r>
              <a:rPr sz="1200" spc="11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berdasarkan</a:t>
            </a:r>
            <a:r>
              <a:rPr sz="1200" spc="10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request</a:t>
            </a:r>
            <a:r>
              <a:rPr sz="1200" spc="105" dirty="0">
                <a:latin typeface="Times New Roman"/>
                <a:cs typeface="Times New Roman"/>
              </a:rPr>
              <a:t>  </a:t>
            </a:r>
            <a:r>
              <a:rPr sz="1200" spc="-20" dirty="0">
                <a:latin typeface="Times New Roman"/>
                <a:cs typeface="Times New Roman"/>
              </a:rPr>
              <a:t>yang </a:t>
            </a:r>
            <a:r>
              <a:rPr sz="1200" dirty="0">
                <a:latin typeface="Times New Roman"/>
                <a:cs typeface="Times New Roman"/>
              </a:rPr>
              <a:t>diterima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tadi.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Sedangkan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spesifik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HTTP,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disediakan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sub-</a:t>
            </a:r>
            <a:r>
              <a:rPr sz="1200" dirty="0">
                <a:latin typeface="Times New Roman"/>
                <a:cs typeface="Times New Roman"/>
              </a:rPr>
              <a:t>class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dari </a:t>
            </a:r>
            <a:r>
              <a:rPr sz="1200" dirty="0">
                <a:latin typeface="Times New Roman"/>
                <a:cs typeface="Times New Roman"/>
              </a:rPr>
              <a:t>Servlet,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yaitu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HttpServlet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didalamnya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terdapat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juga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obyek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untuk </a:t>
            </a:r>
            <a:r>
              <a:rPr sz="1200" dirty="0">
                <a:latin typeface="Times New Roman"/>
                <a:cs typeface="Times New Roman"/>
              </a:rPr>
              <a:t>manajemen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session.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Sedangkan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daur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hidup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sebuah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Servlet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sendiri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ada </a:t>
            </a:r>
            <a:r>
              <a:rPr sz="1200" dirty="0">
                <a:latin typeface="Times New Roman"/>
                <a:cs typeface="Times New Roman"/>
              </a:rPr>
              <a:t>4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state</a:t>
            </a:r>
            <a:r>
              <a:rPr sz="1200" spc="-10" dirty="0">
                <a:latin typeface="Times New Roman"/>
                <a:cs typeface="Times New Roman"/>
              </a:rPr>
              <a:t> yaitu:</a:t>
            </a:r>
            <a:endParaRPr sz="1200">
              <a:latin typeface="Times New Roman"/>
              <a:cs typeface="Times New Roman"/>
            </a:endParaRPr>
          </a:p>
          <a:p>
            <a:pPr marL="702310" marR="8890" indent="-227965" algn="just">
              <a:lnSpc>
                <a:spcPct val="143700"/>
              </a:lnSpc>
              <a:spcBef>
                <a:spcPts val="10"/>
              </a:spcBef>
              <a:buAutoNum type="alphaLcPeriod"/>
              <a:tabLst>
                <a:tab pos="703580" algn="l"/>
              </a:tabLst>
            </a:pP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4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saat</a:t>
            </a:r>
            <a:r>
              <a:rPr sz="1200" spc="4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startup,</a:t>
            </a:r>
            <a:r>
              <a:rPr sz="1200" spc="4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class-</a:t>
            </a:r>
            <a:r>
              <a:rPr sz="1200" dirty="0">
                <a:latin typeface="Times New Roman"/>
                <a:cs typeface="Times New Roman"/>
              </a:rPr>
              <a:t>class</a:t>
            </a:r>
            <a:r>
              <a:rPr sz="1200" spc="4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Servlet</a:t>
            </a:r>
            <a:r>
              <a:rPr sz="1200" spc="4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4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load</a:t>
            </a:r>
            <a:r>
              <a:rPr sz="1200" spc="4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45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Web 	</a:t>
            </a:r>
            <a:r>
              <a:rPr sz="1200" dirty="0">
                <a:latin typeface="Times New Roman"/>
                <a:cs typeface="Times New Roman"/>
              </a:rPr>
              <a:t>Container.Web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Container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kemudian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memanggil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init(). 	</a:t>
            </a:r>
            <a:r>
              <a:rPr sz="1200" dirty="0">
                <a:latin typeface="Times New Roman"/>
                <a:cs typeface="Times New Roman"/>
              </a:rPr>
              <a:t>Method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bertugas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menginisialisasi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Servlet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harus 	</a:t>
            </a:r>
            <a:r>
              <a:rPr sz="1200" dirty="0">
                <a:latin typeface="Times New Roman"/>
                <a:cs typeface="Times New Roman"/>
              </a:rPr>
              <a:t>dipanggil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sebelum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Servlet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melayani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requests.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init()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ini 	</a:t>
            </a:r>
            <a:r>
              <a:rPr sz="1200" dirty="0">
                <a:latin typeface="Times New Roman"/>
                <a:cs typeface="Times New Roman"/>
              </a:rPr>
              <a:t>hanya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dipanggil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sekali.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Setelah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init()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dipanggil,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barulah 	</a:t>
            </a:r>
            <a:r>
              <a:rPr sz="1200" dirty="0">
                <a:latin typeface="Times New Roman"/>
                <a:cs typeface="Times New Roman"/>
              </a:rPr>
              <a:t>Servlet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bisa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melayani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requests.</a:t>
            </a:r>
            <a:endParaRPr sz="1200">
              <a:latin typeface="Times New Roman"/>
              <a:cs typeface="Times New Roman"/>
            </a:endParaRPr>
          </a:p>
          <a:p>
            <a:pPr marL="703580" marR="15875" indent="-229235" algn="just">
              <a:lnSpc>
                <a:spcPct val="143800"/>
              </a:lnSpc>
              <a:spcBef>
                <a:spcPts val="10"/>
              </a:spcBef>
              <a:buAutoNum type="alphaLcPeriod"/>
              <a:tabLst>
                <a:tab pos="703580" algn="l"/>
              </a:tabLst>
            </a:pPr>
            <a:r>
              <a:rPr sz="1200" dirty="0">
                <a:latin typeface="Times New Roman"/>
                <a:cs typeface="Times New Roman"/>
              </a:rPr>
              <a:t>Setiap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request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masuk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dilayani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ditangani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oleh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thread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3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berbeda.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Container</a:t>
            </a:r>
            <a:r>
              <a:rPr sz="1200" spc="3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memanggil</a:t>
            </a:r>
            <a:r>
              <a:rPr sz="1200" spc="3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</a:t>
            </a:r>
            <a:r>
              <a:rPr sz="1200" spc="3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service()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setiap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reqeust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masuk.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menetukan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jenis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77695" y="955294"/>
            <a:ext cx="4628515" cy="6602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3580" marR="17145" algn="just">
              <a:lnSpc>
                <a:spcPct val="1444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request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masuk,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kemudian menentukan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 mana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yang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menghandle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request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tersebut.</a:t>
            </a:r>
            <a:endParaRPr sz="1200">
              <a:latin typeface="Times New Roman"/>
              <a:cs typeface="Times New Roman"/>
            </a:endParaRPr>
          </a:p>
          <a:p>
            <a:pPr marL="702310" marR="18415" indent="-227965" algn="just">
              <a:lnSpc>
                <a:spcPct val="144100"/>
              </a:lnSpc>
              <a:spcBef>
                <a:spcPts val="5"/>
              </a:spcBef>
              <a:buAutoNum type="alphaLcPeriod" startAt="3"/>
              <a:tabLst>
                <a:tab pos="703580" algn="l"/>
              </a:tabLst>
            </a:pPr>
            <a:r>
              <a:rPr sz="1200" dirty="0">
                <a:latin typeface="Times New Roman"/>
                <a:cs typeface="Times New Roman"/>
              </a:rPr>
              <a:t>State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terakhir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ketika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 Container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memanggil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method 	</a:t>
            </a:r>
            <a:r>
              <a:rPr sz="1200" dirty="0">
                <a:latin typeface="Times New Roman"/>
                <a:cs typeface="Times New Roman"/>
              </a:rPr>
              <a:t>destroy().</a:t>
            </a:r>
            <a:r>
              <a:rPr sz="1200" spc="19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Method</a:t>
            </a:r>
            <a:r>
              <a:rPr sz="1200" spc="20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204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menyerupai</a:t>
            </a:r>
            <a:r>
              <a:rPr sz="1200" spc="20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method</a:t>
            </a:r>
            <a:r>
              <a:rPr sz="1200" spc="20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init(),</a:t>
            </a:r>
            <a:r>
              <a:rPr sz="1200" spc="200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hanya 	</a:t>
            </a:r>
            <a:r>
              <a:rPr sz="1200" dirty="0">
                <a:latin typeface="Times New Roman"/>
                <a:cs typeface="Times New Roman"/>
              </a:rPr>
              <a:t>dipanggil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sekali,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menandakan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bahwa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sudah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tidak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lagi 	</a:t>
            </a:r>
            <a:r>
              <a:rPr sz="1200" dirty="0">
                <a:latin typeface="Times New Roman"/>
                <a:cs typeface="Times New Roman"/>
              </a:rPr>
              <a:t>layanan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Servlet.</a:t>
            </a:r>
            <a:endParaRPr sz="1200">
              <a:latin typeface="Times New Roman"/>
              <a:cs typeface="Times New Roman"/>
            </a:endParaRPr>
          </a:p>
          <a:p>
            <a:pPr marL="703580" indent="-229235" algn="just">
              <a:lnSpc>
                <a:spcPct val="100000"/>
              </a:lnSpc>
              <a:spcBef>
                <a:spcPts val="620"/>
              </a:spcBef>
              <a:buAutoNum type="alphaLcPeriod" startAt="3"/>
              <a:tabLst>
                <a:tab pos="703580" algn="l"/>
              </a:tabLst>
            </a:pPr>
            <a:r>
              <a:rPr sz="1200" dirty="0">
                <a:latin typeface="Times New Roman"/>
                <a:cs typeface="Times New Roman"/>
              </a:rPr>
              <a:t>ServletContext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hanya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satu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setiap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aplikasi,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dapat</a:t>
            </a:r>
            <a:endParaRPr sz="1200">
              <a:latin typeface="Times New Roman"/>
              <a:cs typeface="Times New Roman"/>
            </a:endParaRPr>
          </a:p>
          <a:p>
            <a:pPr marL="703580" marR="5080" algn="just">
              <a:lnSpc>
                <a:spcPct val="1436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digunakan oleh semua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Servlet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terlibat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aplikasi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tersebut.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sisi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lain,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masing-</a:t>
            </a:r>
            <a:r>
              <a:rPr sz="1200" dirty="0">
                <a:latin typeface="Times New Roman"/>
                <a:cs typeface="Times New Roman"/>
              </a:rPr>
              <a:t>masing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Servlet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tadi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memiliki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ServletConfig sendiri-</a:t>
            </a:r>
            <a:r>
              <a:rPr sz="1200" dirty="0">
                <a:latin typeface="Times New Roman"/>
                <a:cs typeface="Times New Roman"/>
              </a:rPr>
              <a:t>sendiri.</a:t>
            </a:r>
            <a:r>
              <a:rPr sz="1200" spc="18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ServletConfig</a:t>
            </a:r>
            <a:r>
              <a:rPr sz="1200" spc="17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19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menyediakan</a:t>
            </a:r>
            <a:r>
              <a:rPr sz="1200" spc="185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inisialisasi </a:t>
            </a:r>
            <a:r>
              <a:rPr sz="1200" dirty="0">
                <a:latin typeface="Times New Roman"/>
                <a:cs typeface="Times New Roman"/>
              </a:rPr>
              <a:t>parameter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Servlet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tersebut.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40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21.2Gambaran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Arsitektur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Servlet</a:t>
            </a:r>
            <a:endParaRPr sz="1200">
              <a:latin typeface="Times New Roman"/>
              <a:cs typeface="Times New Roman"/>
            </a:endParaRPr>
          </a:p>
          <a:p>
            <a:pPr marL="12700" marR="8890" indent="271780">
              <a:lnSpc>
                <a:spcPct val="143000"/>
              </a:lnSpc>
              <a:spcBef>
                <a:spcPts val="5"/>
              </a:spcBef>
              <a:tabLst>
                <a:tab pos="595630" algn="l"/>
                <a:tab pos="1125855" algn="l"/>
                <a:tab pos="1612900" algn="l"/>
                <a:tab pos="2573655" algn="l"/>
                <a:tab pos="2979420" algn="l"/>
              </a:tabLst>
            </a:pP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pemrograman web menggunakan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JSP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Servlet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terdapat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2 </a:t>
            </a:r>
            <a:r>
              <a:rPr sz="1200" spc="-10" dirty="0">
                <a:latin typeface="Times New Roman"/>
                <a:cs typeface="Times New Roman"/>
              </a:rPr>
              <a:t>macam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desain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untuk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implementasi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0" dirty="0">
                <a:latin typeface="Times New Roman"/>
                <a:cs typeface="Times New Roman"/>
              </a:rPr>
              <a:t>pola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MCV(Modeller-Viewerer-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200" spc="-10" dirty="0">
                <a:latin typeface="Times New Roman"/>
                <a:cs typeface="Times New Roman"/>
              </a:rPr>
              <a:t>Controller).</a:t>
            </a:r>
            <a:endParaRPr sz="1200">
              <a:latin typeface="Times New Roman"/>
              <a:cs typeface="Times New Roman"/>
            </a:endParaRPr>
          </a:p>
          <a:p>
            <a:pPr marL="284480">
              <a:lnSpc>
                <a:spcPct val="100000"/>
              </a:lnSpc>
              <a:spcBef>
                <a:spcPts val="620"/>
              </a:spcBef>
            </a:pPr>
            <a:r>
              <a:rPr sz="1200" dirty="0">
                <a:latin typeface="Times New Roman"/>
                <a:cs typeface="Times New Roman"/>
              </a:rPr>
              <a:t>1.</a:t>
            </a:r>
            <a:r>
              <a:rPr sz="1200" spc="25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Page-</a:t>
            </a:r>
            <a:r>
              <a:rPr sz="1200" dirty="0">
                <a:latin typeface="Times New Roman"/>
                <a:cs typeface="Times New Roman"/>
              </a:rPr>
              <a:t>centric</a:t>
            </a:r>
            <a:r>
              <a:rPr sz="1200" spc="-10" dirty="0">
                <a:latin typeface="Times New Roman"/>
                <a:cs typeface="Times New Roman"/>
              </a:rPr>
              <a:t> Architecture</a:t>
            </a:r>
            <a:endParaRPr sz="1200">
              <a:latin typeface="Times New Roman"/>
              <a:cs typeface="Times New Roman"/>
            </a:endParaRPr>
          </a:p>
          <a:p>
            <a:pPr marL="513080" marR="9525" indent="414020" algn="just">
              <a:lnSpc>
                <a:spcPct val="1437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arsitektur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ini,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sebenarnya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tidak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perbedaan </a:t>
            </a:r>
            <a:r>
              <a:rPr sz="1200" dirty="0">
                <a:latin typeface="Times New Roman"/>
                <a:cs typeface="Times New Roman"/>
              </a:rPr>
              <a:t>antara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Viewer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Controller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karena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keduanya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ditangani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oleh </a:t>
            </a:r>
            <a:r>
              <a:rPr sz="1200" dirty="0">
                <a:latin typeface="Times New Roman"/>
                <a:cs typeface="Times New Roman"/>
              </a:rPr>
              <a:t>sebuah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JSP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sama.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Hal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dapat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dilakukan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karena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pada </a:t>
            </a:r>
            <a:r>
              <a:rPr sz="1200" dirty="0">
                <a:latin typeface="Times New Roman"/>
                <a:cs typeface="Times New Roman"/>
              </a:rPr>
              <a:t>dasarnya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sebuah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JSP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sebuah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servlet.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Oleh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karena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itu </a:t>
            </a:r>
            <a:r>
              <a:rPr sz="1200" dirty="0">
                <a:latin typeface="Times New Roman"/>
                <a:cs typeface="Times New Roman"/>
              </a:rPr>
              <a:t>JSP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memiliki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atribut-</a:t>
            </a:r>
            <a:r>
              <a:rPr sz="1200" dirty="0">
                <a:latin typeface="Times New Roman"/>
                <a:cs typeface="Times New Roman"/>
              </a:rPr>
              <a:t>atribut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 sama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sebuah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Servlet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dan </a:t>
            </a:r>
            <a:r>
              <a:rPr sz="1200" dirty="0">
                <a:latin typeface="Times New Roman"/>
                <a:cs typeface="Times New Roman"/>
              </a:rPr>
              <a:t>memiliki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banyak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kemudahan.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diimplementasikan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dengan </a:t>
            </a:r>
            <a:r>
              <a:rPr sz="1200" dirty="0">
                <a:latin typeface="Times New Roman"/>
                <a:cs typeface="Times New Roman"/>
              </a:rPr>
              <a:t>bentuk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Javabean.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Arsitektur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nantinya akan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sangat mirip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dengan </a:t>
            </a:r>
            <a:r>
              <a:rPr sz="1200" dirty="0">
                <a:latin typeface="Times New Roman"/>
                <a:cs typeface="Times New Roman"/>
              </a:rPr>
              <a:t>jika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kita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melakukan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pengembangan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bahasa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PHP.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38576" y="9062084"/>
            <a:ext cx="21767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Gambar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Page-</a:t>
            </a:r>
            <a:r>
              <a:rPr sz="1200" dirty="0">
                <a:latin typeface="Times New Roman"/>
                <a:cs typeface="Times New Roman"/>
              </a:rPr>
              <a:t>centric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Architecture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74010" y="7637780"/>
            <a:ext cx="3153156" cy="137401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90"/>
              </a:lnSpc>
            </a:pPr>
            <a:r>
              <a:rPr spc="-25" dirty="0"/>
              <a:t>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9360" y="3697604"/>
            <a:ext cx="3845941" cy="167767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149475" y="1481201"/>
            <a:ext cx="4350385" cy="213169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40"/>
              </a:spcBef>
            </a:pPr>
            <a:r>
              <a:rPr sz="1200" dirty="0">
                <a:latin typeface="Times New Roman"/>
                <a:cs typeface="Times New Roman"/>
              </a:rPr>
              <a:t>2.</a:t>
            </a:r>
            <a:r>
              <a:rPr sz="1200" spc="25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Servlet-</a:t>
            </a:r>
            <a:r>
              <a:rPr sz="1200" dirty="0">
                <a:latin typeface="Times New Roman"/>
                <a:cs typeface="Times New Roman"/>
              </a:rPr>
              <a:t>centric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Architecture</a:t>
            </a:r>
            <a:endParaRPr sz="1200">
              <a:latin typeface="Times New Roman"/>
              <a:cs typeface="Times New Roman"/>
            </a:endParaRPr>
          </a:p>
          <a:p>
            <a:pPr marL="241300" marR="5080" indent="414020" algn="just">
              <a:lnSpc>
                <a:spcPct val="1438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arsitektur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sebuah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servlet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bertugas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menerima </a:t>
            </a:r>
            <a:r>
              <a:rPr sz="1200" dirty="0">
                <a:latin typeface="Times New Roman"/>
                <a:cs typeface="Times New Roman"/>
              </a:rPr>
              <a:t>request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 web browser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kemudian melakukan pemrosesan </a:t>
            </a:r>
            <a:r>
              <a:rPr sz="1200" spc="-10" dirty="0">
                <a:latin typeface="Times New Roman"/>
                <a:cs typeface="Times New Roman"/>
              </a:rPr>
              <a:t>model </a:t>
            </a:r>
            <a:r>
              <a:rPr sz="1200" dirty="0">
                <a:latin typeface="Times New Roman"/>
                <a:cs typeface="Times New Roman"/>
              </a:rPr>
              <a:t>berdasarkan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request tersebut.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Setelah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itu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servlet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meminta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file </a:t>
            </a:r>
            <a:r>
              <a:rPr sz="1200" dirty="0">
                <a:latin typeface="Times New Roman"/>
                <a:cs typeface="Times New Roman"/>
              </a:rPr>
              <a:t>JSP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menangani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tampilan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data-</a:t>
            </a:r>
            <a:r>
              <a:rPr sz="1200" dirty="0">
                <a:latin typeface="Times New Roman"/>
                <a:cs typeface="Times New Roman"/>
              </a:rPr>
              <a:t>data.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arsitektur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kita</a:t>
            </a:r>
            <a:r>
              <a:rPr sz="1200" spc="3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dapat</a:t>
            </a:r>
            <a:r>
              <a:rPr sz="1200" spc="3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melakukan</a:t>
            </a:r>
            <a:r>
              <a:rPr sz="1200" spc="3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pengembangan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seperti</a:t>
            </a:r>
            <a:r>
              <a:rPr sz="1200" spc="3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layaknya</a:t>
            </a:r>
            <a:r>
              <a:rPr sz="1200" spc="3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kita </a:t>
            </a:r>
            <a:r>
              <a:rPr sz="1200" dirty="0">
                <a:latin typeface="Times New Roman"/>
                <a:cs typeface="Times New Roman"/>
              </a:rPr>
              <a:t>melakukan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pengembangan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aplikasi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Java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seperti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biasanya. </a:t>
            </a:r>
            <a:r>
              <a:rPr sz="1200" dirty="0">
                <a:latin typeface="Times New Roman"/>
                <a:cs typeface="Times New Roman"/>
              </a:rPr>
              <a:t>JSP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hanya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memudahkan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desain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tampilan.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90"/>
              </a:lnSpc>
            </a:pPr>
            <a:r>
              <a:rPr spc="-25" dirty="0"/>
              <a:t>13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106295" y="5449570"/>
            <a:ext cx="4386580" cy="3630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9634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Gambar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:Servlet-</a:t>
            </a:r>
            <a:r>
              <a:rPr sz="1200" dirty="0">
                <a:latin typeface="Times New Roman"/>
                <a:cs typeface="Times New Roman"/>
              </a:rPr>
              <a:t>centric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Architecture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6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b="1" spc="-10" dirty="0">
                <a:latin typeface="Times New Roman"/>
                <a:cs typeface="Times New Roman"/>
              </a:rPr>
              <a:t>21.3HttpServletRequest</a:t>
            </a:r>
            <a:endParaRPr sz="1200">
              <a:latin typeface="Times New Roman"/>
              <a:cs typeface="Times New Roman"/>
            </a:endParaRPr>
          </a:p>
          <a:p>
            <a:pPr marL="55880" marR="5080" indent="185420" algn="just">
              <a:lnSpc>
                <a:spcPct val="143100"/>
              </a:lnSpc>
            </a:pPr>
            <a:r>
              <a:rPr sz="1200" dirty="0">
                <a:latin typeface="Times New Roman"/>
                <a:cs typeface="Times New Roman"/>
              </a:rPr>
              <a:t>HttpServletRequest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sebuah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object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memberikan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akses </a:t>
            </a:r>
            <a:r>
              <a:rPr sz="1200" dirty="0">
                <a:latin typeface="Times New Roman"/>
                <a:cs typeface="Times New Roman"/>
              </a:rPr>
              <a:t>bagi</a:t>
            </a:r>
            <a:r>
              <a:rPr sz="1200" spc="3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segala</a:t>
            </a:r>
            <a:r>
              <a:rPr sz="1200" spc="4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informasi</a:t>
            </a:r>
            <a:r>
              <a:rPr sz="1200" spc="4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terhadap</a:t>
            </a:r>
            <a:r>
              <a:rPr sz="1200" spc="3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client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request,</a:t>
            </a:r>
            <a:r>
              <a:rPr sz="1200" spc="3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termasuk</a:t>
            </a:r>
            <a:r>
              <a:rPr sz="1200" spc="3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apa</a:t>
            </a:r>
            <a:r>
              <a:rPr sz="1200" spc="38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saja</a:t>
            </a:r>
            <a:endParaRPr sz="1200">
              <a:latin typeface="Times New Roman"/>
              <a:cs typeface="Times New Roman"/>
            </a:endParaRPr>
          </a:p>
          <a:p>
            <a:pPr marL="55880" marR="5715" algn="just">
              <a:lnSpc>
                <a:spcPct val="1438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bentuk</a:t>
            </a:r>
            <a:r>
              <a:rPr sz="1200" spc="3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parameter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</a:t>
            </a:r>
            <a:r>
              <a:rPr sz="1200" spc="3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dapat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diletakkan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3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Http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request </a:t>
            </a:r>
            <a:r>
              <a:rPr sz="1200" dirty="0">
                <a:latin typeface="Times New Roman"/>
                <a:cs typeface="Times New Roman"/>
              </a:rPr>
              <a:t>header,</a:t>
            </a:r>
            <a:r>
              <a:rPr sz="1200" spc="12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Http</a:t>
            </a:r>
            <a:r>
              <a:rPr sz="1200" spc="12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request</a:t>
            </a:r>
            <a:r>
              <a:rPr sz="1200" spc="114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method</a:t>
            </a:r>
            <a:r>
              <a:rPr sz="1200" spc="12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11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telah</a:t>
            </a:r>
            <a:r>
              <a:rPr sz="1200" spc="12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mereka</a:t>
            </a:r>
            <a:r>
              <a:rPr sz="1200" spc="12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gunakan,</a:t>
            </a:r>
            <a:r>
              <a:rPr sz="1200" spc="125" dirty="0">
                <a:latin typeface="Times New Roman"/>
                <a:cs typeface="Times New Roman"/>
              </a:rPr>
              <a:t>  </a:t>
            </a:r>
            <a:r>
              <a:rPr sz="1200" spc="-25" dirty="0">
                <a:latin typeface="Times New Roman"/>
                <a:cs typeface="Times New Roman"/>
              </a:rPr>
              <a:t>dan </a:t>
            </a:r>
            <a:r>
              <a:rPr sz="1200" spc="-10" dirty="0">
                <a:latin typeface="Times New Roman"/>
                <a:cs typeface="Times New Roman"/>
              </a:rPr>
              <a:t>sebagainya.</a:t>
            </a:r>
            <a:endParaRPr sz="1200">
              <a:latin typeface="Times New Roman"/>
              <a:cs typeface="Times New Roman"/>
            </a:endParaRPr>
          </a:p>
          <a:p>
            <a:pPr marL="55880" marR="5715" algn="just">
              <a:lnSpc>
                <a:spcPts val="2080"/>
              </a:lnSpc>
              <a:spcBef>
                <a:spcPts val="155"/>
              </a:spcBef>
            </a:pPr>
            <a:r>
              <a:rPr sz="1200" dirty="0">
                <a:latin typeface="Times New Roman"/>
                <a:cs typeface="Times New Roman"/>
              </a:rPr>
              <a:t>Beberapa</a:t>
            </a:r>
            <a:r>
              <a:rPr sz="1200" spc="4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</a:t>
            </a:r>
            <a:r>
              <a:rPr sz="1200" spc="40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4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sering</a:t>
            </a:r>
            <a:r>
              <a:rPr sz="1200" spc="3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digunakan,</a:t>
            </a:r>
            <a:r>
              <a:rPr sz="1200" spc="4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3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berada</a:t>
            </a:r>
            <a:r>
              <a:rPr sz="1200" spc="4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409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dalam </a:t>
            </a:r>
            <a:r>
              <a:rPr sz="1200" dirty="0">
                <a:latin typeface="Times New Roman"/>
                <a:cs typeface="Times New Roman"/>
              </a:rPr>
              <a:t>interface </a:t>
            </a:r>
            <a:r>
              <a:rPr sz="1200" spc="-10" dirty="0">
                <a:latin typeface="Times New Roman"/>
                <a:cs typeface="Times New Roman"/>
              </a:rPr>
              <a:t>HttpServlerRequest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25"/>
              </a:spcBef>
            </a:pPr>
            <a:endParaRPr sz="1200">
              <a:latin typeface="Times New Roman"/>
              <a:cs typeface="Times New Roman"/>
            </a:endParaRPr>
          </a:p>
          <a:p>
            <a:pPr marL="5588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1.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getMethod()</a:t>
            </a:r>
            <a:endParaRPr sz="1200">
              <a:latin typeface="Times New Roman"/>
              <a:cs typeface="Times New Roman"/>
            </a:endParaRPr>
          </a:p>
          <a:p>
            <a:pPr marL="416559" marR="140970" indent="266700">
              <a:lnSpc>
                <a:spcPct val="144400"/>
              </a:lnSpc>
            </a:pPr>
            <a:r>
              <a:rPr sz="1200" dirty="0">
                <a:latin typeface="Times New Roman"/>
                <a:cs typeface="Times New Roman"/>
              </a:rPr>
              <a:t>Fungsi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getMethod()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adalah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mengambil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jenis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method </a:t>
            </a:r>
            <a:r>
              <a:rPr sz="1200" dirty="0">
                <a:latin typeface="Times New Roman"/>
                <a:cs typeface="Times New Roman"/>
              </a:rPr>
              <a:t>HTTP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digunakan.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Nilainya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bisa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berupa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get,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post,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put,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dll.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90"/>
              </a:lnSpc>
            </a:pPr>
            <a:r>
              <a:rPr spc="-25" dirty="0"/>
              <a:t>14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2149475" y="955294"/>
            <a:ext cx="4291330" cy="791654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98120" indent="-185420" algn="just">
              <a:lnSpc>
                <a:spcPct val="100000"/>
              </a:lnSpc>
              <a:spcBef>
                <a:spcPts val="740"/>
              </a:spcBef>
              <a:buAutoNum type="arabicPeriod" startAt="2"/>
              <a:tabLst>
                <a:tab pos="198120" algn="l"/>
              </a:tabLst>
            </a:pPr>
            <a:r>
              <a:rPr sz="1200" spc="-10" dirty="0">
                <a:latin typeface="Times New Roman"/>
                <a:cs typeface="Times New Roman"/>
              </a:rPr>
              <a:t>getRequestURI()</a:t>
            </a:r>
            <a:endParaRPr sz="1200">
              <a:latin typeface="Times New Roman"/>
              <a:cs typeface="Times New Roman"/>
            </a:endParaRPr>
          </a:p>
          <a:p>
            <a:pPr marL="373380" marR="287655" indent="266700" algn="just">
              <a:lnSpc>
                <a:spcPct val="143800"/>
              </a:lnSpc>
              <a:spcBef>
                <a:spcPts val="10"/>
              </a:spcBef>
            </a:pPr>
            <a:r>
              <a:rPr sz="1200" spc="-10" dirty="0">
                <a:latin typeface="Times New Roman"/>
                <a:cs typeface="Times New Roman"/>
              </a:rPr>
              <a:t>Fungsi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getRequestURI()</a:t>
            </a:r>
            <a:r>
              <a:rPr sz="1200" dirty="0">
                <a:latin typeface="Times New Roman"/>
                <a:cs typeface="Times New Roman"/>
              </a:rPr>
              <a:t> adalah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mengambil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URL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dimulai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setelah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namahost:port/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sampai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sebelum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nama </a:t>
            </a:r>
            <a:r>
              <a:rPr sz="1200" spc="-10" dirty="0">
                <a:latin typeface="Times New Roman"/>
                <a:cs typeface="Times New Roman"/>
              </a:rPr>
              <a:t>parameter.</a:t>
            </a:r>
            <a:endParaRPr sz="1200">
              <a:latin typeface="Times New Roman"/>
              <a:cs typeface="Times New Roman"/>
            </a:endParaRPr>
          </a:p>
          <a:p>
            <a:pPr marL="198120" indent="-185420" algn="just">
              <a:lnSpc>
                <a:spcPct val="100000"/>
              </a:lnSpc>
              <a:spcBef>
                <a:spcPts val="640"/>
              </a:spcBef>
              <a:buAutoNum type="arabicPeriod" startAt="3"/>
              <a:tabLst>
                <a:tab pos="198120" algn="l"/>
              </a:tabLst>
            </a:pPr>
            <a:r>
              <a:rPr sz="1200" spc="-10" dirty="0">
                <a:latin typeface="Times New Roman"/>
                <a:cs typeface="Times New Roman"/>
              </a:rPr>
              <a:t>getRequestURL()</a:t>
            </a:r>
            <a:endParaRPr sz="1200">
              <a:latin typeface="Times New Roman"/>
              <a:cs typeface="Times New Roman"/>
            </a:endParaRPr>
          </a:p>
          <a:p>
            <a:pPr marL="640080" algn="just">
              <a:lnSpc>
                <a:spcPct val="100000"/>
              </a:lnSpc>
              <a:spcBef>
                <a:spcPts val="620"/>
              </a:spcBef>
            </a:pPr>
            <a:r>
              <a:rPr sz="1200" dirty="0">
                <a:latin typeface="Times New Roman"/>
                <a:cs typeface="Times New Roman"/>
              </a:rPr>
              <a:t>Fungsi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getRequestURL()</a:t>
            </a:r>
            <a:r>
              <a:rPr sz="1200" dirty="0">
                <a:latin typeface="Times New Roman"/>
                <a:cs typeface="Times New Roman"/>
              </a:rPr>
              <a:t> adalah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mengambil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URL.</a:t>
            </a:r>
            <a:endParaRPr sz="1200">
              <a:latin typeface="Times New Roman"/>
              <a:cs typeface="Times New Roman"/>
            </a:endParaRPr>
          </a:p>
          <a:p>
            <a:pPr marL="198120" indent="-185420" algn="just">
              <a:lnSpc>
                <a:spcPct val="100000"/>
              </a:lnSpc>
              <a:spcBef>
                <a:spcPts val="640"/>
              </a:spcBef>
              <a:buAutoNum type="arabicPeriod" startAt="4"/>
              <a:tabLst>
                <a:tab pos="198120" algn="l"/>
              </a:tabLst>
            </a:pPr>
            <a:r>
              <a:rPr sz="1200" spc="-10" dirty="0">
                <a:latin typeface="Times New Roman"/>
                <a:cs typeface="Times New Roman"/>
              </a:rPr>
              <a:t>getProtocol()</a:t>
            </a:r>
            <a:endParaRPr sz="1200">
              <a:latin typeface="Times New Roman"/>
              <a:cs typeface="Times New Roman"/>
            </a:endParaRPr>
          </a:p>
          <a:p>
            <a:pPr marL="373380" marR="238125" indent="266700" algn="just">
              <a:lnSpc>
                <a:spcPts val="2080"/>
              </a:lnSpc>
              <a:spcBef>
                <a:spcPts val="155"/>
              </a:spcBef>
            </a:pPr>
            <a:r>
              <a:rPr sz="1200" dirty="0">
                <a:latin typeface="Times New Roman"/>
                <a:cs typeface="Times New Roman"/>
              </a:rPr>
              <a:t>Fungsi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getProtocol() adalah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mengambil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nama</a:t>
            </a:r>
            <a:r>
              <a:rPr sz="1200" spc="-25" dirty="0">
                <a:latin typeface="Times New Roman"/>
                <a:cs typeface="Times New Roman"/>
              </a:rPr>
              <a:t> dan </a:t>
            </a:r>
            <a:r>
              <a:rPr sz="1200" dirty="0">
                <a:latin typeface="Times New Roman"/>
                <a:cs typeface="Times New Roman"/>
              </a:rPr>
              <a:t>versi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protokol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digunakan.</a:t>
            </a:r>
            <a:endParaRPr sz="1200">
              <a:latin typeface="Times New Roman"/>
              <a:cs typeface="Times New Roman"/>
            </a:endParaRPr>
          </a:p>
          <a:p>
            <a:pPr marL="198120" indent="-185420" algn="just">
              <a:lnSpc>
                <a:spcPct val="100000"/>
              </a:lnSpc>
              <a:spcBef>
                <a:spcPts val="450"/>
              </a:spcBef>
              <a:buAutoNum type="arabicPeriod" startAt="5"/>
              <a:tabLst>
                <a:tab pos="198120" algn="l"/>
              </a:tabLst>
            </a:pPr>
            <a:r>
              <a:rPr sz="1200" spc="-10" dirty="0">
                <a:latin typeface="Times New Roman"/>
                <a:cs typeface="Times New Roman"/>
              </a:rPr>
              <a:t>getRemoteAddr()</a:t>
            </a:r>
            <a:endParaRPr sz="1200">
              <a:latin typeface="Times New Roman"/>
              <a:cs typeface="Times New Roman"/>
            </a:endParaRPr>
          </a:p>
          <a:p>
            <a:pPr marL="373380" marR="158750" indent="266700" algn="just">
              <a:lnSpc>
                <a:spcPct val="143100"/>
              </a:lnSpc>
              <a:spcBef>
                <a:spcPts val="15"/>
              </a:spcBef>
            </a:pPr>
            <a:r>
              <a:rPr sz="1200" spc="-10" dirty="0">
                <a:latin typeface="Times New Roman"/>
                <a:cs typeface="Times New Roman"/>
              </a:rPr>
              <a:t>Fungsi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getRemoteAddr()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mengambil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alamat </a:t>
            </a:r>
            <a:r>
              <a:rPr sz="1200" dirty="0">
                <a:latin typeface="Times New Roman"/>
                <a:cs typeface="Times New Roman"/>
              </a:rPr>
              <a:t>IP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client.</a:t>
            </a:r>
            <a:endParaRPr sz="1200">
              <a:latin typeface="Times New Roman"/>
              <a:cs typeface="Times New Roman"/>
            </a:endParaRPr>
          </a:p>
          <a:p>
            <a:pPr marL="198120" indent="-185420" algn="just">
              <a:lnSpc>
                <a:spcPct val="100000"/>
              </a:lnSpc>
              <a:spcBef>
                <a:spcPts val="640"/>
              </a:spcBef>
              <a:buAutoNum type="arabicPeriod" startAt="6"/>
              <a:tabLst>
                <a:tab pos="198120" algn="l"/>
              </a:tabLst>
            </a:pPr>
            <a:r>
              <a:rPr sz="1200" spc="-10" dirty="0">
                <a:latin typeface="Times New Roman"/>
                <a:cs typeface="Times New Roman"/>
              </a:rPr>
              <a:t>getRemotePort()</a:t>
            </a:r>
            <a:endParaRPr sz="1200">
              <a:latin typeface="Times New Roman"/>
              <a:cs typeface="Times New Roman"/>
            </a:endParaRPr>
          </a:p>
          <a:p>
            <a:pPr marL="373380" marR="220345" indent="266700" algn="just">
              <a:lnSpc>
                <a:spcPts val="2080"/>
              </a:lnSpc>
              <a:spcBef>
                <a:spcPts val="155"/>
              </a:spcBef>
            </a:pPr>
            <a:r>
              <a:rPr sz="1200" dirty="0">
                <a:latin typeface="Times New Roman"/>
                <a:cs typeface="Times New Roman"/>
              </a:rPr>
              <a:t>Fungsi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getRemotePort()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adalah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10" dirty="0">
                <a:latin typeface="Times New Roman"/>
                <a:cs typeface="Times New Roman"/>
              </a:rPr>
              <a:t> mengambil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nomor </a:t>
            </a:r>
            <a:r>
              <a:rPr sz="1200" dirty="0">
                <a:latin typeface="Times New Roman"/>
                <a:cs typeface="Times New Roman"/>
              </a:rPr>
              <a:t>port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client.</a:t>
            </a:r>
            <a:endParaRPr sz="1200">
              <a:latin typeface="Times New Roman"/>
              <a:cs typeface="Times New Roman"/>
            </a:endParaRPr>
          </a:p>
          <a:p>
            <a:pPr marL="198120" indent="-185420" algn="just">
              <a:lnSpc>
                <a:spcPct val="100000"/>
              </a:lnSpc>
              <a:spcBef>
                <a:spcPts val="470"/>
              </a:spcBef>
              <a:buAutoNum type="arabicPeriod" startAt="7"/>
              <a:tabLst>
                <a:tab pos="198120" algn="l"/>
              </a:tabLst>
            </a:pPr>
            <a:r>
              <a:rPr sz="1200" spc="-10" dirty="0">
                <a:latin typeface="Times New Roman"/>
                <a:cs typeface="Times New Roman"/>
              </a:rPr>
              <a:t>getServerName()</a:t>
            </a:r>
            <a:endParaRPr sz="1200">
              <a:latin typeface="Times New Roman"/>
              <a:cs typeface="Times New Roman"/>
            </a:endParaRPr>
          </a:p>
          <a:p>
            <a:pPr marL="373380" marR="257175" indent="266700" algn="just">
              <a:lnSpc>
                <a:spcPts val="2100"/>
              </a:lnSpc>
              <a:spcBef>
                <a:spcPts val="120"/>
              </a:spcBef>
            </a:pPr>
            <a:r>
              <a:rPr sz="1200" spc="-10" dirty="0">
                <a:latin typeface="Times New Roman"/>
                <a:cs typeface="Times New Roman"/>
              </a:rPr>
              <a:t>Fungsi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getServerName()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mengambil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nama </a:t>
            </a:r>
            <a:r>
              <a:rPr sz="1200" dirty="0">
                <a:latin typeface="Times New Roman"/>
                <a:cs typeface="Times New Roman"/>
              </a:rPr>
              <a:t>host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10" dirty="0">
                <a:latin typeface="Times New Roman"/>
                <a:cs typeface="Times New Roman"/>
              </a:rPr>
              <a:t> server.</a:t>
            </a:r>
            <a:endParaRPr sz="1200">
              <a:latin typeface="Times New Roman"/>
              <a:cs typeface="Times New Roman"/>
            </a:endParaRPr>
          </a:p>
          <a:p>
            <a:pPr marL="198120" indent="-185420" algn="just">
              <a:lnSpc>
                <a:spcPct val="100000"/>
              </a:lnSpc>
              <a:spcBef>
                <a:spcPts val="459"/>
              </a:spcBef>
              <a:buAutoNum type="arabicPeriod" startAt="8"/>
              <a:tabLst>
                <a:tab pos="198120" algn="l"/>
              </a:tabLst>
            </a:pPr>
            <a:r>
              <a:rPr sz="1200" spc="-10" dirty="0">
                <a:latin typeface="Times New Roman"/>
                <a:cs typeface="Times New Roman"/>
              </a:rPr>
              <a:t>getServerPort()</a:t>
            </a:r>
            <a:endParaRPr sz="1200">
              <a:latin typeface="Times New Roman"/>
              <a:cs typeface="Times New Roman"/>
            </a:endParaRPr>
          </a:p>
          <a:p>
            <a:pPr marL="373380" marR="12700" indent="266700" algn="just">
              <a:lnSpc>
                <a:spcPts val="2080"/>
              </a:lnSpc>
              <a:spcBef>
                <a:spcPts val="135"/>
              </a:spcBef>
            </a:pPr>
            <a:r>
              <a:rPr sz="1200" dirty="0">
                <a:latin typeface="Times New Roman"/>
                <a:cs typeface="Times New Roman"/>
              </a:rPr>
              <a:t>Fungsi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getServerPort()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mengambil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nomor</a:t>
            </a:r>
            <a:r>
              <a:rPr sz="1200" spc="-20" dirty="0">
                <a:latin typeface="Times New Roman"/>
                <a:cs typeface="Times New Roman"/>
              </a:rPr>
              <a:t> port </a:t>
            </a:r>
            <a:r>
              <a:rPr sz="1200" spc="-10" dirty="0">
                <a:latin typeface="Times New Roman"/>
                <a:cs typeface="Times New Roman"/>
              </a:rPr>
              <a:t>server.</a:t>
            </a:r>
            <a:endParaRPr sz="1200">
              <a:latin typeface="Times New Roman"/>
              <a:cs typeface="Times New Roman"/>
            </a:endParaRPr>
          </a:p>
          <a:p>
            <a:pPr marL="198120" indent="-185420" algn="just">
              <a:lnSpc>
                <a:spcPct val="100000"/>
              </a:lnSpc>
              <a:spcBef>
                <a:spcPts val="445"/>
              </a:spcBef>
              <a:buAutoNum type="arabicPeriod" startAt="9"/>
              <a:tabLst>
                <a:tab pos="198120" algn="l"/>
              </a:tabLst>
            </a:pPr>
            <a:r>
              <a:rPr sz="1200" spc="-10" dirty="0">
                <a:latin typeface="Times New Roman"/>
                <a:cs typeface="Times New Roman"/>
              </a:rPr>
              <a:t>getServletPath()</a:t>
            </a:r>
            <a:endParaRPr sz="1200">
              <a:latin typeface="Times New Roman"/>
              <a:cs typeface="Times New Roman"/>
            </a:endParaRPr>
          </a:p>
          <a:p>
            <a:pPr marL="373380" marR="5080" indent="266700" algn="just">
              <a:lnSpc>
                <a:spcPct val="144400"/>
              </a:lnSpc>
              <a:spcBef>
                <a:spcPts val="5"/>
              </a:spcBef>
            </a:pPr>
            <a:r>
              <a:rPr sz="1200" spc="-10" dirty="0">
                <a:latin typeface="Times New Roman"/>
                <a:cs typeface="Times New Roman"/>
              </a:rPr>
              <a:t>Fungsi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getServletPath() adalah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mengambil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URL</a:t>
            </a:r>
            <a:r>
              <a:rPr sz="1200" spc="-20" dirty="0">
                <a:latin typeface="Times New Roman"/>
                <a:cs typeface="Times New Roman"/>
              </a:rPr>
              <a:t> yang </a:t>
            </a:r>
            <a:r>
              <a:rPr sz="1200" dirty="0">
                <a:latin typeface="Times New Roman"/>
                <a:cs typeface="Times New Roman"/>
              </a:rPr>
              <a:t>memanggil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servlet,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dimulai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karakter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‘/’.</a:t>
            </a:r>
            <a:endParaRPr sz="1200">
              <a:latin typeface="Times New Roman"/>
              <a:cs typeface="Times New Roman"/>
            </a:endParaRPr>
          </a:p>
          <a:p>
            <a:pPr marL="373380" indent="-360680" algn="just">
              <a:lnSpc>
                <a:spcPct val="100000"/>
              </a:lnSpc>
              <a:spcBef>
                <a:spcPts val="620"/>
              </a:spcBef>
              <a:buAutoNum type="arabicPeriod" startAt="10"/>
              <a:tabLst>
                <a:tab pos="373380" algn="l"/>
              </a:tabLst>
            </a:pPr>
            <a:r>
              <a:rPr sz="1200" spc="-10" dirty="0">
                <a:latin typeface="Times New Roman"/>
                <a:cs typeface="Times New Roman"/>
              </a:rPr>
              <a:t>getContentType()</a:t>
            </a:r>
            <a:endParaRPr sz="1200">
              <a:latin typeface="Times New Roman"/>
              <a:cs typeface="Times New Roman"/>
            </a:endParaRPr>
          </a:p>
          <a:p>
            <a:pPr marL="373380" marR="260985" indent="266700" algn="just">
              <a:lnSpc>
                <a:spcPts val="2100"/>
              </a:lnSpc>
              <a:spcBef>
                <a:spcPts val="120"/>
              </a:spcBef>
            </a:pPr>
            <a:r>
              <a:rPr sz="1200" spc="-10" dirty="0">
                <a:latin typeface="Times New Roman"/>
                <a:cs typeface="Times New Roman"/>
              </a:rPr>
              <a:t>Fungsi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getContentType()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mengambil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jenis </a:t>
            </a:r>
            <a:r>
              <a:rPr sz="1200" dirty="0">
                <a:latin typeface="Times New Roman"/>
                <a:cs typeface="Times New Roman"/>
              </a:rPr>
              <a:t>MIME(Multipurpose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Internet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Mail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Extension).</a:t>
            </a:r>
            <a:endParaRPr sz="1200">
              <a:latin typeface="Times New Roman"/>
              <a:cs typeface="Times New Roman"/>
            </a:endParaRPr>
          </a:p>
          <a:p>
            <a:pPr marL="373380" indent="-360680" algn="just">
              <a:lnSpc>
                <a:spcPct val="100000"/>
              </a:lnSpc>
              <a:spcBef>
                <a:spcPts val="459"/>
              </a:spcBef>
              <a:buAutoNum type="arabicPeriod" startAt="11"/>
              <a:tabLst>
                <a:tab pos="373380" algn="l"/>
              </a:tabLst>
            </a:pPr>
            <a:r>
              <a:rPr sz="1200" spc="-10" dirty="0">
                <a:latin typeface="Times New Roman"/>
                <a:cs typeface="Times New Roman"/>
              </a:rPr>
              <a:t>getHeaderNames()</a:t>
            </a:r>
            <a:endParaRPr sz="1200">
              <a:latin typeface="Times New Roman"/>
              <a:cs typeface="Times New Roman"/>
            </a:endParaRPr>
          </a:p>
          <a:p>
            <a:pPr marL="373380" marR="79375" indent="266700" algn="just">
              <a:lnSpc>
                <a:spcPts val="2080"/>
              </a:lnSpc>
              <a:spcBef>
                <a:spcPts val="60"/>
              </a:spcBef>
            </a:pPr>
            <a:r>
              <a:rPr sz="1200" spc="-10" dirty="0">
                <a:latin typeface="Times New Roman"/>
                <a:cs typeface="Times New Roman"/>
              </a:rPr>
              <a:t>Fungsi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getHeaderNames()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adalah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mengambil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nama2 </a:t>
            </a:r>
            <a:r>
              <a:rPr sz="1200" dirty="0">
                <a:latin typeface="Times New Roman"/>
                <a:cs typeface="Times New Roman"/>
              </a:rPr>
              <a:t>header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berada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object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request.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90"/>
              </a:lnSpc>
            </a:pPr>
            <a:r>
              <a:rPr spc="-25" dirty="0"/>
              <a:t>15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2106295" y="955294"/>
            <a:ext cx="4357370" cy="844296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416559" indent="-360680">
              <a:lnSpc>
                <a:spcPct val="100000"/>
              </a:lnSpc>
              <a:spcBef>
                <a:spcPts val="740"/>
              </a:spcBef>
              <a:buAutoNum type="arabicPeriod" startAt="12"/>
              <a:tabLst>
                <a:tab pos="416559" algn="l"/>
              </a:tabLst>
            </a:pPr>
            <a:r>
              <a:rPr sz="1200" spc="-10" dirty="0">
                <a:latin typeface="Times New Roman"/>
                <a:cs typeface="Times New Roman"/>
              </a:rPr>
              <a:t>getHeader()</a:t>
            </a:r>
            <a:endParaRPr sz="1200">
              <a:latin typeface="Times New Roman"/>
              <a:cs typeface="Times New Roman"/>
            </a:endParaRPr>
          </a:p>
          <a:p>
            <a:pPr marL="416559" marR="22860" indent="266700">
              <a:lnSpc>
                <a:spcPct val="144400"/>
              </a:lnSpc>
            </a:pPr>
            <a:r>
              <a:rPr sz="1200" dirty="0">
                <a:latin typeface="Times New Roman"/>
                <a:cs typeface="Times New Roman"/>
              </a:rPr>
              <a:t>Fungsi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getHeader()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mengambil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nilai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suatu header.</a:t>
            </a:r>
            <a:endParaRPr sz="1200">
              <a:latin typeface="Times New Roman"/>
              <a:cs typeface="Times New Roman"/>
            </a:endParaRPr>
          </a:p>
          <a:p>
            <a:pPr marL="416559" indent="-360680">
              <a:lnSpc>
                <a:spcPct val="100000"/>
              </a:lnSpc>
              <a:spcBef>
                <a:spcPts val="620"/>
              </a:spcBef>
              <a:buAutoNum type="arabicPeriod" startAt="13"/>
              <a:tabLst>
                <a:tab pos="416559" algn="l"/>
              </a:tabLst>
            </a:pPr>
            <a:r>
              <a:rPr sz="1200" spc="-10" dirty="0">
                <a:latin typeface="Times New Roman"/>
                <a:cs typeface="Times New Roman"/>
              </a:rPr>
              <a:t>getParameter()</a:t>
            </a:r>
            <a:endParaRPr sz="1200">
              <a:latin typeface="Times New Roman"/>
              <a:cs typeface="Times New Roman"/>
            </a:endParaRPr>
          </a:p>
          <a:p>
            <a:pPr marL="416559" marR="475615" indent="266700">
              <a:lnSpc>
                <a:spcPts val="2080"/>
              </a:lnSpc>
              <a:spcBef>
                <a:spcPts val="160"/>
              </a:spcBef>
            </a:pPr>
            <a:r>
              <a:rPr sz="1200" dirty="0">
                <a:latin typeface="Times New Roman"/>
                <a:cs typeface="Times New Roman"/>
              </a:rPr>
              <a:t>Fungsi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getParameter()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adalah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mengambil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nilai </a:t>
            </a:r>
            <a:r>
              <a:rPr sz="1200" dirty="0">
                <a:latin typeface="Times New Roman"/>
                <a:cs typeface="Times New Roman"/>
              </a:rPr>
              <a:t>parameter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dikirimkan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oleh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client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servlet.</a:t>
            </a:r>
            <a:endParaRPr sz="1200">
              <a:latin typeface="Times New Roman"/>
              <a:cs typeface="Times New Roman"/>
            </a:endParaRPr>
          </a:p>
          <a:p>
            <a:pPr marL="416559" indent="-360680">
              <a:lnSpc>
                <a:spcPct val="100000"/>
              </a:lnSpc>
              <a:spcBef>
                <a:spcPts val="459"/>
              </a:spcBef>
              <a:buAutoNum type="arabicPeriod" startAt="14"/>
              <a:tabLst>
                <a:tab pos="416559" algn="l"/>
              </a:tabLst>
            </a:pPr>
            <a:r>
              <a:rPr sz="1200" spc="-10" dirty="0">
                <a:latin typeface="Times New Roman"/>
                <a:cs typeface="Times New Roman"/>
              </a:rPr>
              <a:t>getParameterName()</a:t>
            </a:r>
            <a:endParaRPr sz="1200">
              <a:latin typeface="Times New Roman"/>
              <a:cs typeface="Times New Roman"/>
            </a:endParaRPr>
          </a:p>
          <a:p>
            <a:pPr marL="416559" marR="59055" indent="266700">
              <a:lnSpc>
                <a:spcPts val="2080"/>
              </a:lnSpc>
              <a:spcBef>
                <a:spcPts val="160"/>
              </a:spcBef>
            </a:pPr>
            <a:r>
              <a:rPr sz="1200" spc="-10" dirty="0">
                <a:latin typeface="Times New Roman"/>
                <a:cs typeface="Times New Roman"/>
              </a:rPr>
              <a:t>Fungsi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getParameterName() adalah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10" dirty="0">
                <a:latin typeface="Times New Roman"/>
                <a:cs typeface="Times New Roman"/>
              </a:rPr>
              <a:t> mengambil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nama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semua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parameter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dikirimkan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oleh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client.</a:t>
            </a:r>
            <a:endParaRPr sz="1200">
              <a:latin typeface="Times New Roman"/>
              <a:cs typeface="Times New Roman"/>
            </a:endParaRPr>
          </a:p>
          <a:p>
            <a:pPr marL="416559" indent="-360680">
              <a:lnSpc>
                <a:spcPct val="100000"/>
              </a:lnSpc>
              <a:spcBef>
                <a:spcPts val="445"/>
              </a:spcBef>
              <a:buAutoNum type="arabicPeriod" startAt="15"/>
              <a:tabLst>
                <a:tab pos="416559" algn="l"/>
              </a:tabLst>
            </a:pPr>
            <a:r>
              <a:rPr sz="1200" spc="-10" dirty="0">
                <a:latin typeface="Times New Roman"/>
                <a:cs typeface="Times New Roman"/>
              </a:rPr>
              <a:t>getParameterValues</a:t>
            </a:r>
            <a:endParaRPr sz="1200">
              <a:latin typeface="Times New Roman"/>
              <a:cs typeface="Times New Roman"/>
            </a:endParaRPr>
          </a:p>
          <a:p>
            <a:pPr marL="416559" marR="41275" indent="281940">
              <a:lnSpc>
                <a:spcPct val="1437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Fungsi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getParameterValues()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untuk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mengambil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nilai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parameter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memiliki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multiple-</a:t>
            </a:r>
            <a:r>
              <a:rPr sz="1200" dirty="0">
                <a:latin typeface="Times New Roman"/>
                <a:cs typeface="Times New Roman"/>
              </a:rPr>
              <a:t>value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(misalnya </a:t>
            </a:r>
            <a:r>
              <a:rPr sz="1200" dirty="0">
                <a:latin typeface="Times New Roman"/>
                <a:cs typeface="Times New Roman"/>
              </a:rPr>
              <a:t>komponen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checkbox).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4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b="1" spc="-10" dirty="0">
                <a:latin typeface="Times New Roman"/>
                <a:cs typeface="Times New Roman"/>
              </a:rPr>
              <a:t>21.4HttpServletResponse</a:t>
            </a:r>
            <a:endParaRPr sz="1200">
              <a:latin typeface="Times New Roman"/>
              <a:cs typeface="Times New Roman"/>
            </a:endParaRPr>
          </a:p>
          <a:p>
            <a:pPr marL="55880" indent="185420">
              <a:lnSpc>
                <a:spcPct val="100000"/>
              </a:lnSpc>
              <a:spcBef>
                <a:spcPts val="605"/>
              </a:spcBef>
            </a:pPr>
            <a:r>
              <a:rPr sz="1200" spc="-10" dirty="0">
                <a:latin typeface="Times New Roman"/>
                <a:cs typeface="Times New Roman"/>
              </a:rPr>
              <a:t>HttpServletResponse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object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terdiri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semua</a:t>
            </a:r>
            <a:r>
              <a:rPr sz="1200" spc="-10" dirty="0">
                <a:latin typeface="Times New Roman"/>
                <a:cs typeface="Times New Roman"/>
              </a:rPr>
              <a:t> method</a:t>
            </a:r>
            <a:endParaRPr sz="1200">
              <a:latin typeface="Times New Roman"/>
              <a:cs typeface="Times New Roman"/>
            </a:endParaRPr>
          </a:p>
          <a:p>
            <a:pPr marL="55880" marR="7620">
              <a:lnSpc>
                <a:spcPct val="1437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dibutuhkan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oleh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memproduksi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sebuah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response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dikirimkan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kembali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kepada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client.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Meliputi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method-method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harus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di-</a:t>
            </a:r>
            <a:r>
              <a:rPr sz="1200" dirty="0">
                <a:latin typeface="Times New Roman"/>
                <a:cs typeface="Times New Roman"/>
              </a:rPr>
              <a:t>set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HTTP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response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header,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mendeklarasikan </a:t>
            </a:r>
            <a:r>
              <a:rPr sz="1200" dirty="0">
                <a:latin typeface="Times New Roman"/>
                <a:cs typeface="Times New Roman"/>
              </a:rPr>
              <a:t>tipe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MIME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response,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sebaik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untuk </a:t>
            </a:r>
            <a:r>
              <a:rPr sz="1200" dirty="0">
                <a:latin typeface="Times New Roman"/>
                <a:cs typeface="Times New Roman"/>
              </a:rPr>
              <a:t>mengambil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instance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Java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I/O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kita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gunakan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secara </a:t>
            </a:r>
            <a:r>
              <a:rPr sz="1200" dirty="0">
                <a:latin typeface="Times New Roman"/>
                <a:cs typeface="Times New Roman"/>
              </a:rPr>
              <a:t>langsung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memproduksi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output.</a:t>
            </a:r>
            <a:endParaRPr sz="1200">
              <a:latin typeface="Times New Roman"/>
              <a:cs typeface="Times New Roman"/>
            </a:endParaRPr>
          </a:p>
          <a:p>
            <a:pPr marL="241300" marR="275590">
              <a:lnSpc>
                <a:spcPct val="141600"/>
              </a:lnSpc>
              <a:spcBef>
                <a:spcPts val="40"/>
              </a:spcBef>
            </a:pPr>
            <a:r>
              <a:rPr sz="1200" dirty="0">
                <a:latin typeface="Times New Roman"/>
                <a:cs typeface="Times New Roman"/>
              </a:rPr>
              <a:t>Beberapa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HttpServletResponse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yang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digunakan: encodeRedirectURL()</a:t>
            </a:r>
            <a:endParaRPr sz="1200">
              <a:latin typeface="Times New Roman"/>
              <a:cs typeface="Times New Roman"/>
            </a:endParaRPr>
          </a:p>
          <a:p>
            <a:pPr marL="513080" marR="53975">
              <a:lnSpc>
                <a:spcPct val="1440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Fungsi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encodeRedirectURL()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Menkodekan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URL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penggunaan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terbatas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metode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sendRedirect </a:t>
            </a:r>
            <a:r>
              <a:rPr sz="1200" dirty="0">
                <a:latin typeface="Times New Roman"/>
                <a:cs typeface="Times New Roman"/>
              </a:rPr>
              <a:t>atau,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jika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pengkodean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tidak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diperlukan,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Mengembalikan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URL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tidak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diubah.</a:t>
            </a: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620"/>
              </a:spcBef>
            </a:pPr>
            <a:r>
              <a:rPr sz="1200" spc="-10" dirty="0">
                <a:latin typeface="Times New Roman"/>
                <a:cs typeface="Times New Roman"/>
              </a:rPr>
              <a:t>containsHeader()</a:t>
            </a:r>
            <a:endParaRPr sz="1200">
              <a:latin typeface="Times New Roman"/>
              <a:cs typeface="Times New Roman"/>
            </a:endParaRPr>
          </a:p>
          <a:p>
            <a:pPr marL="513080" marR="5080">
              <a:lnSpc>
                <a:spcPct val="143900"/>
              </a:lnSpc>
              <a:spcBef>
                <a:spcPts val="10"/>
              </a:spcBef>
            </a:pPr>
            <a:r>
              <a:rPr sz="1200" spc="-10" dirty="0">
                <a:latin typeface="Times New Roman"/>
                <a:cs typeface="Times New Roman"/>
              </a:rPr>
              <a:t>Fungsi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containsHeader()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adalah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mengembalikan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boolean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menunjukkan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apakah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named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response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header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sudah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di</a:t>
            </a:r>
            <a:r>
              <a:rPr sz="1200" spc="5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set.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90"/>
              </a:lnSpc>
            </a:pPr>
            <a:r>
              <a:rPr spc="-25" dirty="0"/>
              <a:t>16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2334895" y="955294"/>
            <a:ext cx="4090035" cy="528955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200" spc="-10" dirty="0">
                <a:latin typeface="Times New Roman"/>
                <a:cs typeface="Times New Roman"/>
              </a:rPr>
              <a:t>isCommited()</a:t>
            </a:r>
            <a:endParaRPr sz="1200">
              <a:latin typeface="Times New Roman"/>
              <a:cs typeface="Times New Roman"/>
            </a:endParaRPr>
          </a:p>
          <a:p>
            <a:pPr marL="284480" marR="248920">
              <a:lnSpc>
                <a:spcPct val="144400"/>
              </a:lnSpc>
            </a:pPr>
            <a:r>
              <a:rPr sz="1200" dirty="0">
                <a:latin typeface="Times New Roman"/>
                <a:cs typeface="Times New Roman"/>
              </a:rPr>
              <a:t>Fungsi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isComitted()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adalah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mengembalikan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boolean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mengindikasikan </a:t>
            </a:r>
            <a:r>
              <a:rPr sz="1200" dirty="0">
                <a:latin typeface="Times New Roman"/>
                <a:cs typeface="Times New Roman"/>
              </a:rPr>
              <a:t>jika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response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telah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commited.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200" spc="-10" dirty="0">
                <a:latin typeface="Times New Roman"/>
                <a:cs typeface="Times New Roman"/>
              </a:rPr>
              <a:t>addCookie()</a:t>
            </a:r>
            <a:endParaRPr sz="1200">
              <a:latin typeface="Times New Roman"/>
              <a:cs typeface="Times New Roman"/>
            </a:endParaRPr>
          </a:p>
          <a:p>
            <a:pPr marL="284480" marR="177800">
              <a:lnSpc>
                <a:spcPts val="2080"/>
              </a:lnSpc>
              <a:spcBef>
                <a:spcPts val="160"/>
              </a:spcBef>
            </a:pPr>
            <a:r>
              <a:rPr sz="1200" spc="-10" dirty="0">
                <a:latin typeface="Times New Roman"/>
                <a:cs typeface="Times New Roman"/>
              </a:rPr>
              <a:t>Fungsi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addCookie()</a:t>
            </a:r>
            <a:r>
              <a:rPr sz="1200" spc="-10" dirty="0">
                <a:latin typeface="Times New Roman"/>
                <a:cs typeface="Times New Roman"/>
              </a:rPr>
              <a:t> adalah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menambahkan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spesifikasi </a:t>
            </a:r>
            <a:r>
              <a:rPr sz="1200" dirty="0">
                <a:latin typeface="Times New Roman"/>
                <a:cs typeface="Times New Roman"/>
              </a:rPr>
              <a:t>cookie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response.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200" spc="-10" dirty="0">
                <a:latin typeface="Times New Roman"/>
                <a:cs typeface="Times New Roman"/>
              </a:rPr>
              <a:t>addDateHeader()</a:t>
            </a:r>
            <a:endParaRPr sz="1200">
              <a:latin typeface="Times New Roman"/>
              <a:cs typeface="Times New Roman"/>
            </a:endParaRPr>
          </a:p>
          <a:p>
            <a:pPr marL="284480" marR="5080">
              <a:lnSpc>
                <a:spcPts val="2080"/>
              </a:lnSpc>
              <a:spcBef>
                <a:spcPts val="160"/>
              </a:spcBef>
            </a:pPr>
            <a:r>
              <a:rPr sz="1200" spc="-10" dirty="0">
                <a:latin typeface="Times New Roman"/>
                <a:cs typeface="Times New Roman"/>
              </a:rPr>
              <a:t>Fungsi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addDateHeader()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menambahkan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response </a:t>
            </a:r>
            <a:r>
              <a:rPr sz="1200" dirty="0">
                <a:latin typeface="Times New Roman"/>
                <a:cs typeface="Times New Roman"/>
              </a:rPr>
              <a:t>header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nama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nilai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tanggal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telah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diberikan.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2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reset()</a:t>
            </a:r>
            <a:endParaRPr sz="1200">
              <a:latin typeface="Times New Roman"/>
              <a:cs typeface="Times New Roman"/>
            </a:endParaRPr>
          </a:p>
          <a:p>
            <a:pPr marL="284480" marR="176530">
              <a:lnSpc>
                <a:spcPct val="144400"/>
              </a:lnSpc>
            </a:pPr>
            <a:r>
              <a:rPr sz="1200" spc="-10" dirty="0">
                <a:latin typeface="Times New Roman"/>
                <a:cs typeface="Times New Roman"/>
              </a:rPr>
              <a:t>Fungsi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reset()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adalah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membersihkan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semua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yang </a:t>
            </a:r>
            <a:r>
              <a:rPr sz="1200" dirty="0">
                <a:latin typeface="Times New Roman"/>
                <a:cs typeface="Times New Roman"/>
              </a:rPr>
              <a:t>ada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buffer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termasuk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status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code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headers.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200" spc="-10" dirty="0">
                <a:latin typeface="Times New Roman"/>
                <a:cs typeface="Times New Roman"/>
              </a:rPr>
              <a:t>resetBuffer()</a:t>
            </a:r>
            <a:endParaRPr sz="1200">
              <a:latin typeface="Times New Roman"/>
              <a:cs typeface="Times New Roman"/>
            </a:endParaRPr>
          </a:p>
          <a:p>
            <a:pPr marL="284480" marR="191770">
              <a:lnSpc>
                <a:spcPts val="2080"/>
              </a:lnSpc>
              <a:spcBef>
                <a:spcPts val="175"/>
              </a:spcBef>
            </a:pPr>
            <a:r>
              <a:rPr sz="1200" dirty="0">
                <a:latin typeface="Times New Roman"/>
                <a:cs typeface="Times New Roman"/>
              </a:rPr>
              <a:t>Fungsi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resetBuffer()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membersihkan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isi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konten </a:t>
            </a:r>
            <a:r>
              <a:rPr sz="1200" dirty="0">
                <a:latin typeface="Times New Roman"/>
                <a:cs typeface="Times New Roman"/>
              </a:rPr>
              <a:t>buffer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tanpa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membersihkan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status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code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header.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200" spc="-10" dirty="0">
                <a:latin typeface="Times New Roman"/>
                <a:cs typeface="Times New Roman"/>
              </a:rPr>
              <a:t>sendError()</a:t>
            </a:r>
            <a:endParaRPr sz="1200">
              <a:latin typeface="Times New Roman"/>
              <a:cs typeface="Times New Roman"/>
            </a:endParaRPr>
          </a:p>
          <a:p>
            <a:pPr marL="284480" marR="131445">
              <a:lnSpc>
                <a:spcPct val="143100"/>
              </a:lnSpc>
              <a:spcBef>
                <a:spcPts val="15"/>
              </a:spcBef>
            </a:pPr>
            <a:r>
              <a:rPr sz="1200" spc="-10" dirty="0">
                <a:latin typeface="Times New Roman"/>
                <a:cs typeface="Times New Roman"/>
              </a:rPr>
              <a:t>Fungsi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sendError()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mengirim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error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response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ke </a:t>
            </a:r>
            <a:r>
              <a:rPr sz="1200" dirty="0">
                <a:latin typeface="Times New Roman"/>
                <a:cs typeface="Times New Roman"/>
              </a:rPr>
              <a:t>client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menggunakan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spesifikasi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tertentu</a:t>
            </a:r>
            <a:endParaRPr sz="1200">
              <a:latin typeface="Times New Roman"/>
              <a:cs typeface="Times New Roman"/>
            </a:endParaRPr>
          </a:p>
          <a:p>
            <a:pPr marL="276860">
              <a:lnSpc>
                <a:spcPct val="100000"/>
              </a:lnSpc>
              <a:spcBef>
                <a:spcPts val="640"/>
              </a:spcBef>
            </a:pPr>
            <a:r>
              <a:rPr sz="1200" spc="-10" dirty="0">
                <a:latin typeface="Times New Roman"/>
                <a:cs typeface="Times New Roman"/>
              </a:rPr>
              <a:t>(pertemuan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belum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selesai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pak)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801</Words>
  <Application>Microsoft Office PowerPoint</Application>
  <PresentationFormat>Custom</PresentationFormat>
  <Paragraphs>88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Pramadjaya</dc:creator>
  <cp:lastModifiedBy>Pramadjaya</cp:lastModifiedBy>
  <cp:revision>1</cp:revision>
  <dcterms:created xsi:type="dcterms:W3CDTF">2025-02-18T15:00:33Z</dcterms:created>
  <dcterms:modified xsi:type="dcterms:W3CDTF">2025-02-24T07:48:19Z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2025-02-18T00:00:00Z</vt:filetime>
  </property>
  <property fmtid="{D5CDD505-2E9C-101B-9397-08002B2CF9AE}" pid="3" name="Creator">
    <vt:lpwstr>Microsoft® Word 2010</vt:lpwstr>
  </property>
  <property fmtid="{D5CDD505-2E9C-101B-9397-08002B2CF9AE}" pid="4" name="LastSaved">
    <vt:filetime>2025-02-18T00:00:00Z</vt:filetime>
  </property>
  <property fmtid="{D5CDD505-2E9C-101B-9397-08002B2CF9AE}" pid="5" name="Producer">
    <vt:lpwstr>Microsoft® Word 2010</vt:lpwstr>
  </property>
</Properties>
</file>
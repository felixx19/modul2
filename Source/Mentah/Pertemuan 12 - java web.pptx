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9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695" y="1303273"/>
            <a:ext cx="316166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8077" y="2406015"/>
            <a:ext cx="5306060" cy="423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857" y="1453197"/>
            <a:ext cx="940435" cy="7016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309880">
              <a:lnSpc>
                <a:spcPts val="5360"/>
              </a:lnSpc>
            </a:pPr>
            <a:r>
              <a:rPr sz="4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Objek</a:t>
            </a:r>
            <a:r>
              <a:rPr spc="-90" dirty="0"/>
              <a:t> </a:t>
            </a:r>
            <a:r>
              <a:rPr spc="-10" dirty="0"/>
              <a:t>JavaScript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8077" y="2406015"/>
            <a:ext cx="5306060" cy="423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39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6.1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Array (Array </a:t>
            </a:r>
            <a:r>
              <a:rPr sz="1200" b="1" spc="-10" dirty="0">
                <a:latin typeface="Times New Roman"/>
                <a:cs typeface="Times New Roman"/>
              </a:rPr>
              <a:t>Object)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ts val="138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memuat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berurutan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atau </a:t>
            </a:r>
            <a:r>
              <a:rPr sz="1200" dirty="0">
                <a:latin typeface="Times New Roman"/>
                <a:cs typeface="Times New Roman"/>
              </a:rPr>
              <a:t>seri.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Artinya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dideklarasikan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isinya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tidak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satu.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Berikut </a:t>
            </a:r>
            <a:r>
              <a:rPr sz="1200" dirty="0">
                <a:latin typeface="Times New Roman"/>
                <a:cs typeface="Times New Roman"/>
              </a:rPr>
              <a:t>adalah </a:t>
            </a:r>
            <a:r>
              <a:rPr sz="1200" spc="-10" dirty="0">
                <a:latin typeface="Times New Roman"/>
                <a:cs typeface="Times New Roman"/>
              </a:rPr>
              <a:t>pendeklarasian</a:t>
            </a:r>
            <a:r>
              <a:rPr sz="1200" dirty="0">
                <a:latin typeface="Times New Roman"/>
                <a:cs typeface="Times New Roman"/>
              </a:rPr>
              <a:t> untuk </a:t>
            </a:r>
            <a:r>
              <a:rPr sz="1200" spc="-10" dirty="0">
                <a:latin typeface="Times New Roman"/>
                <a:cs typeface="Times New Roman"/>
              </a:rPr>
              <a:t>array.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nama 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Array(3)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menunjukan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variabel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elemen.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Ketiga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masing-</a:t>
            </a:r>
            <a:r>
              <a:rPr sz="1200" dirty="0">
                <a:latin typeface="Times New Roman"/>
                <a:cs typeface="Times New Roman"/>
              </a:rPr>
              <a:t>masing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Nilai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pertama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</a:t>
            </a:r>
            <a:r>
              <a:rPr sz="1200" dirty="0">
                <a:latin typeface="Times New Roman"/>
                <a:cs typeface="Times New Roman"/>
              </a:rPr>
              <a:t>mengisikan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ketiga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melakukan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 marR="415353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nama[0]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=”Dian” </a:t>
            </a:r>
            <a:r>
              <a:rPr sz="1200" dirty="0">
                <a:latin typeface="Times New Roman"/>
                <a:cs typeface="Times New Roman"/>
              </a:rPr>
              <a:t>nama[1]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=”Andri” </a:t>
            </a:r>
            <a:r>
              <a:rPr sz="1200" spc="-20" dirty="0">
                <a:latin typeface="Times New Roman"/>
                <a:cs typeface="Times New Roman"/>
              </a:rPr>
              <a:t>nama[2]=”Irawan”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017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Selain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bisa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mendeklarasikan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array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sekaligus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mengisikan </a:t>
            </a:r>
            <a:r>
              <a:rPr sz="1200" spc="-25" dirty="0">
                <a:latin typeface="Times New Roman"/>
                <a:cs typeface="Times New Roman"/>
              </a:rPr>
              <a:t>elemen-</a:t>
            </a:r>
            <a:r>
              <a:rPr sz="1200" spc="-10" dirty="0">
                <a:latin typeface="Times New Roman"/>
                <a:cs typeface="Times New Roman"/>
              </a:rPr>
              <a:t>elemennya.</a:t>
            </a:r>
            <a:endParaRPr sz="1200">
              <a:latin typeface="Times New Roman"/>
              <a:cs typeface="Times New Roman"/>
            </a:endParaRPr>
          </a:p>
          <a:p>
            <a:pPr marL="12700" marR="2510790">
              <a:lnSpc>
                <a:spcPct val="1903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new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Array(”Dian”,”Andri”,”Irawan”) </a:t>
            </a:r>
            <a:r>
              <a:rPr sz="1200" dirty="0">
                <a:latin typeface="Times New Roman"/>
                <a:cs typeface="Times New Roman"/>
              </a:rPr>
              <a:t>Maka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hasilnya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2689860">
              <a:lnSpc>
                <a:spcPct val="952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[0]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isinya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”Dian”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[1]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isinya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”Andri”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[2]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isinya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”Irawan”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577" y="6631051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077" y="6783323"/>
            <a:ext cx="3354070" cy="291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&lt;TITLE&gt;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LAtihan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Array&lt;/TITLE&gt;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 marR="1069340">
              <a:lnSpc>
                <a:spcPts val="1140"/>
              </a:lnSpc>
              <a:spcBef>
                <a:spcPts val="45"/>
              </a:spcBef>
            </a:pPr>
            <a:r>
              <a:rPr sz="1000" dirty="0">
                <a:latin typeface="Courier New"/>
                <a:cs typeface="Courier New"/>
              </a:rPr>
              <a:t>&lt;h3&gt;Latihan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Array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I&lt;/H3&gt; </a:t>
            </a:r>
            <a:r>
              <a:rPr sz="1000" dirty="0">
                <a:latin typeface="Courier New"/>
                <a:cs typeface="Courier New"/>
              </a:rPr>
              <a:t>Nama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pada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data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: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5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4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&lt;!-</a:t>
            </a:r>
            <a:r>
              <a:rPr sz="1000" dirty="0">
                <a:latin typeface="Courier New"/>
                <a:cs typeface="Courier New"/>
              </a:rPr>
              <a:t>-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Memyembunyikan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kode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browser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non-</a:t>
            </a:r>
            <a:r>
              <a:rPr sz="1000" spc="-25" dirty="0">
                <a:latin typeface="Courier New"/>
                <a:cs typeface="Courier New"/>
              </a:rPr>
              <a:t>js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cobaarray()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88900" marR="81915">
              <a:lnSpc>
                <a:spcPts val="1140"/>
              </a:lnSpc>
              <a:spcBef>
                <a:spcPts val="20"/>
              </a:spcBef>
            </a:pPr>
            <a:r>
              <a:rPr sz="1000" dirty="0">
                <a:latin typeface="Courier New"/>
                <a:cs typeface="Courier New"/>
              </a:rPr>
              <a:t>nama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Array("Dian","Andri","Irawan"); document.write(nama[2]);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7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//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akhir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penyembunyian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--</a:t>
            </a:r>
            <a:r>
              <a:rPr sz="1000" spc="-50" dirty="0"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cobaarray();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3460" y="2004060"/>
            <a:ext cx="4343400" cy="0"/>
          </a:xfrm>
          <a:custGeom>
            <a:avLst/>
            <a:gdLst/>
            <a:ahLst/>
            <a:cxnLst/>
            <a:rect l="l" t="t" r="r" b="b"/>
            <a:pathLst>
              <a:path w="4343400">
                <a:moveTo>
                  <a:pt x="0" y="0"/>
                </a:moveTo>
                <a:lnTo>
                  <a:pt x="43433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577" y="907033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8077" y="1059433"/>
            <a:ext cx="5274945" cy="4951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&lt;TITLE&gt;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LAtihan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Array&lt;/TITLE&gt;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&lt;h3&gt;Latihan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Array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II&lt;/H3&gt;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Pemanggilan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data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Array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Perintah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Perulangan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For&lt;BR&gt;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 marR="1925320">
              <a:lnSpc>
                <a:spcPts val="1140"/>
              </a:lnSpc>
              <a:spcBef>
                <a:spcPts val="50"/>
              </a:spcBef>
            </a:pPr>
            <a:r>
              <a:rPr sz="1000" spc="-10" dirty="0">
                <a:latin typeface="Courier New"/>
                <a:cs typeface="Courier New"/>
              </a:rPr>
              <a:t>&lt;!-</a:t>
            </a:r>
            <a:r>
              <a:rPr sz="1000" dirty="0">
                <a:latin typeface="Courier New"/>
                <a:cs typeface="Courier New"/>
              </a:rPr>
              <a:t>-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Memyembunyikan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kode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browser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non-</a:t>
            </a:r>
            <a:r>
              <a:rPr sz="1000" spc="-25" dirty="0">
                <a:latin typeface="Courier New"/>
                <a:cs typeface="Courier New"/>
              </a:rPr>
              <a:t>js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Array(3);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nilai[0]="A";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nilai[1]="B";</a:t>
            </a:r>
            <a:endParaRPr sz="1000">
              <a:latin typeface="Courier New"/>
              <a:cs typeface="Courier New"/>
            </a:endParaRPr>
          </a:p>
          <a:p>
            <a:pPr marL="88900" marR="3902710">
              <a:lnSpc>
                <a:spcPts val="1200"/>
              </a:lnSpc>
              <a:spcBef>
                <a:spcPts val="10"/>
              </a:spcBef>
            </a:pPr>
            <a:r>
              <a:rPr sz="1000" spc="-10" dirty="0">
                <a:latin typeface="Courier New"/>
                <a:cs typeface="Courier New"/>
              </a:rPr>
              <a:t>nilai[2]="C";</a:t>
            </a:r>
            <a:r>
              <a:rPr sz="1000" spc="5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for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(a=0;a&lt;3;++a)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019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document.writeln("&lt;B&gt;Nilai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"+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[a+1]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+"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: </a:t>
            </a:r>
            <a:r>
              <a:rPr sz="1000" spc="-10" dirty="0">
                <a:latin typeface="Courier New"/>
                <a:cs typeface="Courier New"/>
              </a:rPr>
              <a:t>"+nilai[a]+"&lt;BR&gt;");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dirty="0">
                <a:latin typeface="Courier New"/>
                <a:cs typeface="Courier New"/>
              </a:rPr>
              <a:t>//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akhir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penyembunyian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--</a:t>
            </a:r>
            <a:r>
              <a:rPr sz="1000" spc="-50" dirty="0"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390"/>
              </a:lnSpc>
            </a:pPr>
            <a:r>
              <a:rPr sz="1200" b="1" dirty="0">
                <a:latin typeface="Times New Roman"/>
                <a:cs typeface="Times New Roman"/>
              </a:rPr>
              <a:t>6.2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Tanggal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Date </a:t>
            </a:r>
            <a:r>
              <a:rPr sz="1200" b="1" spc="-10" dirty="0">
                <a:latin typeface="Times New Roman"/>
                <a:cs typeface="Times New Roman"/>
              </a:rPr>
              <a:t>Object)</a:t>
            </a:r>
            <a:endParaRPr sz="1200">
              <a:latin typeface="Times New Roman"/>
              <a:cs typeface="Times New Roman"/>
            </a:endParaRPr>
          </a:p>
          <a:p>
            <a:pPr marL="12700" marR="123825">
              <a:lnSpc>
                <a:spcPts val="138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memanipulasi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tanggal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waktu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Untuk pendeklarasiannya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lama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Date()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pernyataan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menyatakan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bahwa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variabel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lama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mengandung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unsur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tanggal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dan </a:t>
            </a:r>
            <a:r>
              <a:rPr sz="1200" spc="-10" dirty="0">
                <a:latin typeface="Times New Roman"/>
                <a:cs typeface="Times New Roman"/>
              </a:rPr>
              <a:t>waktu.</a:t>
            </a:r>
            <a:endParaRPr sz="1200">
              <a:latin typeface="Times New Roman"/>
              <a:cs typeface="Times New Roman"/>
            </a:endParaRPr>
          </a:p>
          <a:p>
            <a:pPr marL="1617980">
              <a:lnSpc>
                <a:spcPts val="1345"/>
              </a:lnSpc>
            </a:pPr>
            <a:r>
              <a:rPr sz="1200" spc="-10" dirty="0">
                <a:latin typeface="Times New Roman"/>
                <a:cs typeface="Times New Roman"/>
              </a:rPr>
              <a:t>Metode-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37995" y="6008211"/>
          <a:ext cx="4083685" cy="1799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915"/>
                <a:gridCol w="2985770"/>
              </a:tblGrid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Kegunaan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getDate()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tanggal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(integer)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31.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getDay()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66040">
                        <a:lnSpc>
                          <a:spcPts val="1280"/>
                        </a:lnSpc>
                        <a:spcBef>
                          <a:spcPts val="95"/>
                        </a:spcBef>
                        <a:tabLst>
                          <a:tab pos="1145540" algn="l"/>
                          <a:tab pos="2118995" algn="l"/>
                          <a:tab pos="267779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hari(integer)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6.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Minggu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Senin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1,...............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71120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getMonth()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66040">
                        <a:lnSpc>
                          <a:spcPts val="1320"/>
                        </a:lnSpc>
                        <a:spcBef>
                          <a:spcPts val="60"/>
                        </a:spcBef>
                        <a:tabLst>
                          <a:tab pos="116332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bulan(integer)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11.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Januari=0,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Feb=1,......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getFullYear()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Menampilkan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tahun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menjadi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digit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getHours()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jam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getMinutes()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menit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getSeconds()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detik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mulai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094" y="6274434"/>
            <a:ext cx="5277611" cy="22313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4577" y="907033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077" y="1059433"/>
            <a:ext cx="5259705" cy="506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&lt;TITLE&gt;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LAtihan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Date&lt;/TITLE&gt;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bgcolor="lightblue"&gt;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&lt;h3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align="center"&gt;Latihan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Date/Tanggal&lt;/H3&gt;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&lt;!-</a:t>
            </a:r>
            <a:r>
              <a:rPr sz="1000" dirty="0">
                <a:latin typeface="Courier New"/>
                <a:cs typeface="Courier New"/>
              </a:rPr>
              <a:t>-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Memyembunyikan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kode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browser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non-</a:t>
            </a:r>
            <a:r>
              <a:rPr sz="1000" spc="-25" dirty="0">
                <a:latin typeface="Courier New"/>
                <a:cs typeface="Courier New"/>
              </a:rPr>
              <a:t>js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hari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Array("Senin","Selasa","Rabu","Kamis",</a:t>
            </a:r>
            <a:endParaRPr sz="1000">
              <a:latin typeface="Courier New"/>
              <a:cs typeface="Courier New"/>
            </a:endParaRPr>
          </a:p>
          <a:p>
            <a:pPr marL="161353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"Jumat","Sabtu","Minggu");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bulan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0" dirty="0">
                <a:latin typeface="Courier New"/>
                <a:cs typeface="Courier New"/>
              </a:rPr>
              <a:t> Array("Januari","Februari","Maret","April",</a:t>
            </a:r>
            <a:endParaRPr sz="1000">
              <a:latin typeface="Courier New"/>
              <a:cs typeface="Courier New"/>
            </a:endParaRPr>
          </a:p>
          <a:p>
            <a:pPr marL="1689735" marR="188595">
              <a:lnSpc>
                <a:spcPts val="1140"/>
              </a:lnSpc>
              <a:spcBef>
                <a:spcPts val="55"/>
              </a:spcBef>
            </a:pPr>
            <a:r>
              <a:rPr sz="1000" spc="-10" dirty="0">
                <a:latin typeface="Courier New"/>
                <a:cs typeface="Courier New"/>
              </a:rPr>
              <a:t>"Mei","Juni","Juli","Agustus", </a:t>
            </a:r>
            <a:r>
              <a:rPr sz="1000" spc="-20" dirty="0">
                <a:latin typeface="Courier New"/>
                <a:cs typeface="Courier New"/>
              </a:rPr>
              <a:t>"September","Oktober","November","Desember");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new</a:t>
            </a:r>
            <a:r>
              <a:rPr sz="1000" spc="-10" dirty="0">
                <a:latin typeface="Courier New"/>
                <a:cs typeface="Courier New"/>
              </a:rPr>
              <a:t> Date();</a:t>
            </a:r>
            <a:endParaRPr sz="1000">
              <a:latin typeface="Courier New"/>
              <a:cs typeface="Courier New"/>
            </a:endParaRPr>
          </a:p>
          <a:p>
            <a:pPr marL="12700" marR="2819400">
              <a:lnSpc>
                <a:spcPts val="114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var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hari_ini=hari[t.getDay()-</a:t>
            </a:r>
            <a:r>
              <a:rPr sz="1000" spc="-25" dirty="0">
                <a:latin typeface="Courier New"/>
                <a:cs typeface="Courier New"/>
              </a:rPr>
              <a:t>1];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tanggal=t.getDate();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60"/>
              </a:lnSpc>
            </a:pPr>
            <a:r>
              <a:rPr sz="1000" spc="-10" dirty="0">
                <a:latin typeface="Courier New"/>
                <a:cs typeface="Courier New"/>
              </a:rPr>
              <a:t>var</a:t>
            </a:r>
            <a:r>
              <a:rPr sz="1000" spc="-1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bulan_ini=bulan[t.getMonth()];</a:t>
            </a:r>
            <a:endParaRPr sz="1000">
              <a:latin typeface="Courier New"/>
              <a:cs typeface="Courier New"/>
            </a:endParaRPr>
          </a:p>
          <a:p>
            <a:pPr marL="12700" marR="3282315">
              <a:lnSpc>
                <a:spcPct val="9450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tahun=t.getYear();</a:t>
            </a:r>
            <a:r>
              <a:rPr sz="1000" spc="5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jam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=t.getHours();</a:t>
            </a:r>
            <a:r>
              <a:rPr sz="1000" spc="5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menit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=t.getMinutes();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detik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=t.getSeconds();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40"/>
              </a:lnSpc>
              <a:spcBef>
                <a:spcPts val="10"/>
              </a:spcBef>
            </a:pPr>
            <a:r>
              <a:rPr sz="1000" dirty="0">
                <a:latin typeface="Courier New"/>
                <a:cs typeface="Courier New"/>
              </a:rPr>
              <a:t>document.write("&lt;font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size=5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face=arial&gt;"); document.write("&lt;b&gt;&lt;center&gt;Sekarang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hari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:"+hari_ini+",tanggal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85"/>
              </a:lnSpc>
            </a:pPr>
            <a:r>
              <a:rPr sz="1000" dirty="0">
                <a:latin typeface="Courier New"/>
                <a:cs typeface="Courier New"/>
              </a:rPr>
              <a:t>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"+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tanggal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+"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"+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bulan_ini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+"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+tahun);</a:t>
            </a:r>
            <a:endParaRPr sz="1000">
              <a:latin typeface="Courier New"/>
              <a:cs typeface="Courier New"/>
            </a:endParaRPr>
          </a:p>
          <a:p>
            <a:pPr marL="12700" marR="1986280">
              <a:lnSpc>
                <a:spcPct val="9410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document.write("&lt;hr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width=700&gt;"); document.write("&lt;/font&gt;"); document.write("&lt;font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size=3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face=arial&gt;");</a:t>
            </a:r>
            <a:endParaRPr sz="1000">
              <a:latin typeface="Courier New"/>
              <a:cs typeface="Courier New"/>
            </a:endParaRPr>
          </a:p>
          <a:p>
            <a:pPr marL="12700" marR="1148080">
              <a:lnSpc>
                <a:spcPts val="1120"/>
              </a:lnSpc>
              <a:spcBef>
                <a:spcPts val="45"/>
              </a:spcBef>
            </a:pPr>
            <a:r>
              <a:rPr sz="1000" spc="-10" dirty="0">
                <a:latin typeface="Courier New"/>
                <a:cs typeface="Courier New"/>
              </a:rPr>
              <a:t>document.write("&lt;b&gt;&lt;center&gt;Jam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sekarang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"+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jam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+":"+ menit+":"+detik);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document.write("&lt;/font&gt;");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//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akhir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penyembunyian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--</a:t>
            </a:r>
            <a:r>
              <a:rPr sz="1000" spc="-50" dirty="0"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8077" y="8863965"/>
            <a:ext cx="5168265" cy="90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6.3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Math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55"/>
              </a:spcBef>
            </a:pPr>
            <a:r>
              <a:rPr sz="1200" dirty="0">
                <a:latin typeface="Times New Roman"/>
                <a:cs typeface="Times New Roman"/>
              </a:rPr>
              <a:t>Math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menangani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perhitungan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matematis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rumit.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Bentuk </a:t>
            </a:r>
            <a:r>
              <a:rPr sz="1200" dirty="0">
                <a:latin typeface="Times New Roman"/>
                <a:cs typeface="Times New Roman"/>
              </a:rPr>
              <a:t>penulisan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spc="-10" dirty="0">
                <a:latin typeface="Times New Roman"/>
                <a:cs typeface="Times New Roman"/>
              </a:rPr>
              <a:t>Math.metode(nilai)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7416" y="1059433"/>
            <a:ext cx="1677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Math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63395" y="1265300"/>
          <a:ext cx="4035424" cy="3077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194"/>
                <a:gridCol w="3110230"/>
              </a:tblGrid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Keterangan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abs(a)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absolut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acos(a)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kosinus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asin(a)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sinus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atan(a)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ceil(a)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Membulatkan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integer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diatasnya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kosinus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pangkat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logaritma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max(a,d)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terbesar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min(a,d)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terkecil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pow(a,d)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pangkat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random(a)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acak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antara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round(a)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Membulatkan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integer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terdekat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sqrt(a)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akar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kuadrat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sinus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tan(a)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tangen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64577" y="4527296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8077" y="4687315"/>
            <a:ext cx="5031105" cy="3478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&lt;TITLE&gt;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LAtihan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Math&gt;&lt;/TITLE&gt;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&lt;h3&gt;Latihan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Math&lt;/h3&gt;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 marR="4268470">
              <a:lnSpc>
                <a:spcPct val="94200"/>
              </a:lnSpc>
              <a:spcBef>
                <a:spcPts val="10"/>
              </a:spcBef>
            </a:pPr>
            <a:r>
              <a:rPr sz="1000" spc="-10" dirty="0">
                <a:latin typeface="Courier New"/>
                <a:cs typeface="Courier New"/>
              </a:rPr>
              <a:t>&lt;!-</a:t>
            </a:r>
            <a:r>
              <a:rPr sz="1000" dirty="0">
                <a:latin typeface="Courier New"/>
                <a:cs typeface="Courier New"/>
              </a:rPr>
              <a:t>-</a:t>
            </a:r>
            <a:r>
              <a:rPr sz="1000" spc="-1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Begin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a=10;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b=5;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besar=Math.max(a,b);</a:t>
            </a:r>
            <a:endParaRPr sz="1000">
              <a:latin typeface="Courier New"/>
              <a:cs typeface="Courier New"/>
            </a:endParaRPr>
          </a:p>
          <a:p>
            <a:pPr marL="12700" marR="769620">
              <a:lnSpc>
                <a:spcPts val="1140"/>
              </a:lnSpc>
              <a:spcBef>
                <a:spcPts val="45"/>
              </a:spcBef>
            </a:pPr>
            <a:r>
              <a:rPr sz="1000" dirty="0">
                <a:latin typeface="Courier New"/>
                <a:cs typeface="Courier New"/>
              </a:rPr>
              <a:t>document.write("antara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"+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+"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lebih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besar "+besar+"&lt;br&gt;");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5"/>
              </a:lnSpc>
            </a:pPr>
            <a:r>
              <a:rPr sz="1000" spc="-10" dirty="0">
                <a:latin typeface="Courier New"/>
                <a:cs typeface="Courier New"/>
              </a:rPr>
              <a:t>pangkat=Math.pow(b,a);</a:t>
            </a:r>
            <a:endParaRPr sz="1000">
              <a:latin typeface="Courier New"/>
              <a:cs typeface="Courier New"/>
            </a:endParaRPr>
          </a:p>
          <a:p>
            <a:pPr marL="12700" marR="388620">
              <a:lnSpc>
                <a:spcPts val="1140"/>
              </a:lnSpc>
              <a:spcBef>
                <a:spcPts val="20"/>
              </a:spcBef>
            </a:pPr>
            <a:r>
              <a:rPr sz="1000" dirty="0">
                <a:latin typeface="Courier New"/>
                <a:cs typeface="Courier New"/>
              </a:rPr>
              <a:t>document.write(b+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pangkat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"+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"+pangkat+"&lt;br&gt;");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ran;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dirty="0">
                <a:latin typeface="Courier New"/>
                <a:cs typeface="Courier New"/>
              </a:rPr>
              <a:t>ran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Math.round(Math.random()*50000);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4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document.write("Anda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pengunjung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yang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".&lt;br&gt;");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akar;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60"/>
              </a:lnSpc>
            </a:pPr>
            <a:r>
              <a:rPr sz="1000" dirty="0">
                <a:latin typeface="Courier New"/>
                <a:cs typeface="Courier New"/>
              </a:rPr>
              <a:t>akar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=Math.sqrt(ran);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dirty="0">
                <a:latin typeface="Courier New"/>
                <a:cs typeface="Courier New"/>
              </a:rPr>
              <a:t>document.write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("Akar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dari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"+akar);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//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End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--</a:t>
            </a:r>
            <a:r>
              <a:rPr sz="1000" spc="-50" dirty="0"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77" y="3998848"/>
            <a:ext cx="5328285" cy="143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algn="just">
              <a:lnSpc>
                <a:spcPts val="139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Latihan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82600" marR="17780" indent="-228600" algn="just">
              <a:lnSpc>
                <a:spcPts val="1380"/>
              </a:lnSpc>
              <a:spcBef>
                <a:spcPts val="45"/>
              </a:spcBef>
              <a:buAutoNum type="arabicPeriod"/>
              <a:tabLst>
                <a:tab pos="482600" algn="l"/>
              </a:tabLst>
            </a:pPr>
            <a:r>
              <a:rPr sz="1200" dirty="0">
                <a:latin typeface="Times New Roman"/>
                <a:cs typeface="Times New Roman"/>
              </a:rPr>
              <a:t>Buatlah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memunculkan</a:t>
            </a:r>
            <a:r>
              <a:rPr sz="1200" spc="16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alert/marquee </a:t>
            </a:r>
            <a:r>
              <a:rPr sz="1200" dirty="0">
                <a:latin typeface="Times New Roman"/>
                <a:cs typeface="Times New Roman"/>
              </a:rPr>
              <a:t>Selamat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Pagi,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Selamat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Siang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Selamat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Malam.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Sesuai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waktu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tertera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!!!!!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06400" marR="469900" indent="-152400">
              <a:lnSpc>
                <a:spcPts val="1380"/>
              </a:lnSpc>
              <a:spcBef>
                <a:spcPts val="5"/>
              </a:spcBef>
              <a:buAutoNum type="arabicPeriod"/>
              <a:tabLst>
                <a:tab pos="482600" algn="l"/>
              </a:tabLst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menghitung/mencari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akar-</a:t>
            </a:r>
            <a:r>
              <a:rPr sz="1200" dirty="0">
                <a:latin typeface="Times New Roman"/>
                <a:cs typeface="Times New Roman"/>
              </a:rPr>
              <a:t>akar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persamaan 	</a:t>
            </a:r>
            <a:r>
              <a:rPr sz="1200" dirty="0">
                <a:latin typeface="Times New Roman"/>
                <a:cs typeface="Times New Roman"/>
              </a:rPr>
              <a:t>F(x)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ax</a:t>
            </a:r>
            <a:r>
              <a:rPr sz="1200" spc="-15" baseline="38194" dirty="0">
                <a:latin typeface="Times New Roman"/>
                <a:cs typeface="Times New Roman"/>
              </a:rPr>
              <a:t>2</a:t>
            </a:r>
            <a:r>
              <a:rPr sz="1200" spc="-10" dirty="0">
                <a:latin typeface="Times New Roman"/>
                <a:cs typeface="Times New Roman"/>
              </a:rPr>
              <a:t>+bx+c</a:t>
            </a:r>
            <a:endParaRPr sz="1200">
              <a:latin typeface="Times New Roman"/>
              <a:cs typeface="Times New Roman"/>
            </a:endParaRPr>
          </a:p>
          <a:p>
            <a:pPr marL="4826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Rumus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mencari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x1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x2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4605" y="914400"/>
            <a:ext cx="4991100" cy="2933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976</Words>
  <Application>Microsoft Office PowerPoint</Application>
  <PresentationFormat>Custom</PresentationFormat>
  <Paragraphs>165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Objek JavaScript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Objek JavaScript</dc:title>
  <dc:creator>Pramadjaya</dc:creator>
  <cp:lastModifiedBy>Pramadjaya</cp:lastModifiedBy>
  <cp:revision>1</cp:revision>
  <dcterms:created xsi:type="dcterms:W3CDTF">2025-02-18T14:10:16Z</dcterms:created>
  <dcterms:modified xsi:type="dcterms:W3CDTF">2025-02-24T07:14:13Z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Word 2010</vt:lpwstr>
  </property>
</Properties>
</file>
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6121400" cy="8642350"/>
  <p:notesSz cx="6121400" cy="8642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798" y="-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581" y="2679128"/>
            <a:ext cx="5208587" cy="18148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9162" y="4839716"/>
            <a:ext cx="4289425" cy="21605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6387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55791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6387" y="345694"/>
            <a:ext cx="5514975" cy="1382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387" y="1987740"/>
            <a:ext cx="5514975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83435" y="8037385"/>
            <a:ext cx="1960880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6387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11980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lorschemer.com/online)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9930" y="480059"/>
            <a:ext cx="4708525" cy="7237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7239" marR="2058035" algn="ctr">
              <a:lnSpc>
                <a:spcPct val="143500"/>
              </a:lnSpc>
              <a:spcBef>
                <a:spcPts val="100"/>
              </a:spcBef>
            </a:pPr>
            <a:r>
              <a:rPr sz="1400" b="1" spc="-20" dirty="0">
                <a:latin typeface="Times New Roman"/>
                <a:cs typeface="Times New Roman"/>
              </a:rPr>
              <a:t>BAB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IX CSS</a:t>
            </a:r>
            <a:endParaRPr sz="1400" dirty="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730"/>
              </a:spcBef>
            </a:pPr>
            <a:r>
              <a:rPr sz="1200" b="1" spc="-10" dirty="0">
                <a:latin typeface="Times New Roman"/>
                <a:cs typeface="Times New Roman"/>
              </a:rPr>
              <a:t>Deskripsi:</a:t>
            </a:r>
            <a:endParaRPr sz="1200" dirty="0">
              <a:latin typeface="Times New Roman"/>
              <a:cs typeface="Times New Roman"/>
            </a:endParaRPr>
          </a:p>
          <a:p>
            <a:pPr marL="13970" marR="8255" indent="457200" algn="just">
              <a:lnSpc>
                <a:spcPct val="143900"/>
              </a:lnSpc>
              <a:spcBef>
                <a:spcPts val="115"/>
              </a:spcBef>
            </a:pPr>
            <a:r>
              <a:rPr sz="1000" dirty="0">
                <a:latin typeface="Times New Roman"/>
                <a:cs typeface="Times New Roman"/>
              </a:rPr>
              <a:t>CSS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merupakan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bahasa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yang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digunakan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untuk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mengatur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tampilan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suatu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dokumen </a:t>
            </a:r>
            <a:r>
              <a:rPr sz="1000" dirty="0">
                <a:latin typeface="Times New Roman"/>
                <a:cs typeface="Times New Roman"/>
              </a:rPr>
              <a:t>yang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ditulis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dalam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bahasa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markup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/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markup</a:t>
            </a:r>
            <a:r>
              <a:rPr sz="1000" i="1" spc="1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language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apabila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kita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membahasnya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dalam </a:t>
            </a:r>
            <a:r>
              <a:rPr sz="1000" dirty="0">
                <a:latin typeface="Times New Roman"/>
                <a:cs typeface="Times New Roman"/>
              </a:rPr>
              <a:t>konteks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web,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bisa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artikan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sebagai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bahasa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yang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digunakan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untuk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mengatur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tampilan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/</a:t>
            </a:r>
            <a:r>
              <a:rPr sz="1000" dirty="0">
                <a:latin typeface="Times New Roman"/>
                <a:cs typeface="Times New Roman"/>
              </a:rPr>
              <a:t> desain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sebuah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halaman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HTML.</a:t>
            </a:r>
            <a:endParaRPr sz="1000" dirty="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509"/>
              </a:spcBef>
            </a:pPr>
            <a:r>
              <a:rPr sz="1200" b="1" dirty="0">
                <a:latin typeface="Times New Roman"/>
                <a:cs typeface="Times New Roman"/>
              </a:rPr>
              <a:t>Tujuan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Pembelajaran:</a:t>
            </a:r>
            <a:endParaRPr sz="1200" dirty="0">
              <a:latin typeface="Times New Roman"/>
              <a:cs typeface="Times New Roman"/>
            </a:endParaRPr>
          </a:p>
          <a:p>
            <a:pPr marL="13970" marR="389255">
              <a:lnSpc>
                <a:spcPts val="2070"/>
              </a:lnSpc>
              <a:spcBef>
                <a:spcPts val="140"/>
              </a:spcBef>
            </a:pPr>
            <a:r>
              <a:rPr sz="1200" dirty="0">
                <a:latin typeface="Times New Roman"/>
                <a:cs typeface="Times New Roman"/>
              </a:rPr>
              <a:t>Setelah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memahami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pokok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bab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diharapkan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mahasiswa mampu:</a:t>
            </a:r>
            <a:endParaRPr sz="1200" dirty="0">
              <a:latin typeface="Times New Roman"/>
              <a:cs typeface="Times New Roman"/>
            </a:endParaRPr>
          </a:p>
          <a:p>
            <a:pPr marL="300990" indent="-28702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300990" algn="l"/>
              </a:tabLst>
            </a:pPr>
            <a:r>
              <a:rPr sz="1200" spc="-10" dirty="0">
                <a:latin typeface="Times New Roman"/>
                <a:cs typeface="Times New Roman"/>
              </a:rPr>
              <a:t>Memahami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pengertian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dasar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tentang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CSS</a:t>
            </a:r>
            <a:endParaRPr sz="1200" dirty="0">
              <a:latin typeface="Times New Roman"/>
              <a:cs typeface="Times New Roman"/>
            </a:endParaRPr>
          </a:p>
          <a:p>
            <a:pPr marL="300990" indent="-28702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300990" algn="l"/>
              </a:tabLst>
            </a:pPr>
            <a:r>
              <a:rPr sz="1200" dirty="0">
                <a:latin typeface="Times New Roman"/>
                <a:cs typeface="Times New Roman"/>
              </a:rPr>
              <a:t>Memahami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Kegunaan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CSS</a:t>
            </a:r>
            <a:endParaRPr sz="1200" dirty="0">
              <a:latin typeface="Times New Roman"/>
              <a:cs typeface="Times New Roman"/>
            </a:endParaRPr>
          </a:p>
          <a:p>
            <a:pPr marL="285750" indent="-27178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285750" algn="l"/>
              </a:tabLst>
            </a:pPr>
            <a:r>
              <a:rPr sz="1200" spc="-10" dirty="0">
                <a:latin typeface="Times New Roman"/>
                <a:cs typeface="Times New Roman"/>
              </a:rPr>
              <a:t>Mengimplementasikan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penerapan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20" dirty="0">
                <a:latin typeface="Times New Roman"/>
                <a:cs typeface="Times New Roman"/>
              </a:rPr>
              <a:t> web.</a:t>
            </a:r>
            <a:endParaRPr sz="1200" dirty="0">
              <a:latin typeface="Times New Roman"/>
              <a:cs typeface="Times New Roman"/>
            </a:endParaRPr>
          </a:p>
          <a:p>
            <a:pPr marL="300990" indent="-28702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300990" algn="l"/>
              </a:tabLst>
            </a:pPr>
            <a:r>
              <a:rPr sz="1200" spc="-10" dirty="0">
                <a:latin typeface="Times New Roman"/>
                <a:cs typeface="Times New Roman"/>
              </a:rPr>
              <a:t>Mempelajari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padding,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margin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border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471170" lvl="1" indent="-457200" algn="just">
              <a:lnSpc>
                <a:spcPct val="100000"/>
              </a:lnSpc>
              <a:buAutoNum type="arabicPeriod"/>
              <a:tabLst>
                <a:tab pos="47117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Pengertian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CSS</a:t>
            </a:r>
            <a:endParaRPr sz="1200" dirty="0">
              <a:latin typeface="Times New Roman"/>
              <a:cs typeface="Times New Roman"/>
            </a:endParaRPr>
          </a:p>
          <a:p>
            <a:pPr marL="13970" marR="6350" indent="457200" algn="just">
              <a:lnSpc>
                <a:spcPct val="143700"/>
              </a:lnSpc>
              <a:spcBef>
                <a:spcPts val="105"/>
              </a:spcBef>
            </a:pPr>
            <a:r>
              <a:rPr sz="1000" dirty="0">
                <a:latin typeface="Times New Roman"/>
                <a:cs typeface="Times New Roman"/>
              </a:rPr>
              <a:t>CSS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=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Cascading</a:t>
            </a:r>
            <a:r>
              <a:rPr sz="1000" i="1" spc="1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Style</a:t>
            </a:r>
            <a:r>
              <a:rPr sz="1000" i="1" spc="10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Sheets</a:t>
            </a:r>
            <a:r>
              <a:rPr sz="1000" i="1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Bahasa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lembar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Gaya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).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CSS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merupakan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bahasa </a:t>
            </a:r>
            <a:r>
              <a:rPr sz="1000" dirty="0">
                <a:latin typeface="Times New Roman"/>
                <a:cs typeface="Times New Roman"/>
              </a:rPr>
              <a:t>yang</a:t>
            </a:r>
            <a:r>
              <a:rPr sz="1000" spc="2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digunakan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untuk</a:t>
            </a:r>
            <a:r>
              <a:rPr sz="1000" spc="2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mengatur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tampilan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suatu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dokumen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yang</a:t>
            </a:r>
            <a:r>
              <a:rPr sz="1000" spc="2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ditulis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dalam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bahasa </a:t>
            </a:r>
            <a:r>
              <a:rPr sz="1000" dirty="0">
                <a:latin typeface="Times New Roman"/>
                <a:cs typeface="Times New Roman"/>
              </a:rPr>
              <a:t>markup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/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markup</a:t>
            </a:r>
            <a:r>
              <a:rPr sz="1000" i="1" spc="7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language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Jika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kita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berbicara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dalam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konteks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web,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bisa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artikan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secara </a:t>
            </a:r>
            <a:r>
              <a:rPr sz="1000" dirty="0">
                <a:latin typeface="Times New Roman"/>
                <a:cs typeface="Times New Roman"/>
              </a:rPr>
              <a:t>bebas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sebagai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CSS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merupakan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bahasa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yang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digunakan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untuk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mengatur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tampilan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/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desain </a:t>
            </a:r>
            <a:r>
              <a:rPr sz="1000" dirty="0">
                <a:latin typeface="Times New Roman"/>
                <a:cs typeface="Times New Roman"/>
              </a:rPr>
              <a:t>suatu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halaman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HTML.</a:t>
            </a: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471170" lvl="1" indent="-457200" algn="just">
              <a:lnSpc>
                <a:spcPct val="100000"/>
              </a:lnSpc>
              <a:buAutoNum type="arabicPeriod" startAt="2"/>
              <a:tabLst>
                <a:tab pos="471170" algn="l"/>
              </a:tabLst>
            </a:pPr>
            <a:r>
              <a:rPr sz="1200" b="1" dirty="0">
                <a:latin typeface="Times New Roman"/>
                <a:cs typeface="Times New Roman"/>
              </a:rPr>
              <a:t>Beberapa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yang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dapat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dilakukan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dengan</a:t>
            </a:r>
            <a:r>
              <a:rPr sz="1200" b="1" spc="-20" dirty="0">
                <a:latin typeface="Times New Roman"/>
                <a:cs typeface="Times New Roman"/>
              </a:rPr>
              <a:t> CSS.</a:t>
            </a:r>
            <a:endParaRPr sz="1200" dirty="0">
              <a:latin typeface="Times New Roman"/>
              <a:cs typeface="Times New Roman"/>
            </a:endParaRPr>
          </a:p>
          <a:p>
            <a:pPr marL="193040" marR="5080" lvl="2" indent="-180975" algn="just">
              <a:lnSpc>
                <a:spcPct val="142400"/>
              </a:lnSpc>
              <a:spcBef>
                <a:spcPts val="140"/>
              </a:spcBef>
              <a:buFont typeface="Symbol"/>
              <a:buChar char=""/>
              <a:tabLst>
                <a:tab pos="193040" algn="l"/>
              </a:tabLst>
            </a:pPr>
            <a:r>
              <a:rPr sz="1100" dirty="0">
                <a:latin typeface="Times New Roman"/>
                <a:cs typeface="Times New Roman"/>
              </a:rPr>
              <a:t>Perancangan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desain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text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dapat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dilakukan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dengan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mendefinisikan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fonts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(huruf)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, </a:t>
            </a:r>
            <a:r>
              <a:rPr sz="1100" dirty="0">
                <a:latin typeface="Times New Roman"/>
                <a:cs typeface="Times New Roman"/>
              </a:rPr>
              <a:t>colors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(warna),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margins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(ukuran),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latar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belakang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(background),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ukuran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font </a:t>
            </a:r>
            <a:r>
              <a:rPr sz="1100" dirty="0">
                <a:latin typeface="Times New Roman"/>
                <a:cs typeface="Times New Roman"/>
              </a:rPr>
              <a:t>(font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sizes)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lain-lain.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Elemen-</a:t>
            </a:r>
            <a:r>
              <a:rPr sz="1100" dirty="0">
                <a:latin typeface="Times New Roman"/>
                <a:cs typeface="Times New Roman"/>
              </a:rPr>
              <a:t>elemen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seperti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colors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(warna)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fonts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(huruf), </a:t>
            </a:r>
            <a:r>
              <a:rPr sz="1100" dirty="0">
                <a:latin typeface="Times New Roman"/>
                <a:cs typeface="Times New Roman"/>
              </a:rPr>
              <a:t>sizes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(ukuran) dan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spacing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(jarak)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disebut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juga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“styles”.</a:t>
            </a:r>
            <a:endParaRPr sz="1100" dirty="0">
              <a:latin typeface="Times New Roman"/>
              <a:cs typeface="Times New Roman"/>
            </a:endParaRPr>
          </a:p>
          <a:p>
            <a:pPr marL="193040" marR="12065" lvl="2" indent="-180975" algn="just">
              <a:lnSpc>
                <a:spcPct val="140900"/>
              </a:lnSpc>
              <a:spcBef>
                <a:spcPts val="110"/>
              </a:spcBef>
              <a:buFont typeface="Symbol"/>
              <a:buChar char=""/>
              <a:tabLst>
                <a:tab pos="193040" algn="l"/>
              </a:tabLst>
            </a:pPr>
            <a:r>
              <a:rPr sz="1100" dirty="0">
                <a:latin typeface="Times New Roman"/>
                <a:cs typeface="Times New Roman"/>
              </a:rPr>
              <a:t>Cascading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Style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Sheets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juga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bisa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berarti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meletakkan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styles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yang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berbeda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pada </a:t>
            </a:r>
            <a:r>
              <a:rPr sz="1100" dirty="0">
                <a:latin typeface="Times New Roman"/>
                <a:cs typeface="Times New Roman"/>
              </a:rPr>
              <a:t>layers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(lapisan)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yang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berbeda.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0435" y="1992629"/>
            <a:ext cx="5135880" cy="270129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43815" rIns="0" bIns="0" rtlCol="0">
            <a:spAutoFit/>
          </a:bodyPr>
          <a:lstStyle/>
          <a:p>
            <a:pPr marL="93345" marR="1397000">
              <a:lnSpc>
                <a:spcPts val="1370"/>
              </a:lnSpc>
              <a:spcBef>
                <a:spcPts val="345"/>
              </a:spcBef>
            </a:pP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CSS(Misalnya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disimpan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style.css)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berisi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 </a:t>
            </a:r>
            <a:r>
              <a:rPr sz="1200" spc="-10" dirty="0">
                <a:latin typeface="Times New Roman"/>
                <a:cs typeface="Times New Roman"/>
              </a:rPr>
              <a:t>p{text-</a:t>
            </a:r>
            <a:r>
              <a:rPr sz="1200" dirty="0">
                <a:latin typeface="Times New Roman"/>
                <a:cs typeface="Times New Roman"/>
              </a:rPr>
              <a:t>align: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justify;}</a:t>
            </a:r>
            <a:endParaRPr sz="1200">
              <a:latin typeface="Times New Roman"/>
              <a:cs typeface="Times New Roman"/>
            </a:endParaRPr>
          </a:p>
          <a:p>
            <a:pPr marL="93345">
              <a:lnSpc>
                <a:spcPts val="1410"/>
              </a:lnSpc>
              <a:spcBef>
                <a:spcPts val="1285"/>
              </a:spcBef>
            </a:pPr>
            <a:r>
              <a:rPr sz="1200" dirty="0">
                <a:latin typeface="Times New Roman"/>
                <a:cs typeface="Times New Roman"/>
              </a:rPr>
              <a:t>Dokumen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9334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334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5054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&lt;title&gt;CSS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Internal&lt;/title&gt;</a:t>
            </a:r>
            <a:endParaRPr sz="1200">
              <a:latin typeface="Times New Roman"/>
              <a:cs typeface="Times New Roman"/>
            </a:endParaRPr>
          </a:p>
          <a:p>
            <a:pPr marL="55054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&lt;link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rel=”stylesheet”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type=text/css”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href=”style.css”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/&gt;</a:t>
            </a:r>
            <a:endParaRPr sz="1200">
              <a:latin typeface="Times New Roman"/>
              <a:cs typeface="Times New Roman"/>
            </a:endParaRPr>
          </a:p>
          <a:p>
            <a:pPr marL="9334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3345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3345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&lt;p&gt;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Paragraph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External&lt;/p&gt;</a:t>
            </a:r>
            <a:endParaRPr sz="1200">
              <a:latin typeface="Times New Roman"/>
              <a:cs typeface="Times New Roman"/>
            </a:endParaRPr>
          </a:p>
          <a:p>
            <a:pPr marL="93345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3345">
              <a:lnSpc>
                <a:spcPts val="1425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1880" y="6146800"/>
            <a:ext cx="3724275" cy="184340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2384" rIns="0" bIns="0" rtlCol="0">
            <a:spAutoFit/>
          </a:bodyPr>
          <a:lstStyle/>
          <a:p>
            <a:pPr marL="90170">
              <a:lnSpc>
                <a:spcPts val="1405"/>
              </a:lnSpc>
              <a:spcBef>
                <a:spcPts val="254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73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&lt;title&gt;CSS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Internal&lt;/title&gt;</a:t>
            </a:r>
            <a:endParaRPr sz="1200">
              <a:latin typeface="Times New Roman"/>
              <a:cs typeface="Times New Roman"/>
            </a:endParaRPr>
          </a:p>
          <a:p>
            <a:pPr marL="5473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&lt;style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type="text/css"&gt;P{text-align:justify;}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&lt;/style&gt;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&lt;p&gt;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Paragraph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Internal&lt;/p&gt;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00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30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512339"/>
            <a:ext cx="4670425" cy="124714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469900" lvl="1" indent="-457200">
              <a:lnSpc>
                <a:spcPct val="100000"/>
              </a:lnSpc>
              <a:spcBef>
                <a:spcPts val="585"/>
              </a:spcBef>
              <a:buAutoNum type="arabicPeriod" startAt="3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Cara</a:t>
            </a:r>
            <a:r>
              <a:rPr sz="1100" b="1" spc="-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Pemasangan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CSS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Pada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Dokumen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HTML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memasang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dokumen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yaitu:</a:t>
            </a:r>
            <a:endParaRPr sz="1200">
              <a:latin typeface="Times New Roman"/>
              <a:cs typeface="Times New Roman"/>
            </a:endParaRPr>
          </a:p>
          <a:p>
            <a:pPr marL="191770" lvl="2" indent="-179070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191770" algn="l"/>
              </a:tabLst>
            </a:pPr>
            <a:r>
              <a:rPr sz="1100" i="1" dirty="0">
                <a:latin typeface="Times New Roman"/>
                <a:cs typeface="Times New Roman"/>
              </a:rPr>
              <a:t>External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Style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spc="-20" dirty="0">
                <a:latin typeface="Times New Roman"/>
                <a:cs typeface="Times New Roman"/>
              </a:rPr>
              <a:t>Sheet</a:t>
            </a:r>
            <a:endParaRPr sz="1100">
              <a:latin typeface="Times New Roman"/>
              <a:cs typeface="Times New Roman"/>
            </a:endParaRPr>
          </a:p>
          <a:p>
            <a:pPr marL="191770" marR="5080">
              <a:lnSpc>
                <a:spcPts val="19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Aturan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disimpan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pada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suatu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sehingga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terpisah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dari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dokumen</a:t>
            </a:r>
            <a:r>
              <a:rPr sz="1100" spc="-10" dirty="0">
                <a:latin typeface="Times New Roman"/>
                <a:cs typeface="Times New Roman"/>
              </a:rPr>
              <a:t> HTML. </a:t>
            </a:r>
            <a:r>
              <a:rPr sz="1100" dirty="0">
                <a:latin typeface="Times New Roman"/>
                <a:cs typeface="Times New Roman"/>
              </a:rPr>
              <a:t>Kemudian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tambahkan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kode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pemanggilan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file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dalam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dokumen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HTML.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4713604"/>
            <a:ext cx="4667250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Akhiran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adalah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.css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buFont typeface="Symbol"/>
              <a:buChar char=""/>
              <a:tabLst>
                <a:tab pos="191770" algn="l"/>
              </a:tabLst>
            </a:pPr>
            <a:r>
              <a:rPr sz="1100" i="1" dirty="0">
                <a:latin typeface="Times New Roman"/>
                <a:cs typeface="Times New Roman"/>
              </a:rPr>
              <a:t>Internal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Style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spc="-20" dirty="0">
                <a:latin typeface="Times New Roman"/>
                <a:cs typeface="Times New Roman"/>
              </a:rPr>
              <a:t>Sheet</a:t>
            </a:r>
            <a:endParaRPr sz="110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590"/>
              </a:spcBef>
            </a:pPr>
            <a:r>
              <a:rPr sz="1100" dirty="0">
                <a:latin typeface="Times New Roman"/>
                <a:cs typeface="Times New Roman"/>
              </a:rPr>
              <a:t>Aturan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CSS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ditulis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pada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bagian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dokumen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HTML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menggunakan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tag</a:t>
            </a:r>
            <a:endParaRPr sz="110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570"/>
              </a:spcBef>
            </a:pPr>
            <a:r>
              <a:rPr sz="1100" spc="-10" dirty="0">
                <a:latin typeface="Times New Roman"/>
                <a:cs typeface="Times New Roman"/>
              </a:rPr>
              <a:t>&lt;style&gt;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9480" y="1500505"/>
            <a:ext cx="3724275" cy="201930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170">
              <a:lnSpc>
                <a:spcPts val="1410"/>
              </a:lnSpc>
              <a:spcBef>
                <a:spcPts val="225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737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&lt;title&gt;CSS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Internal&lt;/title&gt;</a:t>
            </a:r>
            <a:endParaRPr sz="1200">
              <a:latin typeface="Times New Roman"/>
              <a:cs typeface="Times New Roman"/>
            </a:endParaRPr>
          </a:p>
          <a:p>
            <a:pPr marL="54737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&lt;style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type="text/css"&gt;P{text-align:justify;}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&lt;/style&gt;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0170" marR="22479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&lt;p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style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=”text-</a:t>
            </a:r>
            <a:r>
              <a:rPr sz="1200" dirty="0">
                <a:latin typeface="Times New Roman"/>
                <a:cs typeface="Times New Roman"/>
              </a:rPr>
              <a:t>align:justify;”&gt;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Paragraph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diatur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Internal&lt;/p&gt;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35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30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504189"/>
            <a:ext cx="2844165" cy="80962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710"/>
              </a:spcBef>
              <a:buFont typeface="Symbol"/>
              <a:buChar char=""/>
              <a:tabLst>
                <a:tab pos="191770" algn="l"/>
              </a:tabLst>
            </a:pPr>
            <a:r>
              <a:rPr sz="1200" i="1" dirty="0">
                <a:latin typeface="Times New Roman"/>
                <a:cs typeface="Times New Roman"/>
              </a:rPr>
              <a:t>Inline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Style</a:t>
            </a:r>
            <a:r>
              <a:rPr sz="1200" i="1" spc="-4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Sheet</a:t>
            </a:r>
            <a:endParaRPr sz="1200">
              <a:latin typeface="Times New Roman"/>
              <a:cs typeface="Times New Roman"/>
            </a:endParaRPr>
          </a:p>
          <a:p>
            <a:pPr marL="191770" marR="5080">
              <a:lnSpc>
                <a:spcPts val="2070"/>
              </a:lnSpc>
              <a:spcBef>
                <a:spcPts val="80"/>
              </a:spcBef>
            </a:pPr>
            <a:r>
              <a:rPr sz="1200" dirty="0">
                <a:latin typeface="Times New Roman"/>
                <a:cs typeface="Times New Roman"/>
              </a:rPr>
              <a:t>Aturan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ditulis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langsung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tag </a:t>
            </a:r>
            <a:r>
              <a:rPr sz="1200" spc="-10" dirty="0">
                <a:latin typeface="Times New Roman"/>
                <a:cs typeface="Times New Roman"/>
              </a:rPr>
              <a:t>tampilannya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atribut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style: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37915" y="842009"/>
            <a:ext cx="4578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HTML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9315" y="842009"/>
            <a:ext cx="319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yang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0509" y="842009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akan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76876" y="842009"/>
            <a:ext cx="379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diatur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200" y="3662045"/>
            <a:ext cx="4678045" cy="34359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200" b="1" dirty="0">
                <a:latin typeface="Times New Roman"/>
                <a:cs typeface="Times New Roman"/>
              </a:rPr>
              <a:t>SATUAN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DALAM</a:t>
            </a:r>
            <a:r>
              <a:rPr sz="1200" b="1" spc="-25" dirty="0">
                <a:latin typeface="Times New Roman"/>
                <a:cs typeface="Times New Roman"/>
              </a:rPr>
              <a:t> CSS</a:t>
            </a:r>
            <a:endParaRPr sz="1200">
              <a:latin typeface="Times New Roman"/>
              <a:cs typeface="Times New Roman"/>
            </a:endParaRPr>
          </a:p>
          <a:p>
            <a:pPr marL="203200" indent="-1524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03200" algn="l"/>
              </a:tabLst>
            </a:pPr>
            <a:r>
              <a:rPr sz="1200" spc="-10" dirty="0">
                <a:latin typeface="Times New Roman"/>
                <a:cs typeface="Times New Roman"/>
              </a:rPr>
              <a:t>Statik</a:t>
            </a:r>
            <a:endParaRPr sz="1200">
              <a:latin typeface="Times New Roman"/>
              <a:cs typeface="Times New Roman"/>
            </a:endParaRPr>
          </a:p>
          <a:p>
            <a:pPr marL="306070" lvl="1" indent="-114300">
              <a:lnSpc>
                <a:spcPct val="100000"/>
              </a:lnSpc>
              <a:spcBef>
                <a:spcPts val="630"/>
              </a:spcBef>
              <a:buChar char="*"/>
              <a:tabLst>
                <a:tab pos="306070" algn="l"/>
              </a:tabLst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inchi</a:t>
            </a:r>
            <a:endParaRPr sz="1200">
              <a:latin typeface="Times New Roman"/>
              <a:cs typeface="Times New Roman"/>
            </a:endParaRPr>
          </a:p>
          <a:p>
            <a:pPr marL="306070" lvl="1" indent="-114300">
              <a:lnSpc>
                <a:spcPct val="100000"/>
              </a:lnSpc>
              <a:spcBef>
                <a:spcPts val="630"/>
              </a:spcBef>
              <a:buChar char="*"/>
              <a:tabLst>
                <a:tab pos="306070" algn="l"/>
              </a:tabLst>
            </a:pPr>
            <a:r>
              <a:rPr sz="1200" dirty="0">
                <a:latin typeface="Times New Roman"/>
                <a:cs typeface="Times New Roman"/>
              </a:rPr>
              <a:t>cm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centimeter</a:t>
            </a:r>
            <a:endParaRPr sz="1200">
              <a:latin typeface="Times New Roman"/>
              <a:cs typeface="Times New Roman"/>
            </a:endParaRPr>
          </a:p>
          <a:p>
            <a:pPr marL="306070" lvl="1" indent="-114300">
              <a:lnSpc>
                <a:spcPct val="100000"/>
              </a:lnSpc>
              <a:spcBef>
                <a:spcPts val="630"/>
              </a:spcBef>
              <a:buChar char="*"/>
              <a:tabLst>
                <a:tab pos="306070" algn="l"/>
              </a:tabLst>
            </a:pPr>
            <a:r>
              <a:rPr sz="1200" dirty="0">
                <a:latin typeface="Times New Roman"/>
                <a:cs typeface="Times New Roman"/>
              </a:rPr>
              <a:t>mm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satuan</a:t>
            </a:r>
            <a:r>
              <a:rPr sz="1200" spc="-10" dirty="0">
                <a:latin typeface="Times New Roman"/>
                <a:cs typeface="Times New Roman"/>
              </a:rPr>
              <a:t> milimeter</a:t>
            </a:r>
            <a:endParaRPr sz="1200">
              <a:latin typeface="Times New Roman"/>
              <a:cs typeface="Times New Roman"/>
            </a:endParaRPr>
          </a:p>
          <a:p>
            <a:pPr marL="306070" lvl="1" indent="-114300">
              <a:lnSpc>
                <a:spcPct val="100000"/>
              </a:lnSpc>
              <a:spcBef>
                <a:spcPts val="630"/>
              </a:spcBef>
              <a:buChar char="*"/>
              <a:tabLst>
                <a:tab pos="306070" algn="l"/>
              </a:tabLst>
            </a:pPr>
            <a:r>
              <a:rPr sz="1200" dirty="0">
                <a:latin typeface="Times New Roman"/>
                <a:cs typeface="Times New Roman"/>
              </a:rPr>
              <a:t>pt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(1point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1/72</a:t>
            </a:r>
            <a:r>
              <a:rPr sz="1200" spc="-10" dirty="0">
                <a:latin typeface="Times New Roman"/>
                <a:cs typeface="Times New Roman"/>
              </a:rPr>
              <a:t> inchi)</a:t>
            </a:r>
            <a:endParaRPr sz="1200">
              <a:latin typeface="Times New Roman"/>
              <a:cs typeface="Times New Roman"/>
            </a:endParaRPr>
          </a:p>
          <a:p>
            <a:pPr marL="306070" lvl="1" indent="-114300">
              <a:lnSpc>
                <a:spcPct val="100000"/>
              </a:lnSpc>
              <a:spcBef>
                <a:spcPts val="630"/>
              </a:spcBef>
              <a:buChar char="*"/>
              <a:tabLst>
                <a:tab pos="306070" algn="l"/>
              </a:tabLst>
            </a:pPr>
            <a:r>
              <a:rPr sz="1200" dirty="0">
                <a:latin typeface="Times New Roman"/>
                <a:cs typeface="Times New Roman"/>
              </a:rPr>
              <a:t>pc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pica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(1pica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point)</a:t>
            </a:r>
            <a:endParaRPr sz="1200">
              <a:latin typeface="Times New Roman"/>
              <a:cs typeface="Times New Roman"/>
            </a:endParaRPr>
          </a:p>
          <a:p>
            <a:pPr marL="306070" lvl="1" indent="-114300">
              <a:lnSpc>
                <a:spcPct val="100000"/>
              </a:lnSpc>
              <a:spcBef>
                <a:spcPts val="630"/>
              </a:spcBef>
              <a:buChar char="*"/>
              <a:tabLst>
                <a:tab pos="306070" algn="l"/>
              </a:tabLst>
            </a:pPr>
            <a:r>
              <a:rPr sz="1200" dirty="0">
                <a:latin typeface="Times New Roman"/>
                <a:cs typeface="Times New Roman"/>
              </a:rPr>
              <a:t>px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pixel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(satu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titik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terkecil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monitor)</a:t>
            </a:r>
            <a:endParaRPr sz="1200">
              <a:latin typeface="Times New Roman"/>
              <a:cs typeface="Times New Roman"/>
            </a:endParaRPr>
          </a:p>
          <a:p>
            <a:pPr marL="203200" indent="-15240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203200" algn="l"/>
              </a:tabLst>
            </a:pPr>
            <a:r>
              <a:rPr sz="1200" spc="-10" dirty="0">
                <a:latin typeface="Times New Roman"/>
                <a:cs typeface="Times New Roman"/>
              </a:rPr>
              <a:t>Relatif</a:t>
            </a:r>
            <a:endParaRPr sz="1200">
              <a:latin typeface="Times New Roman"/>
              <a:cs typeface="Times New Roman"/>
            </a:endParaRPr>
          </a:p>
          <a:p>
            <a:pPr marL="344170" lvl="1" indent="-114300">
              <a:lnSpc>
                <a:spcPct val="100000"/>
              </a:lnSpc>
              <a:spcBef>
                <a:spcPts val="620"/>
              </a:spcBef>
              <a:buChar char="*"/>
              <a:tabLst>
                <a:tab pos="344170" algn="l"/>
              </a:tabLst>
            </a:pPr>
            <a:r>
              <a:rPr sz="1200" dirty="0">
                <a:latin typeface="Times New Roman"/>
                <a:cs typeface="Times New Roman"/>
              </a:rPr>
              <a:t>%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persen</a:t>
            </a:r>
            <a:endParaRPr sz="1200">
              <a:latin typeface="Times New Roman"/>
              <a:cs typeface="Times New Roman"/>
            </a:endParaRPr>
          </a:p>
          <a:p>
            <a:pPr marL="306070" lvl="1" indent="-114300">
              <a:lnSpc>
                <a:spcPct val="100000"/>
              </a:lnSpc>
              <a:spcBef>
                <a:spcPts val="640"/>
              </a:spcBef>
              <a:buChar char="*"/>
              <a:tabLst>
                <a:tab pos="306070" algn="l"/>
              </a:tabLst>
            </a:pPr>
            <a:r>
              <a:rPr sz="1200" dirty="0">
                <a:latin typeface="Times New Roman"/>
                <a:cs typeface="Times New Roman"/>
              </a:rPr>
              <a:t>em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(1em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ukuran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tengah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elemen)</a:t>
            </a:r>
            <a:endParaRPr sz="1200">
              <a:latin typeface="Times New Roman"/>
              <a:cs typeface="Times New Roman"/>
            </a:endParaRPr>
          </a:p>
          <a:p>
            <a:pPr marL="191770" marR="5080" lvl="1" indent="139700">
              <a:lnSpc>
                <a:spcPts val="2070"/>
              </a:lnSpc>
              <a:spcBef>
                <a:spcPts val="90"/>
              </a:spcBef>
              <a:buChar char="*"/>
              <a:tabLst>
                <a:tab pos="331470" algn="l"/>
              </a:tabLst>
            </a:pPr>
            <a:r>
              <a:rPr sz="1200" dirty="0">
                <a:latin typeface="Times New Roman"/>
                <a:cs typeface="Times New Roman"/>
              </a:rPr>
              <a:t>ex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1ex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x-</a:t>
            </a:r>
            <a:r>
              <a:rPr sz="1200" dirty="0">
                <a:latin typeface="Times New Roman"/>
                <a:cs typeface="Times New Roman"/>
              </a:rPr>
              <a:t>height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font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(x-</a:t>
            </a:r>
            <a:r>
              <a:rPr sz="1200" dirty="0">
                <a:latin typeface="Times New Roman"/>
                <a:cs typeface="Times New Roman"/>
              </a:rPr>
              <a:t>height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biasanya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setengah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ukuran font)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182" y="1175537"/>
            <a:ext cx="3592449" cy="87170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97610" y="1123949"/>
            <a:ext cx="3726179" cy="989330"/>
          </a:xfrm>
          <a:custGeom>
            <a:avLst/>
            <a:gdLst/>
            <a:ahLst/>
            <a:cxnLst/>
            <a:rect l="l" t="t" r="r" b="b"/>
            <a:pathLst>
              <a:path w="3726179" h="989330">
                <a:moveTo>
                  <a:pt x="3716401" y="0"/>
                </a:moveTo>
                <a:lnTo>
                  <a:pt x="0" y="0"/>
                </a:lnTo>
                <a:lnTo>
                  <a:pt x="0" y="8890"/>
                </a:lnTo>
                <a:lnTo>
                  <a:pt x="0" y="980440"/>
                </a:lnTo>
                <a:lnTo>
                  <a:pt x="0" y="989330"/>
                </a:lnTo>
                <a:lnTo>
                  <a:pt x="3716401" y="989330"/>
                </a:lnTo>
                <a:lnTo>
                  <a:pt x="3716401" y="980440"/>
                </a:lnTo>
                <a:lnTo>
                  <a:pt x="9144" y="980440"/>
                </a:lnTo>
                <a:lnTo>
                  <a:pt x="9144" y="8890"/>
                </a:lnTo>
                <a:lnTo>
                  <a:pt x="3716401" y="8890"/>
                </a:lnTo>
                <a:lnTo>
                  <a:pt x="3716401" y="0"/>
                </a:lnTo>
                <a:close/>
              </a:path>
              <a:path w="3726179" h="989330">
                <a:moveTo>
                  <a:pt x="3725672" y="0"/>
                </a:moveTo>
                <a:lnTo>
                  <a:pt x="3716528" y="0"/>
                </a:lnTo>
                <a:lnTo>
                  <a:pt x="3716528" y="989076"/>
                </a:lnTo>
                <a:lnTo>
                  <a:pt x="3725672" y="989076"/>
                </a:lnTo>
                <a:lnTo>
                  <a:pt x="3725672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1930" y="7038340"/>
            <a:ext cx="1868805" cy="110490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2384" rIns="0" bIns="0" rtlCol="0">
            <a:spAutoFit/>
          </a:bodyPr>
          <a:lstStyle/>
          <a:p>
            <a:pPr marL="90170">
              <a:lnSpc>
                <a:spcPts val="1405"/>
              </a:lnSpc>
              <a:spcBef>
                <a:spcPts val="254"/>
              </a:spcBef>
            </a:pPr>
            <a:r>
              <a:rPr sz="1200" spc="-10" dirty="0">
                <a:latin typeface="Times New Roman"/>
                <a:cs typeface="Times New Roman"/>
              </a:rPr>
              <a:t>#teks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75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Color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blue;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Font-family: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Calibri;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2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494029"/>
            <a:ext cx="2568575" cy="5486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dirty="0">
                <a:latin typeface="Times New Roman"/>
                <a:cs typeface="Times New Roman"/>
              </a:rPr>
              <a:t>9.4.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Penulisan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CSS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b="1" dirty="0">
                <a:latin typeface="Times New Roman"/>
                <a:cs typeface="Times New Roman"/>
              </a:rPr>
              <a:t>Sintaks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penulisan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CSS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sebagai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200" y="2086863"/>
            <a:ext cx="4701540" cy="47783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027430">
              <a:lnSpc>
                <a:spcPct val="100000"/>
              </a:lnSpc>
              <a:spcBef>
                <a:spcPts val="77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9.1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susunan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sintaks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CSS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200" b="1" spc="-10" dirty="0">
                <a:latin typeface="Times New Roman"/>
                <a:cs typeface="Times New Roman"/>
              </a:rPr>
              <a:t>Penjelasan: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00" dirty="0">
                <a:latin typeface="Times New Roman"/>
                <a:cs typeface="Times New Roman"/>
              </a:rPr>
              <a:t>Aturan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terdiri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10" dirty="0">
                <a:latin typeface="Times New Roman"/>
                <a:cs typeface="Times New Roman"/>
              </a:rPr>
              <a:t> bagian: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241300" algn="l"/>
              </a:tabLst>
            </a:pPr>
            <a:r>
              <a:rPr sz="1200" i="1" spc="-10" dirty="0">
                <a:latin typeface="Times New Roman"/>
                <a:cs typeface="Times New Roman"/>
              </a:rPr>
              <a:t>Selector</a:t>
            </a:r>
            <a:endParaRPr sz="120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Biasanya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berupa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class</a:t>
            </a:r>
            <a:endParaRPr sz="1200">
              <a:latin typeface="Times New Roman"/>
              <a:cs typeface="Times New Roman"/>
            </a:endParaRPr>
          </a:p>
          <a:p>
            <a:pPr marL="371475" lvl="1" indent="-17970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371475" algn="l"/>
              </a:tabLst>
            </a:pPr>
            <a:r>
              <a:rPr sz="1200" dirty="0">
                <a:latin typeface="Times New Roman"/>
                <a:cs typeface="Times New Roman"/>
              </a:rPr>
              <a:t>id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tanda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didepan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selector</a:t>
            </a:r>
            <a:endParaRPr sz="1200">
              <a:latin typeface="Times New Roman"/>
              <a:cs typeface="Times New Roman"/>
            </a:endParaRPr>
          </a:p>
          <a:p>
            <a:pPr marL="191770" marR="1099185" lvl="1" indent="179705">
              <a:lnSpc>
                <a:spcPct val="139600"/>
              </a:lnSpc>
              <a:spcBef>
                <a:spcPts val="150"/>
              </a:spcBef>
              <a:buFont typeface="Symbol"/>
              <a:buChar char=""/>
              <a:tabLst>
                <a:tab pos="371475" algn="l"/>
              </a:tabLst>
            </a:pP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tanda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titik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didepan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selector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91770" marR="2400300">
              <a:lnSpc>
                <a:spcPts val="2070"/>
              </a:lnSpc>
              <a:spcBef>
                <a:spcPts val="165"/>
              </a:spcBef>
            </a:pPr>
            <a:r>
              <a:rPr sz="1200" dirty="0">
                <a:latin typeface="Times New Roman"/>
                <a:cs typeface="Times New Roman"/>
              </a:rPr>
              <a:t>h1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{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blue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}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h1 </a:t>
            </a:r>
            <a:r>
              <a:rPr sz="1200" dirty="0">
                <a:latin typeface="Times New Roman"/>
                <a:cs typeface="Times New Roman"/>
              </a:rPr>
              <a:t>#teks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{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:green;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}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id</a:t>
            </a:r>
            <a:endParaRPr sz="120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455"/>
              </a:spcBef>
            </a:pPr>
            <a:r>
              <a:rPr sz="1200" dirty="0">
                <a:latin typeface="Times New Roman"/>
                <a:cs typeface="Times New Roman"/>
              </a:rPr>
              <a:t>.warna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{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red;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}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</a:t>
            </a:r>
            <a:endParaRPr sz="12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640"/>
              </a:spcBef>
              <a:buAutoNum type="arabicPeriod" startAt="2"/>
              <a:tabLst>
                <a:tab pos="191770" algn="l"/>
              </a:tabLst>
            </a:pPr>
            <a:r>
              <a:rPr sz="1200" i="1" spc="-10" dirty="0">
                <a:latin typeface="Times New Roman"/>
                <a:cs typeface="Times New Roman"/>
              </a:rPr>
              <a:t>Declaration</a:t>
            </a:r>
            <a:endParaRPr sz="1200">
              <a:latin typeface="Times New Roman"/>
              <a:cs typeface="Times New Roman"/>
            </a:endParaRPr>
          </a:p>
          <a:p>
            <a:pPr marL="191770" marR="5080">
              <a:lnSpc>
                <a:spcPts val="2070"/>
              </a:lnSpc>
              <a:spcBef>
                <a:spcPts val="165"/>
              </a:spcBef>
            </a:pPr>
            <a:r>
              <a:rPr sz="1200" dirty="0">
                <a:latin typeface="Times New Roman"/>
                <a:cs typeface="Times New Roman"/>
              </a:rPr>
              <a:t>Berisi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aturan-</a:t>
            </a:r>
            <a:r>
              <a:rPr sz="1200" dirty="0">
                <a:latin typeface="Times New Roman"/>
                <a:cs typeface="Times New Roman"/>
              </a:rPr>
              <a:t>aturan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terdiri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properti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nilainya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dipisahkan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tanda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titik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dua.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Setiap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aturan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harus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diakhiri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</a:t>
            </a:r>
            <a:endParaRPr sz="120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latin typeface="Times New Roman"/>
                <a:cs typeface="Times New Roman"/>
              </a:rPr>
              <a:t>tanda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titik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koma.</a:t>
            </a:r>
            <a:endParaRPr sz="120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670"/>
              </a:spcBef>
            </a:pPr>
            <a:r>
              <a:rPr sz="1200" b="1" dirty="0">
                <a:latin typeface="Times New Roman"/>
                <a:cs typeface="Times New Roman"/>
              </a:rPr>
              <a:t>a.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Selector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ID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pada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CSS</a:t>
            </a:r>
            <a:endParaRPr sz="1200">
              <a:latin typeface="Times New Roman"/>
              <a:cs typeface="Times New Roman"/>
            </a:endParaRPr>
          </a:p>
          <a:p>
            <a:pPr marL="372110" marR="110489">
              <a:lnSpc>
                <a:spcPts val="207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selector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ditandai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tanda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#(pagar)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contoh </a:t>
            </a: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50" dirty="0">
                <a:latin typeface="Times New Roman"/>
                <a:cs typeface="Times New Roman"/>
              </a:rPr>
              <a:t> 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4780" y="4551553"/>
            <a:ext cx="2546350" cy="88582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24765" rIns="0" bIns="0" rtlCol="0">
            <a:spAutoFit/>
          </a:bodyPr>
          <a:lstStyle/>
          <a:p>
            <a:pPr marL="92710">
              <a:lnSpc>
                <a:spcPts val="2625"/>
              </a:lnSpc>
              <a:spcBef>
                <a:spcPts val="195"/>
              </a:spcBef>
            </a:pPr>
            <a:r>
              <a:rPr sz="2200" spc="-10" dirty="0">
                <a:latin typeface="Times New Roman"/>
                <a:cs typeface="Times New Roman"/>
              </a:rPr>
              <a:t>.</a:t>
            </a:r>
            <a:r>
              <a:rPr sz="1200" spc="-10" dirty="0">
                <a:latin typeface="Times New Roman"/>
                <a:cs typeface="Times New Roman"/>
              </a:rPr>
              <a:t>warna</a:t>
            </a:r>
            <a:endParaRPr sz="1200">
              <a:latin typeface="Times New Roman"/>
              <a:cs typeface="Times New Roman"/>
            </a:endParaRPr>
          </a:p>
          <a:p>
            <a:pPr marL="92710">
              <a:lnSpc>
                <a:spcPts val="1425"/>
              </a:lnSpc>
            </a:pPr>
            <a:r>
              <a:rPr sz="1200" dirty="0">
                <a:latin typeface="Times New Roman"/>
                <a:cs typeface="Times New Roman"/>
              </a:rPr>
              <a:t>{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background-</a:t>
            </a:r>
            <a:r>
              <a:rPr sz="1200" dirty="0">
                <a:latin typeface="Times New Roman"/>
                <a:cs typeface="Times New Roman"/>
              </a:rPr>
              <a:t>color: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lightgreen;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4780" y="962660"/>
            <a:ext cx="1868805" cy="74295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710">
              <a:lnSpc>
                <a:spcPts val="1405"/>
              </a:lnSpc>
              <a:spcBef>
                <a:spcPts val="240"/>
              </a:spcBef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243840">
              <a:lnSpc>
                <a:spcPts val="1375"/>
              </a:lnSpc>
            </a:pPr>
            <a:r>
              <a:rPr sz="1200" dirty="0">
                <a:latin typeface="Times New Roman"/>
                <a:cs typeface="Times New Roman"/>
              </a:rPr>
              <a:t>&lt;p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id=”teks”&gt;TEST</a:t>
            </a:r>
            <a:endParaRPr sz="1200">
              <a:latin typeface="Times New Roman"/>
              <a:cs typeface="Times New Roman"/>
            </a:endParaRPr>
          </a:p>
          <a:p>
            <a:pPr marL="92710">
              <a:lnSpc>
                <a:spcPts val="1375"/>
              </a:lnSpc>
            </a:pPr>
            <a:r>
              <a:rPr sz="1200" spc="-20" dirty="0">
                <a:latin typeface="Times New Roman"/>
                <a:cs typeface="Times New Roman"/>
              </a:rPr>
              <a:t>&lt;/p&gt;</a:t>
            </a:r>
            <a:endParaRPr sz="1200">
              <a:latin typeface="Times New Roman"/>
              <a:cs typeface="Times New Roman"/>
            </a:endParaRPr>
          </a:p>
          <a:p>
            <a:pPr marL="92710">
              <a:lnSpc>
                <a:spcPts val="1405"/>
              </a:lnSpc>
            </a:pPr>
            <a:r>
              <a:rPr sz="1200" spc="-10" dirty="0">
                <a:latin typeface="Times New Roman"/>
                <a:cs typeface="Times New Roman"/>
              </a:rPr>
              <a:t>&lt;/body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4780" y="5993129"/>
            <a:ext cx="1868805" cy="76200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238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54"/>
              </a:spcBef>
            </a:pPr>
            <a:r>
              <a:rPr sz="1200" dirty="0">
                <a:latin typeface="Times New Roman"/>
                <a:cs typeface="Times New Roman"/>
              </a:rPr>
              <a:t>&lt;body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class=”warna”&gt;</a:t>
            </a:r>
            <a:endParaRPr sz="12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1340"/>
              </a:spcBef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927" y="568959"/>
            <a:ext cx="2249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Penggunaanya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587" y="1801113"/>
            <a:ext cx="4491355" cy="27438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perlu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perhatikan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462915" indent="-269875">
              <a:lnSpc>
                <a:spcPct val="100000"/>
              </a:lnSpc>
              <a:spcBef>
                <a:spcPts val="640"/>
              </a:spcBef>
              <a:buAutoNum type="arabicParenR"/>
              <a:tabLst>
                <a:tab pos="462915" algn="l"/>
              </a:tabLst>
            </a:pP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hanya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boleh</a:t>
            </a:r>
            <a:r>
              <a:rPr sz="1200" spc="-10" dirty="0">
                <a:latin typeface="Times New Roman"/>
                <a:cs typeface="Times New Roman"/>
              </a:rPr>
              <a:t> memiliki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id</a:t>
            </a:r>
            <a:endParaRPr sz="1200">
              <a:latin typeface="Times New Roman"/>
              <a:cs typeface="Times New Roman"/>
            </a:endParaRPr>
          </a:p>
          <a:p>
            <a:pPr marL="464184" marR="82550" indent="-271780">
              <a:lnSpc>
                <a:spcPts val="2070"/>
              </a:lnSpc>
              <a:spcBef>
                <a:spcPts val="165"/>
              </a:spcBef>
              <a:buAutoNum type="arabicParenR"/>
              <a:tabLst>
                <a:tab pos="464184" algn="l"/>
              </a:tabLst>
            </a:pPr>
            <a:r>
              <a:rPr sz="1200" dirty="0">
                <a:latin typeface="Times New Roman"/>
                <a:cs typeface="Times New Roman"/>
              </a:rPr>
              <a:t>Setiap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hanya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boleh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id </a:t>
            </a:r>
            <a:r>
              <a:rPr sz="1200" spc="-10" dirty="0">
                <a:latin typeface="Times New Roman"/>
                <a:cs typeface="Times New Roman"/>
              </a:rPr>
              <a:t>tersebut</a:t>
            </a:r>
            <a:endParaRPr sz="1200">
              <a:latin typeface="Times New Roman"/>
              <a:cs typeface="Times New Roman"/>
            </a:endParaRPr>
          </a:p>
          <a:p>
            <a:pPr marL="462915" indent="-269875">
              <a:lnSpc>
                <a:spcPct val="100000"/>
              </a:lnSpc>
              <a:spcBef>
                <a:spcPts val="455"/>
              </a:spcBef>
              <a:buAutoNum type="arabicParenR"/>
              <a:tabLst>
                <a:tab pos="462915" algn="l"/>
              </a:tabLst>
            </a:pP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penanda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link</a:t>
            </a:r>
            <a:endParaRPr sz="1200">
              <a:latin typeface="Times New Roman"/>
              <a:cs typeface="Times New Roman"/>
            </a:endParaRPr>
          </a:p>
          <a:p>
            <a:pPr marL="462915" indent="-269875">
              <a:lnSpc>
                <a:spcPct val="100000"/>
              </a:lnSpc>
              <a:spcBef>
                <a:spcPts val="640"/>
              </a:spcBef>
              <a:buAutoNum type="arabicParenR"/>
              <a:tabLst>
                <a:tab pos="462915" algn="l"/>
              </a:tabLst>
            </a:pP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juga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  <a:p>
            <a:pPr marL="462915" indent="-269875">
              <a:lnSpc>
                <a:spcPct val="100000"/>
              </a:lnSpc>
              <a:spcBef>
                <a:spcPts val="630"/>
              </a:spcBef>
              <a:buAutoNum type="arabicParenR"/>
              <a:tabLst>
                <a:tab pos="462915" algn="l"/>
              </a:tabLst>
            </a:pPr>
            <a:r>
              <a:rPr sz="1200" dirty="0">
                <a:latin typeface="Times New Roman"/>
                <a:cs typeface="Times New Roman"/>
              </a:rPr>
              <a:t>Sebaiknya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baik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b="1" dirty="0">
                <a:latin typeface="Times New Roman"/>
                <a:cs typeface="Times New Roman"/>
              </a:rPr>
              <a:t>b.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Selector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Class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pada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CSS</a:t>
            </a:r>
            <a:endParaRPr sz="1200">
              <a:latin typeface="Times New Roman"/>
              <a:cs typeface="Times New Roman"/>
            </a:endParaRPr>
          </a:p>
          <a:p>
            <a:pPr marL="193040" marR="5080">
              <a:lnSpc>
                <a:spcPts val="2350"/>
              </a:lnSpc>
              <a:spcBef>
                <a:spcPts val="190"/>
              </a:spcBef>
            </a:pP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selector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ditandai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tanda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.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(titik)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contoh </a:t>
            </a: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50" dirty="0">
                <a:latin typeface="Times New Roman"/>
                <a:cs typeface="Times New Roman"/>
              </a:rPr>
              <a:t> 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0927" y="5652134"/>
            <a:ext cx="2249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Penggunaanya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200" y="6893369"/>
            <a:ext cx="4276725" cy="54610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200" b="1" dirty="0">
                <a:latin typeface="Times New Roman"/>
                <a:cs typeface="Times New Roman"/>
              </a:rPr>
              <a:t>9.5.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Properti-properti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CSS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dirty="0">
                <a:latin typeface="Times New Roman"/>
                <a:cs typeface="Times New Roman"/>
              </a:rPr>
              <a:t>Properti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jumlahnya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sangat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banyak,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diantaranya: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51509" y="584200"/>
          <a:ext cx="4814570" cy="311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3475"/>
                <a:gridCol w="1011555"/>
                <a:gridCol w="1096645"/>
                <a:gridCol w="1572895"/>
              </a:tblGrid>
              <a:tr h="269875">
                <a:tc>
                  <a:txBody>
                    <a:bodyPr/>
                    <a:lstStyle/>
                    <a:p>
                      <a:pPr marL="295275">
                        <a:lnSpc>
                          <a:spcPts val="136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Properti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ts val="136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Fungsi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36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Nilai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ts val="136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Contoh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penulisan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213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245110">
                        <a:lnSpc>
                          <a:spcPts val="1380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Mengatur warna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pada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Teks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14629">
                        <a:lnSpc>
                          <a:spcPts val="1380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Nama</a:t>
                      </a:r>
                      <a:r>
                        <a:rPr sz="12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warna,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kode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hexa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75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warna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697230">
                        <a:lnSpc>
                          <a:spcPts val="1370"/>
                        </a:lnSpc>
                        <a:spcBef>
                          <a:spcPts val="69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blue;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Color:#ffffff;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marL="73025" marR="269875">
                        <a:lnSpc>
                          <a:spcPts val="1370"/>
                        </a:lnSpc>
                        <a:spcBef>
                          <a:spcPts val="69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Background-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262255">
                        <a:lnSpc>
                          <a:spcPts val="1370"/>
                        </a:lnSpc>
                        <a:spcBef>
                          <a:spcPts val="69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Mengatur warna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latar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14629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Nama</a:t>
                      </a:r>
                      <a:r>
                        <a:rPr sz="12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warna,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kode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hexa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warna,rgb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47015">
                        <a:lnSpc>
                          <a:spcPts val="1370"/>
                        </a:lnSpc>
                        <a:spcBef>
                          <a:spcPts val="69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Background-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Color:rgb(200,0,55);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73025" marR="269875">
                        <a:lnSpc>
                          <a:spcPts val="138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Background-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17716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Mengatur gambar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latar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42227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Nama</a:t>
                      </a:r>
                      <a:r>
                        <a:rPr sz="12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file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gambar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8699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Background-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image:url(header.jpeg);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Text-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align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14541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Mengatur perataan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teks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6987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Left,Center,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right,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justify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Text-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align:left;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2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Font-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family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0485" marR="367665">
                        <a:lnSpc>
                          <a:spcPts val="138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mengatur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jenis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font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34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Nama-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nama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755" marR="117475">
                        <a:lnSpc>
                          <a:spcPct val="958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jenis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huruf,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co: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arial,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roman, georgia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Font-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family:calibri;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 marL="73025">
                        <a:lnSpc>
                          <a:spcPts val="1295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Dll.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11200" y="3923665"/>
            <a:ext cx="4700270" cy="42246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200" b="1" i="1" spc="-20" dirty="0">
                <a:latin typeface="Times New Roman"/>
                <a:cs typeface="Times New Roman"/>
              </a:rPr>
              <a:t>Pseduo-</a:t>
            </a:r>
            <a:r>
              <a:rPr sz="1200" b="1" i="1" spc="-10" dirty="0">
                <a:latin typeface="Times New Roman"/>
                <a:cs typeface="Times New Roman"/>
              </a:rPr>
              <a:t>Class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060"/>
              </a:lnSpc>
              <a:spcBef>
                <a:spcPts val="150"/>
              </a:spcBef>
            </a:pP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kelas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semu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dimiliki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HTML,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membuat kita dapat mendefinisikan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style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 keadaan tertentu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elemen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latin typeface="Times New Roman"/>
                <a:cs typeface="Times New Roman"/>
              </a:rPr>
              <a:t>tersebut.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Pseduo-</a:t>
            </a:r>
            <a:r>
              <a:rPr sz="1200" i="1" dirty="0">
                <a:latin typeface="Times New Roman"/>
                <a:cs typeface="Times New Roman"/>
              </a:rPr>
              <a:t>class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terbagi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menjadi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191770" algn="l"/>
              </a:tabLst>
            </a:pP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berhubungan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link</a:t>
            </a:r>
            <a:endParaRPr sz="1200">
              <a:latin typeface="Times New Roman"/>
              <a:cs typeface="Times New Roman"/>
            </a:endParaRPr>
          </a:p>
          <a:p>
            <a:pPr marL="467995" lvl="1" indent="-226695">
              <a:lnSpc>
                <a:spcPct val="100000"/>
              </a:lnSpc>
              <a:spcBef>
                <a:spcPts val="630"/>
              </a:spcBef>
              <a:buFont typeface="Times New Roman"/>
              <a:buAutoNum type="alphaLcParenR"/>
              <a:tabLst>
                <a:tab pos="467995" algn="l"/>
              </a:tabLst>
            </a:pP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link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Style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default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href)</a:t>
            </a:r>
            <a:endParaRPr sz="1200">
              <a:latin typeface="Times New Roman"/>
              <a:cs typeface="Times New Roman"/>
            </a:endParaRPr>
          </a:p>
          <a:p>
            <a:pPr marL="467995" lvl="1" indent="-226695">
              <a:lnSpc>
                <a:spcPct val="100000"/>
              </a:lnSpc>
              <a:spcBef>
                <a:spcPts val="630"/>
              </a:spcBef>
              <a:buFont typeface="Times New Roman"/>
              <a:buAutoNum type="alphaLcParenR" startAt="2"/>
              <a:tabLst>
                <a:tab pos="467995" algn="l"/>
              </a:tabLst>
            </a:pP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hover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Style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ketika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kursor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mouse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berada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elemen</a:t>
            </a:r>
            <a:endParaRPr sz="1200">
              <a:latin typeface="Times New Roman"/>
              <a:cs typeface="Times New Roman"/>
            </a:endParaRPr>
          </a:p>
          <a:p>
            <a:pPr marL="467995" lvl="1" indent="-226695">
              <a:lnSpc>
                <a:spcPct val="100000"/>
              </a:lnSpc>
              <a:spcBef>
                <a:spcPts val="620"/>
              </a:spcBef>
              <a:buFont typeface="Times New Roman"/>
              <a:buAutoNum type="alphaLcParenR" startAt="3"/>
              <a:tabLst>
                <a:tab pos="467995" algn="l"/>
              </a:tabLst>
            </a:pP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active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Style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ketika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klik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(keadaan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aktif)</a:t>
            </a:r>
            <a:endParaRPr sz="1200">
              <a:latin typeface="Times New Roman"/>
              <a:cs typeface="Times New Roman"/>
            </a:endParaRPr>
          </a:p>
          <a:p>
            <a:pPr marL="467995" lvl="1" indent="-226695">
              <a:lnSpc>
                <a:spcPct val="100000"/>
              </a:lnSpc>
              <a:spcBef>
                <a:spcPts val="620"/>
              </a:spcBef>
              <a:buFont typeface="Times New Roman"/>
              <a:buAutoNum type="alphaLcParenR" startAt="4"/>
              <a:tabLst>
                <a:tab pos="467995" algn="l"/>
              </a:tabLst>
            </a:pP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visisted</a:t>
            </a:r>
            <a:endParaRPr sz="1200">
              <a:latin typeface="Times New Roman"/>
              <a:cs typeface="Times New Roman"/>
            </a:endParaRPr>
          </a:p>
          <a:p>
            <a:pPr marL="469900" marR="212090">
              <a:lnSpc>
                <a:spcPct val="14310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Style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ketika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link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sudah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pernah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kunjungi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sebelumnya (menggunakan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browser yang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sama)</a:t>
            </a:r>
            <a:endParaRPr sz="12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630"/>
              </a:spcBef>
              <a:buAutoNum type="arabicPeriod" startAt="2"/>
              <a:tabLst>
                <a:tab pos="191770" algn="l"/>
              </a:tabLst>
            </a:pP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berhubungan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(ada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3)</a:t>
            </a:r>
            <a:endParaRPr sz="1200">
              <a:latin typeface="Times New Roman"/>
              <a:cs typeface="Times New Roman"/>
            </a:endParaRPr>
          </a:p>
          <a:p>
            <a:pPr marL="467995" lvl="1" indent="-226695">
              <a:lnSpc>
                <a:spcPct val="100000"/>
              </a:lnSpc>
              <a:spcBef>
                <a:spcPts val="630"/>
              </a:spcBef>
              <a:buAutoNum type="alphaLcParenR"/>
              <a:tabLst>
                <a:tab pos="467995" algn="l"/>
              </a:tabLst>
            </a:pP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first-child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6830" y="4879975"/>
            <a:ext cx="3505200" cy="1876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0117" y="490219"/>
            <a:ext cx="1517650" cy="1075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113030">
              <a:lnSpc>
                <a:spcPct val="143100"/>
              </a:lnSpc>
              <a:spcBef>
                <a:spcPts val="100"/>
              </a:spcBef>
              <a:tabLst>
                <a:tab pos="1064895" algn="l"/>
              </a:tabLst>
            </a:pPr>
            <a:r>
              <a:rPr sz="1200" spc="-10" dirty="0">
                <a:latin typeface="Times New Roman"/>
                <a:cs typeface="Times New Roman"/>
              </a:rPr>
              <a:t>Memilih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elemen </a:t>
            </a:r>
            <a:r>
              <a:rPr sz="1200" dirty="0">
                <a:latin typeface="Times New Roman"/>
                <a:cs typeface="Times New Roman"/>
              </a:rPr>
              <a:t>pembungkusnya</a:t>
            </a:r>
            <a:r>
              <a:rPr sz="1200" spc="-50" dirty="0">
                <a:latin typeface="Times New Roman"/>
                <a:cs typeface="Times New Roman"/>
              </a:rPr>
              <a:t> 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b)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last-child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630"/>
              </a:spcBef>
              <a:tabLst>
                <a:tab pos="1036955" algn="l"/>
              </a:tabLst>
            </a:pPr>
            <a:r>
              <a:rPr sz="1200" spc="-10" dirty="0">
                <a:latin typeface="Times New Roman"/>
                <a:cs typeface="Times New Roman"/>
              </a:rPr>
              <a:t>Memilih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elemen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9508" y="568959"/>
            <a:ext cx="5149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pertama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4826" y="568959"/>
            <a:ext cx="263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dari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9821" y="568959"/>
            <a:ext cx="448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sebuah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29247" y="568959"/>
            <a:ext cx="4057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parent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95494" y="568959"/>
            <a:ext cx="516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(elemen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0445" y="1356741"/>
            <a:ext cx="2811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0085" algn="l"/>
                <a:tab pos="1114425" algn="l"/>
                <a:tab pos="1732280" algn="l"/>
                <a:tab pos="2307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terakhir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dari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sebuah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parent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(elemen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200" y="1539749"/>
            <a:ext cx="4704080" cy="318198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469900" algn="just">
              <a:lnSpc>
                <a:spcPct val="100000"/>
              </a:lnSpc>
              <a:spcBef>
                <a:spcPts val="725"/>
              </a:spcBef>
            </a:pPr>
            <a:r>
              <a:rPr sz="1200" dirty="0">
                <a:latin typeface="Times New Roman"/>
                <a:cs typeface="Times New Roman"/>
              </a:rPr>
              <a:t>pembungkusnya</a:t>
            </a:r>
            <a:r>
              <a:rPr sz="1200" spc="-50" dirty="0">
                <a:latin typeface="Times New Roman"/>
                <a:cs typeface="Times New Roman"/>
              </a:rPr>
              <a:t> )</a:t>
            </a:r>
            <a:endParaRPr sz="1200">
              <a:latin typeface="Times New Roman"/>
              <a:cs typeface="Times New Roman"/>
            </a:endParaRPr>
          </a:p>
          <a:p>
            <a:pPr marL="467995" indent="-226695" algn="just">
              <a:lnSpc>
                <a:spcPct val="100000"/>
              </a:lnSpc>
              <a:spcBef>
                <a:spcPts val="630"/>
              </a:spcBef>
              <a:buFont typeface="Times New Roman"/>
              <a:buAutoNum type="alphaLcParenR" startAt="3"/>
              <a:tabLst>
                <a:tab pos="467995" algn="l"/>
              </a:tabLst>
            </a:pP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nth-child(n)</a:t>
            </a:r>
            <a:endParaRPr sz="1200">
              <a:latin typeface="Times New Roman"/>
              <a:cs typeface="Times New Roman"/>
            </a:endParaRPr>
          </a:p>
          <a:p>
            <a:pPr marL="469900" marR="5080" algn="just">
              <a:lnSpc>
                <a:spcPct val="1434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Memilih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(n)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(elemen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pembungkusnya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) 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berarti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urutan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1,2,3,…..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(2n),(3n+2),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ganjil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dirty="0">
                <a:latin typeface="Times New Roman"/>
                <a:cs typeface="Times New Roman"/>
              </a:rPr>
              <a:t>genap,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25" dirty="0">
                <a:latin typeface="Times New Roman"/>
                <a:cs typeface="Times New Roman"/>
              </a:rPr>
              <a:t> odd</a:t>
            </a:r>
            <a:endParaRPr sz="1200">
              <a:latin typeface="Times New Roman"/>
              <a:cs typeface="Times New Roman"/>
            </a:endParaRPr>
          </a:p>
          <a:p>
            <a:pPr marL="467995" indent="-226695" algn="just">
              <a:lnSpc>
                <a:spcPct val="100000"/>
              </a:lnSpc>
              <a:spcBef>
                <a:spcPts val="650"/>
              </a:spcBef>
              <a:buAutoNum type="alphaLcParenR" startAt="4"/>
              <a:tabLst>
                <a:tab pos="467995" algn="l"/>
              </a:tabLst>
            </a:pP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first-of-</a:t>
            </a:r>
            <a:r>
              <a:rPr sz="1200" spc="-20" dirty="0">
                <a:latin typeface="Times New Roman"/>
                <a:cs typeface="Times New Roman"/>
              </a:rPr>
              <a:t>type</a:t>
            </a:r>
            <a:endParaRPr sz="1200">
              <a:latin typeface="Times New Roman"/>
              <a:cs typeface="Times New Roman"/>
            </a:endParaRPr>
          </a:p>
          <a:p>
            <a:pPr marL="546100" algn="just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Memilih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pertama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tipe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tag</a:t>
            </a:r>
            <a:endParaRPr sz="1200">
              <a:latin typeface="Times New Roman"/>
              <a:cs typeface="Times New Roman"/>
            </a:endParaRPr>
          </a:p>
          <a:p>
            <a:pPr marL="467995" indent="-226695" algn="just">
              <a:lnSpc>
                <a:spcPct val="100000"/>
              </a:lnSpc>
              <a:spcBef>
                <a:spcPts val="625"/>
              </a:spcBef>
              <a:buAutoNum type="alphaLcParenR" startAt="5"/>
              <a:tabLst>
                <a:tab pos="467995" algn="l"/>
              </a:tabLst>
            </a:pP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last-of-</a:t>
            </a:r>
            <a:r>
              <a:rPr sz="1200" spc="-20" dirty="0">
                <a:latin typeface="Times New Roman"/>
                <a:cs typeface="Times New Roman"/>
              </a:rPr>
              <a:t>type</a:t>
            </a:r>
            <a:endParaRPr sz="1200">
              <a:latin typeface="Times New Roman"/>
              <a:cs typeface="Times New Roman"/>
            </a:endParaRPr>
          </a:p>
          <a:p>
            <a:pPr marL="546100" algn="just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Memilih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terakhir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tipe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tag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08000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9.6</a:t>
            </a:r>
            <a:r>
              <a:rPr sz="1200" b="1" dirty="0">
                <a:latin typeface="Times New Roman"/>
                <a:cs typeface="Times New Roman"/>
              </a:rPr>
              <a:t>	PADDING,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MARGIN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BORDER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dikenal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istilah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„Box </a:t>
            </a:r>
            <a:r>
              <a:rPr sz="1200" spc="-20" dirty="0">
                <a:latin typeface="Times New Roman"/>
                <a:cs typeface="Times New Roman"/>
              </a:rPr>
              <a:t>Model‟.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Perhatikan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1200" y="6738366"/>
            <a:ext cx="4520565" cy="133731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47193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9.2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Box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CSS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Keterangan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731520" marR="5080" indent="-719455">
              <a:lnSpc>
                <a:spcPts val="207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Padding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Menentukan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jarak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komponen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body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border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Ukuran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jarak </a:t>
            </a:r>
            <a:r>
              <a:rPr sz="1200" dirty="0">
                <a:latin typeface="Times New Roman"/>
                <a:cs typeface="Times New Roman"/>
              </a:rPr>
              <a:t>bagian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dalam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dirty="0">
                <a:latin typeface="Times New Roman"/>
                <a:cs typeface="Times New Roman"/>
              </a:rPr>
              <a:t>Border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garis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komponen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568959"/>
            <a:ext cx="4709795" cy="730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Margin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Ukuran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jarak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bagian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luar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ukuran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jarak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sesudah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Border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konsep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mengatur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tag-tag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HTML.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Pada </a:t>
            </a:r>
            <a:r>
              <a:rPr sz="1200" dirty="0">
                <a:latin typeface="Times New Roman"/>
                <a:cs typeface="Times New Roman"/>
              </a:rPr>
              <a:t>gambar,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bayangkan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„Content‟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misalnya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paragraph. </a:t>
            </a:r>
            <a:r>
              <a:rPr sz="1200" dirty="0">
                <a:latin typeface="Times New Roman"/>
                <a:cs typeface="Times New Roman"/>
              </a:rPr>
              <a:t>Obyek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paragraph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dianggap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padding,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border,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dirty="0">
                <a:latin typeface="Times New Roman"/>
                <a:cs typeface="Times New Roman"/>
              </a:rPr>
              <a:t>margin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disekitarnya.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Keberadaan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area-</a:t>
            </a:r>
            <a:r>
              <a:rPr sz="1200" dirty="0">
                <a:latin typeface="Times New Roman"/>
                <a:cs typeface="Times New Roman"/>
              </a:rPr>
              <a:t>area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berguna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pengaturan </a:t>
            </a:r>
            <a:r>
              <a:rPr sz="1200" dirty="0">
                <a:latin typeface="Times New Roman"/>
                <a:cs typeface="Times New Roman"/>
              </a:rPr>
              <a:t>tata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letak.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Misalnya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ingin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diatur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agar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buah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terletak </a:t>
            </a:r>
            <a:r>
              <a:rPr sz="1200" dirty="0">
                <a:latin typeface="Times New Roman"/>
                <a:cs typeface="Times New Roman"/>
              </a:rPr>
              <a:t>berdampingan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terlalu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rapat,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memperbesar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lebar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dari </a:t>
            </a:r>
            <a:r>
              <a:rPr sz="1200" dirty="0">
                <a:latin typeface="Times New Roman"/>
                <a:cs typeface="Times New Roman"/>
              </a:rPr>
              <a:t>area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margin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jarak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antara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lebar.</a:t>
            </a:r>
            <a:endParaRPr sz="12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60"/>
              </a:spcBef>
              <a:buAutoNum type="alphaLcPeriod"/>
              <a:tabLst>
                <a:tab pos="2413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Padding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ts val="207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ditulis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padding:5px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5px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5px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5px;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urutan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angkanya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 </a:t>
            </a:r>
            <a:r>
              <a:rPr sz="1200" dirty="0">
                <a:latin typeface="Times New Roman"/>
                <a:cs typeface="Times New Roman"/>
              </a:rPr>
              <a:t>atas,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kanan,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bawah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kiri,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lengkap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 marR="530860">
              <a:lnSpc>
                <a:spcPts val="2070"/>
              </a:lnSpc>
            </a:pPr>
            <a:r>
              <a:rPr sz="1200" spc="-10" dirty="0">
                <a:latin typeface="Times New Roman"/>
                <a:cs typeface="Times New Roman"/>
              </a:rPr>
              <a:t>padding-left:5px;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pengaturan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bagian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kiri </a:t>
            </a:r>
            <a:r>
              <a:rPr sz="1200" spc="-10" dirty="0">
                <a:latin typeface="Times New Roman"/>
                <a:cs typeface="Times New Roman"/>
              </a:rPr>
              <a:t>padding-</a:t>
            </a:r>
            <a:r>
              <a:rPr sz="1200" dirty="0">
                <a:latin typeface="Times New Roman"/>
                <a:cs typeface="Times New Roman"/>
              </a:rPr>
              <a:t>right:5px;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pengaturan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kanan padding-</a:t>
            </a:r>
            <a:r>
              <a:rPr sz="1200" dirty="0">
                <a:latin typeface="Times New Roman"/>
                <a:cs typeface="Times New Roman"/>
              </a:rPr>
              <a:t>top:5px;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bagian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</a:t>
            </a:r>
            <a:endParaRPr sz="1200">
              <a:latin typeface="Times New Roman"/>
              <a:cs typeface="Times New Roman"/>
            </a:endParaRPr>
          </a:p>
          <a:p>
            <a:pPr marL="12700" marR="140970">
              <a:lnSpc>
                <a:spcPts val="2070"/>
              </a:lnSpc>
            </a:pPr>
            <a:r>
              <a:rPr sz="1200" spc="-10" dirty="0">
                <a:latin typeface="Times New Roman"/>
                <a:cs typeface="Times New Roman"/>
              </a:rPr>
              <a:t>padding-</a:t>
            </a:r>
            <a:r>
              <a:rPr sz="1200" dirty="0">
                <a:latin typeface="Times New Roman"/>
                <a:cs typeface="Times New Roman"/>
              </a:rPr>
              <a:t>bottom:5px;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bagian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bawah,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Ingat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px(pixels)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bisa </a:t>
            </a:r>
            <a:r>
              <a:rPr sz="1200" dirty="0">
                <a:latin typeface="Times New Roman"/>
                <a:cs typeface="Times New Roman"/>
              </a:rPr>
              <a:t>kamu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ganti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200" dirty="0">
                <a:latin typeface="Times New Roman"/>
                <a:cs typeface="Times New Roman"/>
              </a:rPr>
              <a:t>sesuai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sesuai</a:t>
            </a:r>
            <a:endParaRPr sz="12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660"/>
              </a:spcBef>
              <a:buAutoNum type="alphaLcPeriod" startAt="2"/>
              <a:tabLst>
                <a:tab pos="23939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Border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dirty="0">
                <a:latin typeface="Times New Roman"/>
                <a:cs typeface="Times New Roman"/>
              </a:rPr>
              <a:t>Ditulis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border:1px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dotted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#000000;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urutan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penggunaanya</a:t>
            </a:r>
            <a:endParaRPr sz="1200">
              <a:latin typeface="Times New Roman"/>
              <a:cs typeface="Times New Roman"/>
            </a:endParaRPr>
          </a:p>
          <a:p>
            <a:pPr marL="12700" marR="8890">
              <a:lnSpc>
                <a:spcPct val="143700"/>
              </a:lnSpc>
              <a:spcBef>
                <a:spcPts val="5"/>
              </a:spcBef>
              <a:tabLst>
                <a:tab pos="542925" algn="l"/>
                <a:tab pos="1101725" algn="l"/>
                <a:tab pos="1672589" algn="l"/>
                <a:tab pos="2093595" algn="l"/>
                <a:tab pos="2626995" algn="l"/>
                <a:tab pos="2980690" algn="l"/>
                <a:tab pos="3487420" algn="l"/>
                <a:tab pos="4058285" algn="l"/>
                <a:tab pos="4445635" algn="l"/>
              </a:tabLst>
            </a:pPr>
            <a:r>
              <a:rPr sz="1200" spc="-10" dirty="0">
                <a:latin typeface="Times New Roman"/>
                <a:cs typeface="Times New Roman"/>
              </a:rPr>
              <a:t>adalah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ukuran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border,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style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border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dan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warna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border,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atau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bisa </a:t>
            </a: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lengkap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spc="-10" dirty="0">
                <a:latin typeface="Times New Roman"/>
                <a:cs typeface="Times New Roman"/>
              </a:rPr>
              <a:t>border-</a:t>
            </a:r>
            <a:r>
              <a:rPr sz="1200" dirty="0">
                <a:latin typeface="Times New Roman"/>
                <a:cs typeface="Times New Roman"/>
              </a:rPr>
              <a:t>width:1px;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ketebalan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border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sebesar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1pixel</a:t>
            </a:r>
            <a:endParaRPr sz="1200">
              <a:latin typeface="Times New Roman"/>
              <a:cs typeface="Times New Roman"/>
            </a:endParaRPr>
          </a:p>
          <a:p>
            <a:pPr marL="12700" marR="10795">
              <a:lnSpc>
                <a:spcPts val="2070"/>
              </a:lnSpc>
              <a:spcBef>
                <a:spcPts val="155"/>
              </a:spcBef>
            </a:pPr>
            <a:r>
              <a:rPr sz="1200" spc="-10" dirty="0">
                <a:latin typeface="Times New Roman"/>
                <a:cs typeface="Times New Roman"/>
              </a:rPr>
              <a:t>border-</a:t>
            </a:r>
            <a:r>
              <a:rPr sz="1200" dirty="0">
                <a:latin typeface="Times New Roman"/>
                <a:cs typeface="Times New Roman"/>
              </a:rPr>
              <a:t>style:dotted;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bordernya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diganti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</a:t>
            </a:r>
            <a:r>
              <a:rPr sz="1200" dirty="0">
                <a:latin typeface="Times New Roman"/>
                <a:cs typeface="Times New Roman"/>
              </a:rPr>
              <a:t>tipe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dashed,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solid,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double,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groove,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ridge,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inset,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outset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lainnya</a:t>
            </a:r>
            <a:endParaRPr sz="1200">
              <a:latin typeface="Times New Roman"/>
              <a:cs typeface="Times New Roman"/>
            </a:endParaRPr>
          </a:p>
          <a:p>
            <a:pPr marL="12700" marR="8890">
              <a:lnSpc>
                <a:spcPts val="2060"/>
              </a:lnSpc>
            </a:pPr>
            <a:r>
              <a:rPr sz="1200" spc="-10" dirty="0">
                <a:latin typeface="Times New Roman"/>
                <a:cs typeface="Times New Roman"/>
              </a:rPr>
              <a:t>border-</a:t>
            </a:r>
            <a:r>
              <a:rPr sz="1200" dirty="0">
                <a:latin typeface="Times New Roman"/>
                <a:cs typeface="Times New Roman"/>
              </a:rPr>
              <a:t>color:#FFFFFF;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warna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border.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kamu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bisa </a:t>
            </a:r>
            <a:r>
              <a:rPr sz="1200" dirty="0">
                <a:latin typeface="Times New Roman"/>
                <a:cs typeface="Times New Roman"/>
              </a:rPr>
              <a:t>mengganti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warnanya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2"/>
              </a:rPr>
              <a:t>(www.colorschemer.com/online)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417" y="3275385"/>
            <a:ext cx="1172210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b="1" dirty="0">
                <a:latin typeface="Times New Roman"/>
                <a:cs typeface="Times New Roman"/>
              </a:rPr>
              <a:t>nama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style_css.css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040" y="3293109"/>
            <a:ext cx="5420995" cy="279082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ts val="1405"/>
              </a:lnSpc>
              <a:spcBef>
                <a:spcPts val="240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carikan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a,di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merupakan</a:t>
            </a:r>
            <a:endParaRPr sz="1200">
              <a:latin typeface="Times New Roman"/>
              <a:cs typeface="Times New Roman"/>
            </a:endParaRPr>
          </a:p>
          <a:p>
            <a:pPr marL="129539">
              <a:lnSpc>
                <a:spcPts val="1375"/>
              </a:lnSpc>
            </a:pPr>
            <a:r>
              <a:rPr sz="1200" dirty="0">
                <a:latin typeface="Times New Roman"/>
                <a:cs typeface="Times New Roman"/>
              </a:rPr>
              <a:t>anak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pertama*/</a:t>
            </a:r>
            <a:endParaRPr sz="1200">
              <a:latin typeface="Times New Roman"/>
              <a:cs typeface="Times New Roman"/>
            </a:endParaRPr>
          </a:p>
          <a:p>
            <a:pPr marL="54864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li:first-</a:t>
            </a:r>
            <a:r>
              <a:rPr sz="1200" dirty="0">
                <a:latin typeface="Times New Roman"/>
                <a:cs typeface="Times New Roman"/>
              </a:rPr>
              <a:t>child </a:t>
            </a:r>
            <a:r>
              <a:rPr sz="1200" spc="-25" dirty="0">
                <a:latin typeface="Times New Roman"/>
                <a:cs typeface="Times New Roman"/>
              </a:rPr>
              <a:t>a{</a:t>
            </a:r>
            <a:endParaRPr sz="1200">
              <a:latin typeface="Times New Roman"/>
              <a:cs typeface="Times New Roman"/>
            </a:endParaRPr>
          </a:p>
          <a:p>
            <a:pPr marL="100584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color:green;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9539" marR="263779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carikan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a,di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merupakan </a:t>
            </a:r>
            <a:r>
              <a:rPr sz="1200" dirty="0">
                <a:latin typeface="Times New Roman"/>
                <a:cs typeface="Times New Roman"/>
              </a:rPr>
              <a:t>anak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terakhir*/</a:t>
            </a:r>
            <a:endParaRPr sz="1200">
              <a:latin typeface="Times New Roman"/>
              <a:cs typeface="Times New Roman"/>
            </a:endParaRPr>
          </a:p>
          <a:p>
            <a:pPr marL="548640">
              <a:lnSpc>
                <a:spcPts val="1315"/>
              </a:lnSpc>
            </a:pPr>
            <a:r>
              <a:rPr sz="1200" spc="-10" dirty="0">
                <a:latin typeface="Times New Roman"/>
                <a:cs typeface="Times New Roman"/>
              </a:rPr>
              <a:t>li:last-</a:t>
            </a:r>
            <a:r>
              <a:rPr sz="1200" dirty="0">
                <a:latin typeface="Times New Roman"/>
                <a:cs typeface="Times New Roman"/>
              </a:rPr>
              <a:t>child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a{</a:t>
            </a:r>
            <a:endParaRPr sz="1200">
              <a:latin typeface="Times New Roman"/>
              <a:cs typeface="Times New Roman"/>
            </a:endParaRPr>
          </a:p>
          <a:p>
            <a:pPr marL="100584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color:green;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9539" marR="259969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carikan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merupakan </a:t>
            </a:r>
            <a:r>
              <a:rPr sz="1200" dirty="0">
                <a:latin typeface="Times New Roman"/>
                <a:cs typeface="Times New Roman"/>
              </a:rPr>
              <a:t>anak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genap*/</a:t>
            </a:r>
            <a:endParaRPr sz="1200">
              <a:latin typeface="Times New Roman"/>
              <a:cs typeface="Times New Roman"/>
            </a:endParaRPr>
          </a:p>
          <a:p>
            <a:pPr marR="3620135" algn="r">
              <a:lnSpc>
                <a:spcPts val="1320"/>
              </a:lnSpc>
            </a:pPr>
            <a:r>
              <a:rPr sz="1200" spc="-10" dirty="0">
                <a:latin typeface="Times New Roman"/>
                <a:cs typeface="Times New Roman"/>
              </a:rPr>
              <a:t>li:nth-child(even)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a{</a:t>
            </a:r>
            <a:endParaRPr sz="1200">
              <a:latin typeface="Times New Roman"/>
              <a:cs typeface="Times New Roman"/>
            </a:endParaRPr>
          </a:p>
          <a:p>
            <a:pPr marR="3669665" algn="r">
              <a:lnSpc>
                <a:spcPts val="1390"/>
              </a:lnSpc>
            </a:pPr>
            <a:r>
              <a:rPr sz="1200" spc="-10" dirty="0">
                <a:latin typeface="Times New Roman"/>
                <a:cs typeface="Times New Roman"/>
              </a:rPr>
              <a:t>color:green;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42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497839"/>
            <a:ext cx="4681220" cy="268922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00" b="1" dirty="0">
                <a:latin typeface="Times New Roman"/>
                <a:cs typeface="Times New Roman"/>
              </a:rPr>
              <a:t>c.</a:t>
            </a:r>
            <a:r>
              <a:rPr sz="1200" b="1" spc="170" dirty="0">
                <a:latin typeface="Times New Roman"/>
                <a:cs typeface="Times New Roman"/>
              </a:rPr>
              <a:t>  </a:t>
            </a:r>
            <a:r>
              <a:rPr sz="1200" b="1" spc="-10" dirty="0">
                <a:latin typeface="Times New Roman"/>
                <a:cs typeface="Times New Roman"/>
              </a:rPr>
              <a:t>Margin</a:t>
            </a:r>
            <a:endParaRPr sz="1200">
              <a:latin typeface="Times New Roman"/>
              <a:cs typeface="Times New Roman"/>
            </a:endParaRPr>
          </a:p>
          <a:p>
            <a:pPr marL="12700" marR="95885">
              <a:lnSpc>
                <a:spcPts val="2070"/>
              </a:lnSpc>
              <a:spcBef>
                <a:spcPts val="135"/>
              </a:spcBef>
            </a:pPr>
            <a:r>
              <a:rPr sz="1200" dirty="0">
                <a:latin typeface="Times New Roman"/>
                <a:cs typeface="Times New Roman"/>
              </a:rPr>
              <a:t>Ditulis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margin:5px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5px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5px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5px;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urutanya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atas,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kanan, </a:t>
            </a:r>
            <a:r>
              <a:rPr sz="1200" dirty="0">
                <a:latin typeface="Times New Roman"/>
                <a:cs typeface="Times New Roman"/>
              </a:rPr>
              <a:t>bawah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kiri,</a:t>
            </a:r>
            <a:endParaRPr sz="1200">
              <a:latin typeface="Times New Roman"/>
              <a:cs typeface="Times New Roman"/>
            </a:endParaRPr>
          </a:p>
          <a:p>
            <a:pPr marL="12700" marR="914400">
              <a:lnSpc>
                <a:spcPts val="2070"/>
              </a:lnSpc>
            </a:pP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lengkap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 </a:t>
            </a:r>
            <a:r>
              <a:rPr sz="1200" spc="-25" dirty="0">
                <a:latin typeface="Times New Roman"/>
                <a:cs typeface="Times New Roman"/>
              </a:rPr>
              <a:t>margin-</a:t>
            </a:r>
            <a:r>
              <a:rPr sz="1200" spc="-10" dirty="0">
                <a:latin typeface="Times New Roman"/>
                <a:cs typeface="Times New Roman"/>
              </a:rPr>
              <a:t>left:5px;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200" spc="-25" dirty="0">
                <a:latin typeface="Times New Roman"/>
                <a:cs typeface="Times New Roman"/>
              </a:rPr>
              <a:t>margin-</a:t>
            </a:r>
            <a:r>
              <a:rPr sz="1200" spc="-10" dirty="0">
                <a:latin typeface="Times New Roman"/>
                <a:cs typeface="Times New Roman"/>
              </a:rPr>
              <a:t>right:5px;</a:t>
            </a:r>
            <a:endParaRPr sz="1200">
              <a:latin typeface="Times New Roman"/>
              <a:cs typeface="Times New Roman"/>
            </a:endParaRPr>
          </a:p>
          <a:p>
            <a:pPr marL="12700" marR="3453765">
              <a:lnSpc>
                <a:spcPct val="143700"/>
              </a:lnSpc>
            </a:pPr>
            <a:r>
              <a:rPr sz="1200" spc="-25" dirty="0">
                <a:latin typeface="Times New Roman"/>
                <a:cs typeface="Times New Roman"/>
              </a:rPr>
              <a:t>margin-</a:t>
            </a:r>
            <a:r>
              <a:rPr sz="1200" spc="-10" dirty="0">
                <a:latin typeface="Times New Roman"/>
                <a:cs typeface="Times New Roman"/>
              </a:rPr>
              <a:t>top:5px; </a:t>
            </a:r>
            <a:r>
              <a:rPr sz="1200" spc="-25" dirty="0">
                <a:latin typeface="Times New Roman"/>
                <a:cs typeface="Times New Roman"/>
              </a:rPr>
              <a:t>margin-</a:t>
            </a:r>
            <a:r>
              <a:rPr sz="1200" spc="-20" dirty="0">
                <a:latin typeface="Times New Roman"/>
                <a:cs typeface="Times New Roman"/>
              </a:rPr>
              <a:t>bottom:5px;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400" b="1" dirty="0">
                <a:latin typeface="Times New Roman"/>
                <a:cs typeface="Times New Roman"/>
              </a:rPr>
              <a:t>Latihan CSS </a:t>
            </a:r>
            <a:r>
              <a:rPr sz="1400" b="1" spc="-50" dirty="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710"/>
              </a:spcBef>
              <a:tabLst>
                <a:tab pos="469900" algn="l"/>
              </a:tabLst>
            </a:pPr>
            <a:r>
              <a:rPr sz="1200" spc="-5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1" dirty="0">
                <a:latin typeface="Times New Roman"/>
                <a:cs typeface="Times New Roman"/>
              </a:rPr>
              <a:t>Salin</a:t>
            </a:r>
            <a:r>
              <a:rPr sz="1200" b="1" spc="2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script</a:t>
            </a:r>
            <a:r>
              <a:rPr sz="1200" b="1" spc="2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berikut</a:t>
            </a:r>
            <a:r>
              <a:rPr sz="1200" b="1" spc="2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ini,</a:t>
            </a:r>
            <a:r>
              <a:rPr sz="1200" b="1" spc="2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lalu</a:t>
            </a:r>
            <a:r>
              <a:rPr sz="1200" b="1" spc="25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simpan</a:t>
            </a:r>
            <a:r>
              <a:rPr sz="1200" b="1" spc="2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</a:t>
            </a:r>
            <a:r>
              <a:rPr sz="1200" b="1" spc="25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folder</a:t>
            </a:r>
            <a:r>
              <a:rPr sz="1200" b="1" spc="2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lat_css</a:t>
            </a:r>
            <a:r>
              <a:rPr sz="1200" b="1" spc="2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dengan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0090" y="6216648"/>
            <a:ext cx="5401945" cy="2424430"/>
          </a:xfrm>
          <a:custGeom>
            <a:avLst/>
            <a:gdLst/>
            <a:ahLst/>
            <a:cxnLst/>
            <a:rect l="l" t="t" r="r" b="b"/>
            <a:pathLst>
              <a:path w="5401945" h="2424429">
                <a:moveTo>
                  <a:pt x="5401818" y="0"/>
                </a:moveTo>
                <a:lnTo>
                  <a:pt x="0" y="0"/>
                </a:lnTo>
                <a:lnTo>
                  <a:pt x="0" y="2424429"/>
                </a:lnTo>
                <a:lnTo>
                  <a:pt x="5401818" y="2424429"/>
                </a:lnTo>
                <a:lnTo>
                  <a:pt x="5401818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877" y="6235445"/>
            <a:ext cx="3729354" cy="231584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1022985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carikan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merupakan </a:t>
            </a:r>
            <a:r>
              <a:rPr sz="1200" dirty="0">
                <a:latin typeface="Times New Roman"/>
                <a:cs typeface="Times New Roman"/>
              </a:rPr>
              <a:t>anak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ganjil*/</a:t>
            </a:r>
            <a:endParaRPr sz="1200">
              <a:latin typeface="Times New Roman"/>
              <a:cs typeface="Times New Roman"/>
            </a:endParaRPr>
          </a:p>
          <a:p>
            <a:pPr marR="2063114" algn="r">
              <a:lnSpc>
                <a:spcPts val="1320"/>
              </a:lnSpc>
            </a:pPr>
            <a:r>
              <a:rPr sz="1200" spc="-10" dirty="0">
                <a:latin typeface="Times New Roman"/>
                <a:cs typeface="Times New Roman"/>
              </a:rPr>
              <a:t>li:nth-child(odd)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a{</a:t>
            </a:r>
            <a:endParaRPr sz="1200">
              <a:latin typeface="Times New Roman"/>
              <a:cs typeface="Times New Roman"/>
            </a:endParaRPr>
          </a:p>
          <a:p>
            <a:pPr marR="2045970" algn="r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color:violet;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carikan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urutannya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pertama*/ p:first-of-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color: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red;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 marR="2095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carikan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urutannya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terakhir*/ p:last-of-</a:t>
            </a:r>
            <a:r>
              <a:rPr sz="1200" dirty="0">
                <a:latin typeface="Times New Roman"/>
                <a:cs typeface="Times New Roman"/>
              </a:rPr>
              <a:t>type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30"/>
              </a:lnSpc>
            </a:pPr>
            <a:r>
              <a:rPr sz="1200" dirty="0">
                <a:latin typeface="Times New Roman"/>
                <a:cs typeface="Times New Roman"/>
              </a:rPr>
              <a:t>color: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orange;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2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775" y="1165225"/>
            <a:ext cx="5164455" cy="5136515"/>
          </a:xfrm>
          <a:custGeom>
            <a:avLst/>
            <a:gdLst/>
            <a:ahLst/>
            <a:cxnLst/>
            <a:rect l="l" t="t" r="r" b="b"/>
            <a:pathLst>
              <a:path w="5164455" h="5136515">
                <a:moveTo>
                  <a:pt x="5164455" y="0"/>
                </a:moveTo>
                <a:lnTo>
                  <a:pt x="0" y="0"/>
                </a:lnTo>
                <a:lnTo>
                  <a:pt x="0" y="5136515"/>
                </a:lnTo>
                <a:lnTo>
                  <a:pt x="5164455" y="5136515"/>
                </a:lnTo>
                <a:lnTo>
                  <a:pt x="516445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9930" y="486409"/>
            <a:ext cx="5250180" cy="581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040" marR="574675" indent="-180975">
              <a:lnSpc>
                <a:spcPct val="145100"/>
              </a:lnSpc>
              <a:spcBef>
                <a:spcPts val="100"/>
              </a:spcBef>
              <a:tabLst>
                <a:tab pos="193040" algn="l"/>
              </a:tabLst>
            </a:pPr>
            <a:r>
              <a:rPr sz="1200" spc="-5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1" dirty="0">
                <a:latin typeface="Times New Roman"/>
                <a:cs typeface="Times New Roman"/>
              </a:rPr>
              <a:t>Salin</a:t>
            </a:r>
            <a:r>
              <a:rPr sz="1200" b="1" spc="1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script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berikut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ini,</a:t>
            </a:r>
            <a:r>
              <a:rPr sz="1200" b="1" spc="1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lalu</a:t>
            </a:r>
            <a:r>
              <a:rPr sz="1200" b="1" spc="1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simpan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</a:t>
            </a:r>
            <a:r>
              <a:rPr sz="1200" b="1" spc="1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folder</a:t>
            </a:r>
            <a:r>
              <a:rPr sz="1200" b="1" spc="1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modul_web1</a:t>
            </a:r>
            <a:r>
              <a:rPr sz="1200" b="1" spc="1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dengan </a:t>
            </a:r>
            <a:r>
              <a:rPr sz="1200" b="1" dirty="0">
                <a:latin typeface="Times New Roman"/>
                <a:cs typeface="Times New Roman"/>
              </a:rPr>
              <a:t>nama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latihan_css.html</a:t>
            </a:r>
            <a:endParaRPr sz="1200">
              <a:latin typeface="Times New Roman"/>
              <a:cs typeface="Times New Roman"/>
            </a:endParaRPr>
          </a:p>
          <a:p>
            <a:pPr marL="248920">
              <a:lnSpc>
                <a:spcPts val="1410"/>
              </a:lnSpc>
              <a:spcBef>
                <a:spcPts val="1300"/>
              </a:spcBef>
            </a:pPr>
            <a:r>
              <a:rPr sz="1200" dirty="0">
                <a:latin typeface="Times New Roman"/>
                <a:cs typeface="Times New Roman"/>
              </a:rPr>
              <a:t>&lt;!DOCTYPE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html&gt;</a:t>
            </a:r>
            <a:endParaRPr sz="1200">
              <a:latin typeface="Times New Roman"/>
              <a:cs typeface="Times New Roman"/>
            </a:endParaRPr>
          </a:p>
          <a:p>
            <a:pPr marL="24892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24892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Latihan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CSS&lt;/title&gt;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&lt;link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rel="stylesheet"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type="text/css"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href="style_css.css"&gt;</a:t>
            </a:r>
            <a:endParaRPr sz="1200">
              <a:latin typeface="Times New Roman"/>
              <a:cs typeface="Times New Roman"/>
            </a:endParaRPr>
          </a:p>
          <a:p>
            <a:pPr marL="24892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24892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2489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&lt;a href="#"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class="hello"&gt;Hello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World&lt;/a&gt;</a:t>
            </a:r>
            <a:endParaRPr sz="1200">
              <a:latin typeface="Times New Roman"/>
              <a:cs typeface="Times New Roman"/>
            </a:endParaRPr>
          </a:p>
          <a:p>
            <a:pPr marL="248920">
              <a:lnSpc>
                <a:spcPts val="1380"/>
              </a:lnSpc>
            </a:pPr>
            <a:r>
              <a:rPr sz="1200" spc="-20" dirty="0">
                <a:latin typeface="Times New Roman"/>
                <a:cs typeface="Times New Roman"/>
              </a:rPr>
              <a:t>&lt;ul&gt;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&lt;li&gt;&lt;a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href="#"&gt;Link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1&lt;/a&gt;&lt;/li&gt;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&lt;li&gt;&lt;a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href="#"&gt;Link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2&lt;/a&gt;&lt;/li&gt;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&lt;li&gt;&lt;a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href="#"&gt;Link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3&lt;/a&gt;&lt;/li&gt;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&lt;li&gt;&lt;a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href="#"&gt;Link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4&lt;/a&gt;&lt;/li&gt;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&lt;li&gt;&lt;a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href="#"&gt;Link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5&lt;/a&gt;&lt;/li&gt;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&lt;li&gt;&lt;a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href="#"&gt;Link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6&lt;/a&gt;&lt;/li&gt;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&lt;li&gt;&lt;a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href="#"&gt;Link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7&lt;/a&gt;&lt;/li&gt;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&lt;li&gt;&lt;a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href="#"&gt;Link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8&lt;/a&gt;&lt;/li&gt;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&lt;li&gt;&lt;a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href="#"&gt;Link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9&lt;/a&gt;&lt;/li&gt;</a:t>
            </a:r>
            <a:endParaRPr sz="1200">
              <a:latin typeface="Times New Roman"/>
              <a:cs typeface="Times New Roman"/>
            </a:endParaRPr>
          </a:p>
          <a:p>
            <a:pPr marL="706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&lt;li&gt;&lt;a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href="#"&gt;Link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10&lt;/a&gt;&lt;/li&gt;</a:t>
            </a:r>
            <a:endParaRPr sz="1200">
              <a:latin typeface="Times New Roman"/>
              <a:cs typeface="Times New Roman"/>
            </a:endParaRPr>
          </a:p>
          <a:p>
            <a:pPr marL="24892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&lt;/ul&gt;</a:t>
            </a:r>
            <a:endParaRPr sz="1200">
              <a:latin typeface="Times New Roman"/>
              <a:cs typeface="Times New Roman"/>
            </a:endParaRPr>
          </a:p>
          <a:p>
            <a:pPr marL="248920" marR="5080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&lt;p&gt;Lorem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Ipsum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dummy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industri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percetakan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dirty="0">
                <a:latin typeface="Times New Roman"/>
                <a:cs typeface="Times New Roman"/>
              </a:rPr>
              <a:t>penataan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huruf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typesetting.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Lorem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Ipsum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telah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menjadi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teks </a:t>
            </a:r>
            <a:r>
              <a:rPr sz="1200" dirty="0">
                <a:latin typeface="Times New Roman"/>
                <a:cs typeface="Times New Roman"/>
              </a:rPr>
              <a:t>sejak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tahun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1500an,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saat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seorang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tukang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cetak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dikenal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kumpulan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teks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mengacaknya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menjadi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buku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contoh </a:t>
            </a:r>
            <a:r>
              <a:rPr sz="1200" dirty="0">
                <a:latin typeface="Times New Roman"/>
                <a:cs typeface="Times New Roman"/>
              </a:rPr>
              <a:t>huruf.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&lt;/p&gt;</a:t>
            </a:r>
            <a:endParaRPr sz="1200">
              <a:latin typeface="Times New Roman"/>
              <a:cs typeface="Times New Roman"/>
            </a:endParaRPr>
          </a:p>
          <a:p>
            <a:pPr marL="248920" marR="6985" algn="just">
              <a:lnSpc>
                <a:spcPts val="137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&lt;p&gt;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hanya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bertahan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selama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abad,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tapi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juga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telah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beralih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penataan </a:t>
            </a:r>
            <a:r>
              <a:rPr sz="1200" dirty="0">
                <a:latin typeface="Times New Roman"/>
                <a:cs typeface="Times New Roman"/>
              </a:rPr>
              <a:t>huruf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elektronik,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tanpa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perubahan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apapun.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mulai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dipopulerkan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tahun</a:t>
            </a:r>
            <a:endParaRPr sz="1200">
              <a:latin typeface="Times New Roman"/>
              <a:cs typeface="Times New Roman"/>
            </a:endParaRPr>
          </a:p>
          <a:p>
            <a:pPr marL="248920" marR="5080" algn="just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1960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diluncurkannya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lembaran-</a:t>
            </a:r>
            <a:r>
              <a:rPr sz="1200" dirty="0">
                <a:latin typeface="Times New Roman"/>
                <a:cs typeface="Times New Roman"/>
              </a:rPr>
              <a:t>lembaran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Letraset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 kalimat-</a:t>
            </a:r>
            <a:r>
              <a:rPr sz="1200" dirty="0">
                <a:latin typeface="Times New Roman"/>
                <a:cs typeface="Times New Roman"/>
              </a:rPr>
              <a:t>kalimat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Lorem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Ipsum,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seiring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munculnya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perangkat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lunak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900" y="860425"/>
            <a:ext cx="4535170" cy="2308225"/>
            <a:chOff x="723900" y="860425"/>
            <a:chExt cx="4535170" cy="2308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485" y="869569"/>
              <a:ext cx="4516120" cy="22885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3900" y="860424"/>
              <a:ext cx="4535170" cy="2308225"/>
            </a:xfrm>
            <a:custGeom>
              <a:avLst/>
              <a:gdLst/>
              <a:ahLst/>
              <a:cxnLst/>
              <a:rect l="l" t="t" r="r" b="b"/>
              <a:pathLst>
                <a:path w="4535170" h="2308225">
                  <a:moveTo>
                    <a:pt x="4525645" y="2298065"/>
                  </a:moveTo>
                  <a:lnTo>
                    <a:pt x="9144" y="2298065"/>
                  </a:lnTo>
                  <a:lnTo>
                    <a:pt x="9144" y="9525"/>
                  </a:lnTo>
                  <a:lnTo>
                    <a:pt x="0" y="9525"/>
                  </a:lnTo>
                  <a:lnTo>
                    <a:pt x="0" y="2298065"/>
                  </a:lnTo>
                  <a:lnTo>
                    <a:pt x="0" y="2308225"/>
                  </a:lnTo>
                  <a:lnTo>
                    <a:pt x="4525645" y="2308225"/>
                  </a:lnTo>
                  <a:lnTo>
                    <a:pt x="4525645" y="2298065"/>
                  </a:lnTo>
                  <a:close/>
                </a:path>
                <a:path w="4535170" h="2308225">
                  <a:moveTo>
                    <a:pt x="4525645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4525645" y="9144"/>
                  </a:lnTo>
                  <a:lnTo>
                    <a:pt x="4525645" y="0"/>
                  </a:lnTo>
                  <a:close/>
                </a:path>
                <a:path w="4535170" h="2308225">
                  <a:moveTo>
                    <a:pt x="4534916" y="9271"/>
                  </a:moveTo>
                  <a:lnTo>
                    <a:pt x="4525772" y="9271"/>
                  </a:lnTo>
                  <a:lnTo>
                    <a:pt x="4525772" y="2307717"/>
                  </a:lnTo>
                  <a:lnTo>
                    <a:pt x="4534916" y="2307717"/>
                  </a:lnTo>
                  <a:lnTo>
                    <a:pt x="4534916" y="9271"/>
                  </a:lnTo>
                  <a:close/>
                </a:path>
                <a:path w="4535170" h="2308225">
                  <a:moveTo>
                    <a:pt x="4534916" y="0"/>
                  </a:moveTo>
                  <a:lnTo>
                    <a:pt x="4525772" y="0"/>
                  </a:lnTo>
                  <a:lnTo>
                    <a:pt x="4525772" y="9144"/>
                  </a:lnTo>
                  <a:lnTo>
                    <a:pt x="4534916" y="9144"/>
                  </a:lnTo>
                  <a:lnTo>
                    <a:pt x="4534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11200" y="568959"/>
            <a:ext cx="267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770" algn="l"/>
              </a:tabLst>
            </a:pPr>
            <a:r>
              <a:rPr sz="1200" spc="-5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	Hasil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ditampilkan </a:t>
            </a:r>
            <a:r>
              <a:rPr sz="1200" dirty="0">
                <a:latin typeface="Times New Roman"/>
                <a:cs typeface="Times New Roman"/>
              </a:rPr>
              <a:t>dibrowser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2991" y="3228721"/>
            <a:ext cx="24434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9.3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latihan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CSS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1456</Words>
  <Application>Microsoft Office PowerPoint</Application>
  <PresentationFormat>Custom</PresentationFormat>
  <Paragraphs>256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2</cp:revision>
  <dcterms:created xsi:type="dcterms:W3CDTF">2025-02-18T13:56:23Z</dcterms:created>
  <dcterms:modified xsi:type="dcterms:W3CDTF">2025-02-24T07:11:50Z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LastSaved">
    <vt:filetime>2025-02-18T00:00:00Z</vt:filetime>
  </property>
  <property fmtid="{D5CDD505-2E9C-101B-9397-08002B2CF9AE}" pid="4" name="Producer">
    <vt:lpwstr>iLovePDF</vt:lpwstr>
  </property>
</Properties>
</file>
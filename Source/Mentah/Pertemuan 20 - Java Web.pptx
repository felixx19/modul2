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569200" cy="10693400"/>
  <p:notesSz cx="75692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786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736"/>
            <a:ext cx="681228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18884" y="10054131"/>
            <a:ext cx="172720" cy="166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7620" y="4202429"/>
            <a:ext cx="3139312" cy="22910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77695" y="1041781"/>
            <a:ext cx="4624070" cy="3010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905" algn="ctr">
              <a:lnSpc>
                <a:spcPts val="141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Pertemuan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20</a:t>
            </a:r>
            <a:endParaRPr sz="1200">
              <a:latin typeface="Times New Roman"/>
              <a:cs typeface="Times New Roman"/>
            </a:endParaRPr>
          </a:p>
          <a:p>
            <a:pPr marR="4445" algn="ctr">
              <a:lnSpc>
                <a:spcPts val="1410"/>
              </a:lnSpc>
            </a:pPr>
            <a:r>
              <a:rPr sz="1200" b="1" spc="-10" dirty="0">
                <a:latin typeface="Times New Roman"/>
                <a:cs typeface="Times New Roman"/>
              </a:rPr>
              <a:t>Pengenalan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Java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Web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Programming,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dan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Konfigurasi </a:t>
            </a:r>
            <a:r>
              <a:rPr sz="1200" b="1" dirty="0">
                <a:latin typeface="Times New Roman"/>
                <a:cs typeface="Times New Roman"/>
              </a:rPr>
              <a:t>IDE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Netbeans</a:t>
            </a:r>
            <a:endParaRPr sz="1200">
              <a:latin typeface="Times New Roman"/>
              <a:cs typeface="Times New Roman"/>
            </a:endParaRPr>
          </a:p>
          <a:p>
            <a:pPr marR="6985" algn="ctr">
              <a:lnSpc>
                <a:spcPct val="100000"/>
              </a:lnSpc>
              <a:spcBef>
                <a:spcPts val="635"/>
              </a:spcBef>
            </a:pPr>
            <a:r>
              <a:rPr sz="1200" b="1" dirty="0">
                <a:latin typeface="Times New Roman"/>
                <a:cs typeface="Times New Roman"/>
              </a:rPr>
              <a:t>dengan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web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server </a:t>
            </a:r>
            <a:r>
              <a:rPr sz="1200" b="1" spc="-10" dirty="0">
                <a:latin typeface="Times New Roman"/>
                <a:cs typeface="Times New Roman"/>
              </a:rPr>
              <a:t>Tomcat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200">
              <a:latin typeface="Times New Roman"/>
              <a:cs typeface="Times New Roman"/>
            </a:endParaRPr>
          </a:p>
          <a:p>
            <a:pPr marL="28448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20.1Java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Web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Programming</a:t>
            </a:r>
            <a:endParaRPr sz="1200">
              <a:latin typeface="Times New Roman"/>
              <a:cs typeface="Times New Roman"/>
            </a:endParaRPr>
          </a:p>
          <a:p>
            <a:pPr marL="12700" marR="5080" indent="271780">
              <a:lnSpc>
                <a:spcPts val="206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device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skala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besar.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Component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komponen-</a:t>
            </a:r>
            <a:endParaRPr sz="1200">
              <a:latin typeface="Times New Roman"/>
              <a:cs typeface="Times New Roman"/>
            </a:endParaRPr>
          </a:p>
          <a:p>
            <a:pPr marL="12700" marR="8890">
              <a:lnSpc>
                <a:spcPts val="206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komponen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seperti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 JSP.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berkomunikasi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komponen</a:t>
            </a:r>
            <a:endParaRPr sz="1200">
              <a:latin typeface="Times New Roman"/>
              <a:cs typeface="Times New Roman"/>
            </a:endParaRPr>
          </a:p>
          <a:p>
            <a:pPr marL="12700" marR="15875">
              <a:lnSpc>
                <a:spcPts val="206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lain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serta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memanfaatkannya,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komponen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JDBC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mengakses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komponen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JMS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JavaMail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mengirim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spc="-10" dirty="0">
                <a:latin typeface="Times New Roman"/>
                <a:cs typeface="Times New Roman"/>
              </a:rPr>
              <a:t>email.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77695" y="6742683"/>
            <a:ext cx="4617720" cy="2146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57200" algn="just">
              <a:lnSpc>
                <a:spcPct val="143500"/>
              </a:lnSpc>
              <a:spcBef>
                <a:spcPts val="90"/>
              </a:spcBef>
            </a:pP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Container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berbasis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menampung web-</a:t>
            </a:r>
            <a:r>
              <a:rPr sz="1200" dirty="0">
                <a:latin typeface="Times New Roman"/>
                <a:cs typeface="Times New Roman"/>
              </a:rPr>
              <a:t>component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serta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menyediakan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layanan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bagi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seperti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dispatching,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security,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serta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lifecycle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management.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Beberapa </a:t>
            </a:r>
            <a:r>
              <a:rPr sz="1200" dirty="0">
                <a:latin typeface="Times New Roman"/>
                <a:cs typeface="Times New Roman"/>
              </a:rPr>
              <a:t>pembuat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antara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730885" indent="-266700" algn="just">
              <a:lnSpc>
                <a:spcPct val="100000"/>
              </a:lnSpc>
              <a:spcBef>
                <a:spcPts val="725"/>
              </a:spcBef>
              <a:buFont typeface="Symbol"/>
              <a:buChar char=""/>
              <a:tabLst>
                <a:tab pos="730885" algn="l"/>
              </a:tabLst>
            </a:pPr>
            <a:r>
              <a:rPr sz="1200" dirty="0">
                <a:latin typeface="Times New Roman"/>
                <a:cs typeface="Times New Roman"/>
              </a:rPr>
              <a:t>Free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Apache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Tomcat,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JResin,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Jetty,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Glassfish.</a:t>
            </a:r>
            <a:endParaRPr sz="1200">
              <a:latin typeface="Times New Roman"/>
              <a:cs typeface="Times New Roman"/>
            </a:endParaRPr>
          </a:p>
          <a:p>
            <a:pPr marL="730885" indent="-266700" algn="just">
              <a:lnSpc>
                <a:spcPct val="100000"/>
              </a:lnSpc>
              <a:spcBef>
                <a:spcPts val="680"/>
              </a:spcBef>
              <a:buFont typeface="Symbol"/>
              <a:buChar char=""/>
              <a:tabLst>
                <a:tab pos="730885" algn="l"/>
              </a:tabLst>
            </a:pPr>
            <a:r>
              <a:rPr sz="1200" dirty="0">
                <a:latin typeface="Times New Roman"/>
                <a:cs typeface="Times New Roman"/>
              </a:rPr>
              <a:t>Sun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SJSAS,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JBoss,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IBM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Websphere,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Oracle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Weblogic.</a:t>
            </a:r>
            <a:endParaRPr sz="1200">
              <a:latin typeface="Times New Roman"/>
              <a:cs typeface="Times New Roman"/>
            </a:endParaRPr>
          </a:p>
          <a:p>
            <a:pPr marL="12700" marR="15240" indent="452120" algn="just">
              <a:lnSpc>
                <a:spcPct val="143100"/>
              </a:lnSpc>
              <a:spcBef>
                <a:spcPts val="40"/>
              </a:spcBef>
            </a:pPr>
            <a:r>
              <a:rPr sz="1200" dirty="0">
                <a:latin typeface="Times New Roman"/>
                <a:cs typeface="Times New Roman"/>
              </a:rPr>
              <a:t>Salah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free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ERP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container </a:t>
            </a:r>
            <a:r>
              <a:rPr sz="1200" dirty="0">
                <a:latin typeface="Times New Roman"/>
                <a:cs typeface="Times New Roman"/>
              </a:rPr>
              <a:t>Apache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Tomcat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Compiere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Adampiere.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7695" y="4006468"/>
            <a:ext cx="4618990" cy="533527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437640">
              <a:lnSpc>
                <a:spcPct val="100000"/>
              </a:lnSpc>
              <a:spcBef>
                <a:spcPts val="74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</a:t>
            </a:r>
            <a:endParaRPr sz="1200">
              <a:latin typeface="Times New Roman"/>
              <a:cs typeface="Times New Roman"/>
            </a:endParaRPr>
          </a:p>
          <a:p>
            <a:pPr marL="12700" marR="97155" indent="452120">
              <a:lnSpc>
                <a:spcPct val="144500"/>
              </a:lnSpc>
            </a:pP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paket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siap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deploy </a:t>
            </a:r>
            <a:r>
              <a:rPr sz="1200" dirty="0">
                <a:latin typeface="Times New Roman"/>
                <a:cs typeface="Times New Roman"/>
              </a:rPr>
              <a:t>(install)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container.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terdiri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734060" indent="-269875">
              <a:lnSpc>
                <a:spcPct val="100000"/>
              </a:lnSpc>
              <a:spcBef>
                <a:spcPts val="700"/>
              </a:spcBef>
              <a:buFont typeface="Symbol"/>
              <a:buChar char=""/>
              <a:tabLst>
                <a:tab pos="734060" algn="l"/>
              </a:tabLst>
            </a:pP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(Servlet,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dsb).</a:t>
            </a:r>
            <a:endParaRPr sz="1200">
              <a:latin typeface="Times New Roman"/>
              <a:cs typeface="Times New Roman"/>
            </a:endParaRPr>
          </a:p>
          <a:p>
            <a:pPr marL="734060" indent="-269875">
              <a:lnSpc>
                <a:spcPct val="100000"/>
              </a:lnSpc>
              <a:spcBef>
                <a:spcPts val="700"/>
              </a:spcBef>
              <a:buFont typeface="Symbol"/>
              <a:buChar char=""/>
              <a:tabLst>
                <a:tab pos="734060" algn="l"/>
              </a:tabLst>
            </a:pPr>
            <a:r>
              <a:rPr sz="1200" spc="-20" dirty="0">
                <a:latin typeface="Times New Roman"/>
                <a:cs typeface="Times New Roman"/>
              </a:rPr>
              <a:t>File-</a:t>
            </a:r>
            <a:r>
              <a:rPr sz="1200" dirty="0">
                <a:latin typeface="Times New Roman"/>
                <a:cs typeface="Times New Roman"/>
              </a:rPr>
              <a:t>file lain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seperti;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gambar.</a:t>
            </a:r>
            <a:endParaRPr sz="1200">
              <a:latin typeface="Times New Roman"/>
              <a:cs typeface="Times New Roman"/>
            </a:endParaRPr>
          </a:p>
          <a:p>
            <a:pPr marL="734060" indent="-269875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734060" algn="l"/>
              </a:tabLst>
            </a:pPr>
            <a:r>
              <a:rPr sz="1200" spc="-10" dirty="0">
                <a:latin typeface="Times New Roman"/>
                <a:cs typeface="Times New Roman"/>
              </a:rPr>
              <a:t>Library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JSTL,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dsb.</a:t>
            </a:r>
            <a:endParaRPr sz="1200">
              <a:latin typeface="Times New Roman"/>
              <a:cs typeface="Times New Roman"/>
            </a:endParaRPr>
          </a:p>
          <a:p>
            <a:pPr marL="733425" indent="-269240" algn="just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733425" algn="l"/>
              </a:tabLst>
            </a:pPr>
            <a:r>
              <a:rPr sz="1200" dirty="0">
                <a:latin typeface="Times New Roman"/>
                <a:cs typeface="Times New Roman"/>
              </a:rPr>
              <a:t>Deployment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descriptor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(web.xml).</a:t>
            </a:r>
            <a:endParaRPr sz="1200">
              <a:latin typeface="Times New Roman"/>
              <a:cs typeface="Times New Roman"/>
            </a:endParaRPr>
          </a:p>
          <a:p>
            <a:pPr marL="12700" marR="8255" indent="457200" algn="just">
              <a:lnSpc>
                <a:spcPct val="144500"/>
              </a:lnSpc>
            </a:pPr>
            <a:r>
              <a:rPr sz="1200" dirty="0">
                <a:latin typeface="Times New Roman"/>
                <a:cs typeface="Times New Roman"/>
              </a:rPr>
              <a:t>Paket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berbentuk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berekstensi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*.war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(web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archive), </a:t>
            </a:r>
            <a:r>
              <a:rPr sz="1200" dirty="0">
                <a:latin typeface="Times New Roman"/>
                <a:cs typeface="Times New Roman"/>
              </a:rPr>
              <a:t>setelah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dideploy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terekstrak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menjadi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file-file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khusus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atas.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200">
              <a:latin typeface="Times New Roman"/>
              <a:cs typeface="Times New Roman"/>
            </a:endParaRPr>
          </a:p>
          <a:p>
            <a:pPr marL="284480" algn="just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20.2MVC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(Model-View-Controller)</a:t>
            </a:r>
            <a:endParaRPr sz="1200">
              <a:latin typeface="Times New Roman"/>
              <a:cs typeface="Times New Roman"/>
            </a:endParaRPr>
          </a:p>
          <a:p>
            <a:pPr marL="12700" indent="271780" algn="just">
              <a:lnSpc>
                <a:spcPct val="100000"/>
              </a:lnSpc>
              <a:spcBef>
                <a:spcPts val="580"/>
              </a:spcBef>
            </a:pPr>
            <a:r>
              <a:rPr sz="1200" dirty="0">
                <a:latin typeface="Times New Roman"/>
                <a:cs typeface="Times New Roman"/>
              </a:rPr>
              <a:t>MVC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pembuatan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sistem/program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memisahkannya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6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menjadi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Model,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View,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Controller.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MVC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struts, </a:t>
            </a:r>
            <a:r>
              <a:rPr sz="1200" dirty="0">
                <a:latin typeface="Times New Roman"/>
                <a:cs typeface="Times New Roman"/>
              </a:rPr>
              <a:t>hibernate,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spring,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dll.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Konsep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MVC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(model-</a:t>
            </a:r>
            <a:r>
              <a:rPr sz="1200" spc="-10" dirty="0">
                <a:latin typeface="Times New Roman"/>
                <a:cs typeface="Times New Roman"/>
              </a:rPr>
              <a:t>view-</a:t>
            </a:r>
            <a:r>
              <a:rPr sz="1200" dirty="0">
                <a:latin typeface="Times New Roman"/>
                <a:cs typeface="Times New Roman"/>
              </a:rPr>
              <a:t>controller)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diciptakan </a:t>
            </a:r>
            <a:r>
              <a:rPr sz="1200" dirty="0">
                <a:latin typeface="Times New Roman"/>
                <a:cs typeface="Times New Roman"/>
              </a:rPr>
              <a:t>agar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tanggung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jawab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tiap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individu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pengembang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software </a:t>
            </a:r>
            <a:r>
              <a:rPr sz="1200" dirty="0">
                <a:latin typeface="Times New Roman"/>
                <a:cs typeface="Times New Roman"/>
              </a:rPr>
              <a:t>menjadi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jelas.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Konsep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MVC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membagi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tugas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 berikut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734060" marR="11430" indent="-269875" algn="just">
              <a:lnSpc>
                <a:spcPct val="142400"/>
              </a:lnSpc>
              <a:spcBef>
                <a:spcPts val="90"/>
              </a:spcBef>
              <a:buFont typeface="Symbol"/>
              <a:buChar char=""/>
              <a:tabLst>
                <a:tab pos="734060" algn="l"/>
              </a:tabLst>
            </a:pPr>
            <a:r>
              <a:rPr sz="1200" dirty="0">
                <a:latin typeface="Times New Roman"/>
                <a:cs typeface="Times New Roman"/>
              </a:rPr>
              <a:t>Programmer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berfokus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Controller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mengatur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DFD </a:t>
            </a:r>
            <a:r>
              <a:rPr sz="1200" dirty="0">
                <a:latin typeface="Times New Roman"/>
                <a:cs typeface="Times New Roman"/>
              </a:rPr>
              <a:t>(Data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Diagram)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bisnis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aplikasi </a:t>
            </a:r>
            <a:r>
              <a:rPr sz="1200" spc="-20" dirty="0">
                <a:latin typeface="Times New Roman"/>
                <a:cs typeface="Times New Roman"/>
              </a:rPr>
              <a:t>web.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2209" y="1066800"/>
            <a:ext cx="1421130" cy="29794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0650" y="2397760"/>
            <a:ext cx="3053079" cy="14668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29814" y="967993"/>
            <a:ext cx="4167504" cy="13417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1940" marR="5080" indent="-269875" algn="just">
              <a:lnSpc>
                <a:spcPct val="142400"/>
              </a:lnSpc>
              <a:spcBef>
                <a:spcPts val="90"/>
              </a:spcBef>
              <a:buFont typeface="Symbol"/>
              <a:buChar char=""/>
              <a:tabLst>
                <a:tab pos="281940" algn="l"/>
              </a:tabLst>
            </a:pPr>
            <a:r>
              <a:rPr sz="1200" dirty="0">
                <a:latin typeface="Times New Roman"/>
                <a:cs typeface="Times New Roman"/>
              </a:rPr>
              <a:t>DBA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berfokus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3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menyusun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ERD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(Entity </a:t>
            </a:r>
            <a:r>
              <a:rPr sz="1200" dirty="0">
                <a:latin typeface="Times New Roman"/>
                <a:cs typeface="Times New Roman"/>
              </a:rPr>
              <a:t>Relationship</a:t>
            </a:r>
            <a:r>
              <a:rPr sz="1200" spc="4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Diagram)</a:t>
            </a:r>
            <a:r>
              <a:rPr sz="1200" spc="4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4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4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ORM</a:t>
            </a:r>
            <a:r>
              <a:rPr sz="1200" spc="40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(Object </a:t>
            </a:r>
            <a:r>
              <a:rPr sz="1200" dirty="0">
                <a:latin typeface="Times New Roman"/>
                <a:cs typeface="Times New Roman"/>
              </a:rPr>
              <a:t>Relationship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Mapping).</a:t>
            </a:r>
            <a:endParaRPr sz="1200">
              <a:latin typeface="Times New Roman"/>
              <a:cs typeface="Times New Roman"/>
            </a:endParaRPr>
          </a:p>
          <a:p>
            <a:pPr marL="281940" marR="11430" indent="-269875" algn="just">
              <a:lnSpc>
                <a:spcPct val="141800"/>
              </a:lnSpc>
              <a:spcBef>
                <a:spcPts val="135"/>
              </a:spcBef>
              <a:buFont typeface="Symbol"/>
              <a:buChar char=""/>
              <a:tabLst>
                <a:tab pos="281940" algn="l"/>
              </a:tabLst>
            </a:pPr>
            <a:r>
              <a:rPr sz="1200" dirty="0">
                <a:latin typeface="Times New Roman"/>
                <a:cs typeface="Times New Roman"/>
              </a:rPr>
              <a:t>Designer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berfokus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View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(estetika)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web </a:t>
            </a:r>
            <a:r>
              <a:rPr sz="1200" spc="-10" dirty="0">
                <a:latin typeface="Times New Roman"/>
                <a:cs typeface="Times New Roman"/>
              </a:rPr>
              <a:t>saja.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77695" y="3879468"/>
            <a:ext cx="4617720" cy="5281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28369" indent="922019">
              <a:lnSpc>
                <a:spcPct val="1431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MVC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-25" dirty="0">
                <a:latin typeface="Times New Roman"/>
                <a:cs typeface="Times New Roman"/>
              </a:rPr>
              <a:t> Web </a:t>
            </a:r>
            <a:r>
              <a:rPr sz="1200" dirty="0">
                <a:latin typeface="Times New Roman"/>
                <a:cs typeface="Times New Roman"/>
              </a:rPr>
              <a:t>Alur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MVC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469900" marR="5080" indent="-228600">
              <a:lnSpc>
                <a:spcPts val="2100"/>
              </a:lnSpc>
              <a:spcBef>
                <a:spcPts val="140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browser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mengirim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diterima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oleh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Controller.</a:t>
            </a:r>
            <a:endParaRPr sz="1200">
              <a:latin typeface="Times New Roman"/>
              <a:cs typeface="Times New Roman"/>
            </a:endParaRPr>
          </a:p>
          <a:p>
            <a:pPr marL="469900" marR="8255" indent="-228600">
              <a:lnSpc>
                <a:spcPts val="2060"/>
              </a:lnSpc>
              <a:spcBef>
                <a:spcPts val="1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Controller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bertugas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mengecek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lalu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diproses.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dihasilkan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controller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berbentuk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objek/java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bean.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 marL="469900" marR="5080">
              <a:lnSpc>
                <a:spcPts val="206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bertugas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merepresentasi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data-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bentuk objek-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saling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berhubungan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biasa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disebut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ORM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</a:pPr>
            <a:r>
              <a:rPr sz="1200" dirty="0">
                <a:latin typeface="Times New Roman"/>
                <a:cs typeface="Times New Roman"/>
              </a:rPr>
              <a:t>(Object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Mapping).</a:t>
            </a:r>
            <a:endParaRPr sz="1200">
              <a:latin typeface="Times New Roman"/>
              <a:cs typeface="Times New Roman"/>
            </a:endParaRPr>
          </a:p>
          <a:p>
            <a:pPr marL="469900" marR="8890" indent="-228600">
              <a:lnSpc>
                <a:spcPts val="2080"/>
              </a:lnSpc>
              <a:spcBef>
                <a:spcPts val="160"/>
              </a:spcBef>
              <a:buAutoNum type="arabicPeriod" startAt="3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Controller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kemudian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menyerahkan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tugas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View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(file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JSP)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menampilkan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objek.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445"/>
              </a:spcBef>
              <a:buAutoNum type="arabicPeriod" startAt="3"/>
              <a:tabLst>
                <a:tab pos="469900" algn="l"/>
                <a:tab pos="982344" algn="l"/>
                <a:tab pos="1851660" algn="l"/>
                <a:tab pos="2287905" algn="l"/>
                <a:tab pos="3077210" algn="l"/>
                <a:tab pos="3893820" algn="l"/>
                <a:tab pos="4365625" algn="l"/>
              </a:tabLst>
            </a:pPr>
            <a:r>
              <a:rPr sz="1200" spc="-20" dirty="0">
                <a:latin typeface="Times New Roman"/>
                <a:cs typeface="Times New Roman"/>
              </a:rPr>
              <a:t>View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mengambil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berbentuk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objek/java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bean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lalu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latin typeface="Times New Roman"/>
                <a:cs typeface="Times New Roman"/>
              </a:rPr>
              <a:t>memprosesnya.</a:t>
            </a:r>
            <a:endParaRPr sz="1200">
              <a:latin typeface="Times New Roman"/>
              <a:cs typeface="Times New Roman"/>
            </a:endParaRPr>
          </a:p>
          <a:p>
            <a:pPr marL="469900" marR="10795" indent="-228600">
              <a:lnSpc>
                <a:spcPct val="144400"/>
              </a:lnSpc>
              <a:buAutoNum type="arabicPeriod" startAt="5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View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mengirim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browser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menampilkan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syntax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JSTL.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200">
              <a:latin typeface="Times New Roman"/>
              <a:cs typeface="Times New Roman"/>
            </a:endParaRPr>
          </a:p>
          <a:p>
            <a:pPr marL="28448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20.3Framework</a:t>
            </a:r>
            <a:endParaRPr sz="1200">
              <a:latin typeface="Times New Roman"/>
              <a:cs typeface="Times New Roman"/>
            </a:endParaRPr>
          </a:p>
          <a:p>
            <a:pPr marL="12700" marR="8255" indent="271780">
              <a:lnSpc>
                <a:spcPts val="206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kerangka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kerja.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juga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diartikan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kumpulan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script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(terutama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function)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dapat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200" dirty="0">
                <a:latin typeface="Times New Roman"/>
                <a:cs typeface="Times New Roman"/>
              </a:rPr>
              <a:t>membantu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developer/programmer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menangani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berbagai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masalah-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8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877695" y="955294"/>
            <a:ext cx="4620260" cy="844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 algn="just">
              <a:lnSpc>
                <a:spcPct val="1444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masalah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koneksi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database,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pemanggilan </a:t>
            </a:r>
            <a:r>
              <a:rPr sz="1200" dirty="0">
                <a:latin typeface="Times New Roman"/>
                <a:cs typeface="Times New Roman"/>
              </a:rPr>
              <a:t>variabel,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file,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dll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sehingga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developer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fokus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cepat </a:t>
            </a:r>
            <a:r>
              <a:rPr sz="1200" dirty="0">
                <a:latin typeface="Times New Roman"/>
                <a:cs typeface="Times New Roman"/>
              </a:rPr>
              <a:t>membangun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aplikasi.</a:t>
            </a:r>
            <a:endParaRPr sz="1200">
              <a:latin typeface="Times New Roman"/>
              <a:cs typeface="Times New Roman"/>
            </a:endParaRPr>
          </a:p>
          <a:p>
            <a:pPr marL="12700" marR="5080" indent="271780" algn="just">
              <a:lnSpc>
                <a:spcPct val="1438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juga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dikatakan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modul-</a:t>
            </a:r>
            <a:r>
              <a:rPr sz="1200" dirty="0">
                <a:latin typeface="Times New Roman"/>
                <a:cs typeface="Times New Roman"/>
              </a:rPr>
              <a:t>modul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dibuat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memudahkan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pembuatan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J2EE.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ini </a:t>
            </a:r>
            <a:r>
              <a:rPr sz="1200" dirty="0">
                <a:latin typeface="Times New Roman"/>
                <a:cs typeface="Times New Roman"/>
              </a:rPr>
              <a:t>berisi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guideline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bagaimana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J2EE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sudah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tersusun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rapi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didalamnya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sudah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berisi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MVC.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sederhana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bisa </a:t>
            </a:r>
            <a:r>
              <a:rPr sz="1200" dirty="0">
                <a:latin typeface="Times New Roman"/>
                <a:cs typeface="Times New Roman"/>
              </a:rPr>
              <a:t>dijelaskan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bahwa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kumpulan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(libraries),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maka </a:t>
            </a:r>
            <a:r>
              <a:rPr sz="1200" dirty="0">
                <a:latin typeface="Times New Roman"/>
                <a:cs typeface="Times New Roman"/>
              </a:rPr>
              <a:t>seorang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programmer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perlu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lagi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fungsi-</a:t>
            </a: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(biasanya </a:t>
            </a:r>
            <a:r>
              <a:rPr sz="1200" dirty="0">
                <a:latin typeface="Times New Roman"/>
                <a:cs typeface="Times New Roman"/>
              </a:rPr>
              <a:t>disebut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kumpulan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library)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awal,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programmer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tinggal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memanggil </a:t>
            </a:r>
            <a:r>
              <a:rPr sz="1200" dirty="0">
                <a:latin typeface="Times New Roman"/>
                <a:cs typeface="Times New Roman"/>
              </a:rPr>
              <a:t>kumpulan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sudah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didalam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tentunya </a:t>
            </a:r>
            <a:r>
              <a:rPr sz="1200" dirty="0">
                <a:latin typeface="Times New Roman"/>
                <a:cs typeface="Times New Roman"/>
              </a:rPr>
              <a:t>cara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fungsi-</a:t>
            </a: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sudah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ditentukan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framework.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fungsi-</a:t>
            </a: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telah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tersedia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suatu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fungsi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paging,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enkripsi,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email,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SEO,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session,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security, </a:t>
            </a:r>
            <a:r>
              <a:rPr sz="1200" dirty="0">
                <a:latin typeface="Times New Roman"/>
                <a:cs typeface="Times New Roman"/>
              </a:rPr>
              <a:t>kalender,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manipulasi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grafik,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tabel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bergaya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zebra,</a:t>
            </a:r>
            <a:r>
              <a:rPr sz="1200" spc="-10" dirty="0">
                <a:latin typeface="Times New Roman"/>
                <a:cs typeface="Times New Roman"/>
              </a:rPr>
              <a:t> validasi, </a:t>
            </a:r>
            <a:r>
              <a:rPr sz="1200" dirty="0">
                <a:latin typeface="Times New Roman"/>
                <a:cs typeface="Times New Roman"/>
              </a:rPr>
              <a:t>upload,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captcha,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proteksi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terhadap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XSS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(XSS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filtering),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template, </a:t>
            </a:r>
            <a:r>
              <a:rPr sz="1200" dirty="0">
                <a:latin typeface="Times New Roman"/>
                <a:cs typeface="Times New Roman"/>
              </a:rPr>
              <a:t>kompresi,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XML,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lain-lain.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28448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20.4Spring</a:t>
            </a:r>
            <a:endParaRPr sz="1200">
              <a:latin typeface="Times New Roman"/>
              <a:cs typeface="Times New Roman"/>
            </a:endParaRPr>
          </a:p>
          <a:p>
            <a:pPr marL="12700" indent="271780" algn="just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Times New Roman"/>
                <a:cs typeface="Times New Roman"/>
              </a:rPr>
              <a:t>Spring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tepatnya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SpringMVC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teknologi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yang</a:t>
            </a: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43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memisahkan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logic,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layer.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SpringMVC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terdiri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IOC(Injection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Control)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Dependency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Injection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telah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MVC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saling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dipertukarkan.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Teknologi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lain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berkembang</a:t>
            </a:r>
            <a:r>
              <a:rPr sz="1200" spc="21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sebelum</a:t>
            </a:r>
            <a:r>
              <a:rPr sz="1200" spc="21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SpringMVC</a:t>
            </a:r>
            <a:r>
              <a:rPr sz="1200" spc="2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1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Struts,</a:t>
            </a:r>
            <a:r>
              <a:rPr sz="1200" spc="21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WebWork, Tapestry,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JSF, dan </a:t>
            </a:r>
            <a:r>
              <a:rPr sz="1200" spc="-10" dirty="0">
                <a:latin typeface="Times New Roman"/>
                <a:cs typeface="Times New Roman"/>
              </a:rPr>
              <a:t>Stripes.</a:t>
            </a:r>
            <a:endParaRPr sz="1200">
              <a:latin typeface="Times New Roman"/>
              <a:cs typeface="Times New Roman"/>
            </a:endParaRPr>
          </a:p>
          <a:p>
            <a:pPr marL="12700" indent="271780" algn="just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Spring</a:t>
            </a:r>
            <a:r>
              <a:rPr sz="1200" spc="2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2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2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2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(kerangka</a:t>
            </a:r>
            <a:r>
              <a:rPr sz="1200" spc="2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kerja)</a:t>
            </a:r>
            <a:r>
              <a:rPr sz="1200" spc="260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yang</a:t>
            </a:r>
            <a:endParaRPr sz="1200">
              <a:latin typeface="Times New Roman"/>
              <a:cs typeface="Times New Roman"/>
            </a:endParaRPr>
          </a:p>
          <a:p>
            <a:pPr marL="12700" marR="10160" algn="just">
              <a:lnSpc>
                <a:spcPct val="143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membangun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Enterprise.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Spring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termasuk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lightweight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(ringan)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mendukung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penuh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pengembangan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Enterprise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siap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pakai.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Spring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dapat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melakukan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pengaturan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deklarasi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manajemen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transaksi, </a:t>
            </a:r>
            <a:r>
              <a:rPr sz="1200" dirty="0">
                <a:latin typeface="Times New Roman"/>
                <a:cs typeface="Times New Roman"/>
              </a:rPr>
              <a:t>remote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RMI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layanan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lainnya, </a:t>
            </a:r>
            <a:r>
              <a:rPr sz="1200" dirty="0">
                <a:latin typeface="Times New Roman"/>
                <a:cs typeface="Times New Roman"/>
              </a:rPr>
              <a:t>fasilitas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mailing,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beragam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opsi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pengaturan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333753" y="955294"/>
            <a:ext cx="5168900" cy="815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6260" marR="5080" algn="just">
              <a:lnSpc>
                <a:spcPct val="1444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Spring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juga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memungkinkan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hanya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modul-modul </a:t>
            </a:r>
            <a:r>
              <a:rPr sz="1200" dirty="0">
                <a:latin typeface="Times New Roman"/>
                <a:cs typeface="Times New Roman"/>
              </a:rPr>
              <a:t>tertentu sehingga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 usah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 semua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apabila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ditemukan.</a:t>
            </a:r>
            <a:endParaRPr sz="1200">
              <a:latin typeface="Times New Roman"/>
              <a:cs typeface="Times New Roman"/>
            </a:endParaRPr>
          </a:p>
          <a:p>
            <a:pPr marL="828040" algn="just">
              <a:lnSpc>
                <a:spcPct val="100000"/>
              </a:lnSpc>
              <a:spcBef>
                <a:spcPts val="620"/>
              </a:spcBef>
            </a:pPr>
            <a:r>
              <a:rPr sz="1200" spc="-10" dirty="0">
                <a:latin typeface="Times New Roman"/>
                <a:cs typeface="Times New Roman"/>
              </a:rPr>
              <a:t>Fitur-</a:t>
            </a:r>
            <a:r>
              <a:rPr sz="1200" dirty="0">
                <a:latin typeface="Times New Roman"/>
                <a:cs typeface="Times New Roman"/>
              </a:rPr>
              <a:t>fitur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Spring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117600" lvl="1" indent="-289560" algn="just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1008380" algn="l"/>
                <a:tab pos="1117600" algn="l"/>
              </a:tabLst>
            </a:pPr>
            <a:r>
              <a:rPr sz="1200" dirty="0">
                <a:latin typeface="Times New Roman"/>
                <a:cs typeface="Times New Roman"/>
              </a:rPr>
              <a:t>Transaction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Spring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menyediakan</a:t>
            </a:r>
            <a:endParaRPr sz="1200">
              <a:latin typeface="Times New Roman"/>
              <a:cs typeface="Times New Roman"/>
            </a:endParaRPr>
          </a:p>
          <a:p>
            <a:pPr marL="1008380" marR="16510" algn="just">
              <a:lnSpc>
                <a:spcPct val="1438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layer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abstrak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generik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manajemen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transaksi, </a:t>
            </a:r>
            <a:r>
              <a:rPr sz="1200" dirty="0">
                <a:latin typeface="Times New Roman"/>
                <a:cs typeface="Times New Roman"/>
              </a:rPr>
              <a:t>sehingga</a:t>
            </a:r>
            <a:r>
              <a:rPr sz="1200" spc="3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memudahkan</a:t>
            </a:r>
            <a:r>
              <a:rPr sz="1200" spc="3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para</a:t>
            </a:r>
            <a:r>
              <a:rPr sz="1200" spc="3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developer</a:t>
            </a:r>
            <a:r>
              <a:rPr sz="1200" spc="3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36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melakukan </a:t>
            </a:r>
            <a:r>
              <a:rPr sz="1200" dirty="0">
                <a:latin typeface="Times New Roman"/>
                <a:cs typeface="Times New Roman"/>
              </a:rPr>
              <a:t>manajemen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transaksi.</a:t>
            </a:r>
            <a:endParaRPr sz="1200">
              <a:latin typeface="Times New Roman"/>
              <a:cs typeface="Times New Roman"/>
            </a:endParaRPr>
          </a:p>
          <a:p>
            <a:pPr marL="1008380" marR="11430" lvl="1" indent="-180340" algn="just">
              <a:lnSpc>
                <a:spcPts val="2060"/>
              </a:lnSpc>
              <a:spcBef>
                <a:spcPts val="155"/>
              </a:spcBef>
              <a:buAutoNum type="arabicPeriod" startAt="6"/>
              <a:tabLst>
                <a:tab pos="1008380" algn="l"/>
                <a:tab pos="1117600" algn="l"/>
              </a:tabLst>
            </a:pPr>
            <a:r>
              <a:rPr sz="1200" dirty="0">
                <a:latin typeface="Times New Roman"/>
                <a:cs typeface="Times New Roman"/>
              </a:rPr>
              <a:t>	JDBC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Exception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Layer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abstrak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JDBC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menawarkan </a:t>
            </a:r>
            <a:r>
              <a:rPr sz="1200" dirty="0">
                <a:latin typeface="Times New Roman"/>
                <a:cs typeface="Times New Roman"/>
              </a:rPr>
              <a:t>exception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bersifat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hierarki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sehingga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memudahkan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penanganan error.</a:t>
            </a:r>
            <a:endParaRPr sz="1200">
              <a:latin typeface="Times New Roman"/>
              <a:cs typeface="Times New Roman"/>
            </a:endParaRPr>
          </a:p>
          <a:p>
            <a:pPr marL="1008380" marR="19685" lvl="1" indent="-180340" algn="just">
              <a:lnSpc>
                <a:spcPts val="2039"/>
              </a:lnSpc>
              <a:spcBef>
                <a:spcPts val="15"/>
              </a:spcBef>
              <a:buAutoNum type="arabicPeriod" startAt="6"/>
              <a:tabLst>
                <a:tab pos="1008380" algn="l"/>
                <a:tab pos="1117600" algn="l"/>
              </a:tabLst>
            </a:pPr>
            <a:r>
              <a:rPr sz="1200" dirty="0">
                <a:latin typeface="Times New Roman"/>
                <a:cs typeface="Times New Roman"/>
              </a:rPr>
              <a:t>	Integration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Hibernate,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JDO,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iBatis 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menawarkan </a:t>
            </a:r>
            <a:r>
              <a:rPr sz="1200" dirty="0">
                <a:latin typeface="Times New Roman"/>
                <a:cs typeface="Times New Roman"/>
              </a:rPr>
              <a:t>layanan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integrasi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terbaik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Hibernate,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JDO,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iBatas.</a:t>
            </a:r>
            <a:endParaRPr sz="1200">
              <a:latin typeface="Times New Roman"/>
              <a:cs typeface="Times New Roman"/>
            </a:endParaRPr>
          </a:p>
          <a:p>
            <a:pPr marL="1008380" marR="16510" lvl="1" indent="-180340" algn="just">
              <a:lnSpc>
                <a:spcPts val="2039"/>
              </a:lnSpc>
              <a:buAutoNum type="arabicPeriod" startAt="6"/>
              <a:tabLst>
                <a:tab pos="1008380" algn="l"/>
                <a:tab pos="1117600" algn="l"/>
              </a:tabLst>
            </a:pPr>
            <a:r>
              <a:rPr sz="1200" dirty="0">
                <a:latin typeface="Times New Roman"/>
                <a:cs typeface="Times New Roman"/>
              </a:rPr>
              <a:t>	AOP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Spring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AOP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terbaik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pernah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ada.</a:t>
            </a:r>
            <a:endParaRPr sz="1200">
              <a:latin typeface="Times New Roman"/>
              <a:cs typeface="Times New Roman"/>
            </a:endParaRPr>
          </a:p>
          <a:p>
            <a:pPr marL="1008380" marR="13335" lvl="1" indent="-180340" algn="just">
              <a:lnSpc>
                <a:spcPts val="2060"/>
              </a:lnSpc>
              <a:spcBef>
                <a:spcPts val="10"/>
              </a:spcBef>
              <a:buAutoNum type="arabicPeriod" startAt="6"/>
              <a:tabLst>
                <a:tab pos="1008380" algn="l"/>
                <a:tab pos="1117600" algn="l"/>
              </a:tabLst>
            </a:pPr>
            <a:r>
              <a:rPr sz="1200" dirty="0">
                <a:latin typeface="Times New Roman"/>
                <a:cs typeface="Times New Roman"/>
              </a:rPr>
              <a:t>	MVC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Spring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hadir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web </a:t>
            </a:r>
            <a:r>
              <a:rPr sz="1200" dirty="0">
                <a:latin typeface="Times New Roman"/>
                <a:cs typeface="Times New Roman"/>
              </a:rPr>
              <a:t>MVC,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dibangun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atas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inti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Spring.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Spring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merupakan</a:t>
            </a:r>
            <a:endParaRPr sz="1200">
              <a:latin typeface="Times New Roman"/>
              <a:cs typeface="Times New Roman"/>
            </a:endParaRPr>
          </a:p>
          <a:p>
            <a:pPr marL="1008380" marR="15240" algn="just">
              <a:lnSpc>
                <a:spcPts val="206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8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sangat</a:t>
            </a:r>
            <a:r>
              <a:rPr sz="1200" spc="18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fleksibel</a:t>
            </a:r>
            <a:r>
              <a:rPr sz="1200" spc="18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8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pengaturan</a:t>
            </a:r>
            <a:r>
              <a:rPr sz="1200" spc="18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strategi </a:t>
            </a:r>
            <a:r>
              <a:rPr sz="1200" dirty="0">
                <a:latin typeface="Times New Roman"/>
                <a:cs typeface="Times New Roman"/>
              </a:rPr>
              <a:t>interface,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mengakomodasi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teknologi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view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seperti </a:t>
            </a:r>
            <a:r>
              <a:rPr sz="1200" dirty="0">
                <a:latin typeface="Times New Roman"/>
                <a:cs typeface="Times New Roman"/>
              </a:rPr>
              <a:t>JSP,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Velocity,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Tiles, iText,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POI.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200">
              <a:latin typeface="Times New Roman"/>
              <a:cs typeface="Times New Roman"/>
            </a:endParaRPr>
          </a:p>
          <a:p>
            <a:pPr marL="822960" lvl="1" indent="-279400">
              <a:lnSpc>
                <a:spcPct val="100000"/>
              </a:lnSpc>
              <a:buSzPct val="91666"/>
              <a:buAutoNum type="arabicPeriod" startAt="5"/>
              <a:tabLst>
                <a:tab pos="822960" algn="l"/>
              </a:tabLst>
            </a:pPr>
            <a:r>
              <a:rPr sz="1200" b="1" dirty="0">
                <a:latin typeface="Times New Roman"/>
                <a:cs typeface="Times New Roman"/>
              </a:rPr>
              <a:t>Software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Yang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Dibutuhkan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Untuk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Pengembangan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Aplikasi</a:t>
            </a:r>
            <a:endParaRPr sz="1200">
              <a:latin typeface="Times New Roman"/>
              <a:cs typeface="Times New Roman"/>
            </a:endParaRPr>
          </a:p>
          <a:p>
            <a:pPr marL="556260" marR="41275" indent="271780">
              <a:lnSpc>
                <a:spcPts val="2080"/>
              </a:lnSpc>
              <a:spcBef>
                <a:spcPts val="155"/>
              </a:spcBef>
            </a:pP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melakukan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pengembangan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berbasis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web </a:t>
            </a:r>
            <a:r>
              <a:rPr sz="1200" spc="-10" dirty="0">
                <a:latin typeface="Times New Roman"/>
                <a:cs typeface="Times New Roman"/>
              </a:rPr>
              <a:t>programming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dibutuhkan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penunjang,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antara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117600" lvl="1" indent="-289560">
              <a:lnSpc>
                <a:spcPct val="100000"/>
              </a:lnSpc>
              <a:spcBef>
                <a:spcPts val="505"/>
              </a:spcBef>
              <a:buAutoNum type="arabicPeriod" startAt="6"/>
              <a:tabLst>
                <a:tab pos="1117600" algn="l"/>
              </a:tabLst>
            </a:pPr>
            <a:r>
              <a:rPr sz="1200" dirty="0">
                <a:latin typeface="Times New Roman"/>
                <a:cs typeface="Times New Roman"/>
              </a:rPr>
              <a:t>JDK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1.6</a:t>
            </a:r>
            <a:endParaRPr sz="1200">
              <a:latin typeface="Times New Roman"/>
              <a:cs typeface="Times New Roman"/>
            </a:endParaRPr>
          </a:p>
          <a:p>
            <a:pPr marL="1117600" lvl="1" indent="-289560">
              <a:lnSpc>
                <a:spcPct val="100000"/>
              </a:lnSpc>
              <a:spcBef>
                <a:spcPts val="640"/>
              </a:spcBef>
              <a:buAutoNum type="arabicPeriod" startAt="6"/>
              <a:tabLst>
                <a:tab pos="1117600" algn="l"/>
              </a:tabLst>
            </a:pPr>
            <a:r>
              <a:rPr sz="1200" dirty="0">
                <a:latin typeface="Times New Roman"/>
                <a:cs typeface="Times New Roman"/>
              </a:rPr>
              <a:t>NetBeans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7.3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(include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Apache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Tomcat)</a:t>
            </a:r>
            <a:endParaRPr sz="1200">
              <a:latin typeface="Times New Roman"/>
              <a:cs typeface="Times New Roman"/>
            </a:endParaRPr>
          </a:p>
          <a:p>
            <a:pPr marL="1117600" lvl="1" indent="-289560">
              <a:lnSpc>
                <a:spcPct val="100000"/>
              </a:lnSpc>
              <a:spcBef>
                <a:spcPts val="620"/>
              </a:spcBef>
              <a:buAutoNum type="arabicPeriod" startAt="6"/>
              <a:tabLst>
                <a:tab pos="1117600" algn="l"/>
              </a:tabLst>
            </a:pPr>
            <a:r>
              <a:rPr sz="1200" spc="-10" dirty="0">
                <a:latin typeface="Times New Roman"/>
                <a:cs typeface="Times New Roman"/>
              </a:rPr>
              <a:t>XAMPP</a:t>
            </a:r>
            <a:endParaRPr sz="1200">
              <a:latin typeface="Times New Roman"/>
              <a:cs typeface="Times New Roman"/>
            </a:endParaRPr>
          </a:p>
          <a:p>
            <a:pPr marL="1117600" lvl="1" indent="-289560">
              <a:lnSpc>
                <a:spcPct val="100000"/>
              </a:lnSpc>
              <a:spcBef>
                <a:spcPts val="640"/>
              </a:spcBef>
              <a:buAutoNum type="arabicPeriod" startAt="6"/>
              <a:tabLst>
                <a:tab pos="1117600" algn="l"/>
              </a:tabLst>
            </a:pPr>
            <a:r>
              <a:rPr sz="1200" dirty="0">
                <a:latin typeface="Times New Roman"/>
                <a:cs typeface="Times New Roman"/>
              </a:rPr>
              <a:t>MySQL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Front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b="1" dirty="0">
                <a:latin typeface="Times New Roman"/>
                <a:cs typeface="Times New Roman"/>
              </a:rPr>
              <a:t>20.6WAR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Files</a:t>
            </a:r>
            <a:endParaRPr sz="1200">
              <a:latin typeface="Times New Roman"/>
              <a:cs typeface="Times New Roman"/>
            </a:endParaRPr>
          </a:p>
          <a:p>
            <a:pPr marL="556260" marR="41275" indent="271780">
              <a:lnSpc>
                <a:spcPts val="208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sekelompok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HTML,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JSP,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servlet,</a:t>
            </a:r>
            <a:r>
              <a:rPr sz="1200" spc="43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file,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dikelola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satu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10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877695" y="955294"/>
            <a:ext cx="4618990" cy="266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160" algn="just">
              <a:lnSpc>
                <a:spcPct val="1444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kesatuan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unit.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archive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(WAR)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dari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application.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WAR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mengimpor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aplikasi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10" dirty="0">
                <a:latin typeface="Times New Roman"/>
                <a:cs typeface="Times New Roman"/>
              </a:rPr>
              <a:t> server.</a:t>
            </a:r>
            <a:endParaRPr sz="1200">
              <a:latin typeface="Times New Roman"/>
              <a:cs typeface="Times New Roman"/>
            </a:endParaRPr>
          </a:p>
          <a:p>
            <a:pPr marL="12700" marR="5080" indent="271780" algn="just">
              <a:lnSpc>
                <a:spcPct val="1438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Selain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resources,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WAR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berisikian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descriptor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dari </a:t>
            </a:r>
            <a:r>
              <a:rPr sz="1200" dirty="0">
                <a:latin typeface="Times New Roman"/>
                <a:cs typeface="Times New Roman"/>
              </a:rPr>
              <a:t>deployment.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deployment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descriptor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XML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berisikan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informasi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deployment,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tipe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MIME,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rincian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konfigurasi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session,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pengaturan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lainnya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web.Web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deployment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descriptor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file </a:t>
            </a:r>
            <a:r>
              <a:rPr sz="1200" dirty="0">
                <a:latin typeface="Times New Roman"/>
                <a:cs typeface="Times New Roman"/>
              </a:rPr>
              <a:t>(web.xml)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memberikan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informasi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mengenai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WAR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telah </a:t>
            </a:r>
            <a:r>
              <a:rPr sz="1200" dirty="0">
                <a:latin typeface="Times New Roman"/>
                <a:cs typeface="Times New Roman"/>
              </a:rPr>
              <a:t>dibagikan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pengembang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perakit, dan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pengembang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 </a:t>
            </a:r>
            <a:r>
              <a:rPr sz="1200" dirty="0">
                <a:latin typeface="Times New Roman"/>
                <a:cs typeface="Times New Roman"/>
              </a:rPr>
              <a:t>lingkungan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865</Words>
  <Application>Microsoft Office PowerPoint</Application>
  <PresentationFormat>Custom</PresentationFormat>
  <Paragraphs>74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Pramadjaya</dc:creator>
  <cp:lastModifiedBy>Pramadjaya</cp:lastModifiedBy>
  <cp:revision>1</cp:revision>
  <dcterms:created xsi:type="dcterms:W3CDTF">2025-02-18T15:04:51Z</dcterms:created>
  <dcterms:modified xsi:type="dcterms:W3CDTF">2025-02-24T07:44:59Z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2025-02-18T00:00:00Z</vt:filetime>
  </property>
  <property fmtid="{D5CDD505-2E9C-101B-9397-08002B2CF9AE}" pid="5" name="Producer">
    <vt:lpwstr>Microsoft® Word 2010</vt:lpwstr>
  </property>
</Properties>
</file>
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86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17290" y="9682695"/>
            <a:ext cx="246379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8237" y="856234"/>
            <a:ext cx="5461635" cy="373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8380" marR="1007110" indent="1290320">
              <a:lnSpc>
                <a:spcPct val="1222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Pertemuan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16 </a:t>
            </a:r>
            <a:r>
              <a:rPr sz="1200" b="1" spc="-10" dirty="0">
                <a:latin typeface="Arial"/>
                <a:cs typeface="Arial"/>
              </a:rPr>
              <a:t>JAVASCRIPT:OBYEK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STRING,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DATE,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&amp; </a:t>
            </a:r>
            <a:r>
              <a:rPr sz="1200" b="1" spc="-10" dirty="0">
                <a:latin typeface="Arial"/>
                <a:cs typeface="Arial"/>
              </a:rPr>
              <a:t>ARRAY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200" dirty="0">
              <a:latin typeface="Arial"/>
              <a:cs typeface="Arial"/>
            </a:endParaRPr>
          </a:p>
          <a:p>
            <a:pPr marL="238125" indent="-225425">
              <a:lnSpc>
                <a:spcPct val="100000"/>
              </a:lnSpc>
              <a:buAutoNum type="arabicPeriod"/>
              <a:tabLst>
                <a:tab pos="238125" algn="l"/>
              </a:tabLst>
            </a:pPr>
            <a:r>
              <a:rPr sz="1100" b="1" spc="-10" dirty="0">
                <a:latin typeface="Arial"/>
                <a:cs typeface="Arial"/>
              </a:rPr>
              <a:t>TUJUAN</a:t>
            </a:r>
            <a:endParaRPr sz="1100" dirty="0">
              <a:latin typeface="Arial"/>
              <a:cs typeface="Arial"/>
            </a:endParaRPr>
          </a:p>
          <a:p>
            <a:pPr marL="469900" marR="55244" lvl="1" indent="-229235">
              <a:lnSpc>
                <a:spcPct val="110800"/>
              </a:lnSpc>
              <a:spcBef>
                <a:spcPts val="475"/>
              </a:spcBef>
              <a:buChar char="-"/>
              <a:tabLst>
                <a:tab pos="469900" algn="l"/>
              </a:tabLst>
            </a:pPr>
            <a:r>
              <a:rPr sz="1100" dirty="0">
                <a:latin typeface="Arial MT"/>
                <a:cs typeface="Arial MT"/>
              </a:rPr>
              <a:t>Mahasiswa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mengenal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memahami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konsep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objek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string,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fungsi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tanggal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dan </a:t>
            </a:r>
            <a:r>
              <a:rPr sz="1100" dirty="0">
                <a:latin typeface="Arial MT"/>
                <a:cs typeface="Arial MT"/>
              </a:rPr>
              <a:t>array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javascript.</a:t>
            </a:r>
            <a:endParaRPr sz="1100" dirty="0">
              <a:latin typeface="Arial MT"/>
              <a:cs typeface="Arial MT"/>
            </a:endParaRPr>
          </a:p>
          <a:p>
            <a:pPr marL="469900" marR="147955" lvl="1" indent="-229235">
              <a:lnSpc>
                <a:spcPts val="1480"/>
              </a:lnSpc>
              <a:spcBef>
                <a:spcPts val="35"/>
              </a:spcBef>
              <a:buChar char="-"/>
              <a:tabLst>
                <a:tab pos="469900" algn="l"/>
              </a:tabLst>
            </a:pPr>
            <a:r>
              <a:rPr sz="1100" dirty="0">
                <a:latin typeface="Arial MT"/>
                <a:cs typeface="Arial MT"/>
              </a:rPr>
              <a:t>Mahasiswa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membuat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halaman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menggunakan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string,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fungsi tanggal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array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javascript.</a:t>
            </a:r>
            <a:endParaRPr sz="11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0"/>
              </a:spcBef>
              <a:buFont typeface="Arial MT"/>
              <a:buChar char="-"/>
            </a:pPr>
            <a:endParaRPr sz="1100" dirty="0">
              <a:latin typeface="Arial MT"/>
              <a:cs typeface="Arial MT"/>
            </a:endParaRPr>
          </a:p>
          <a:p>
            <a:pPr marL="238125" indent="-225425">
              <a:lnSpc>
                <a:spcPct val="100000"/>
              </a:lnSpc>
              <a:buAutoNum type="arabicPeriod"/>
              <a:tabLst>
                <a:tab pos="238125" algn="l"/>
              </a:tabLst>
            </a:pPr>
            <a:r>
              <a:rPr sz="1100" b="1" dirty="0">
                <a:latin typeface="Arial"/>
                <a:cs typeface="Arial"/>
              </a:rPr>
              <a:t>TEORI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DASAR</a:t>
            </a:r>
            <a:endParaRPr sz="1100" dirty="0">
              <a:latin typeface="Arial"/>
              <a:cs typeface="Arial"/>
            </a:endParaRPr>
          </a:p>
          <a:p>
            <a:pPr marL="12700" marR="5080" indent="283845" algn="just">
              <a:lnSpc>
                <a:spcPct val="96000"/>
              </a:lnSpc>
              <a:spcBef>
                <a:spcPts val="615"/>
              </a:spcBef>
            </a:pPr>
            <a:r>
              <a:rPr sz="1100" dirty="0">
                <a:latin typeface="Arial MT"/>
                <a:cs typeface="Arial MT"/>
              </a:rPr>
              <a:t>Setelah</a:t>
            </a:r>
            <a:r>
              <a:rPr sz="1100" spc="48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48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terbiasa</a:t>
            </a:r>
            <a:r>
              <a:rPr sz="1100" spc="4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4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dasar-</a:t>
            </a:r>
            <a:r>
              <a:rPr sz="1100" dirty="0">
                <a:latin typeface="Arial MT"/>
                <a:cs typeface="Arial MT"/>
              </a:rPr>
              <a:t>dasar</a:t>
            </a:r>
            <a:r>
              <a:rPr sz="1100" spc="4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JavaScript</a:t>
            </a:r>
            <a:r>
              <a:rPr sz="1100" spc="4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beserta</a:t>
            </a:r>
            <a:r>
              <a:rPr sz="1100" spc="4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penggunaan </a:t>
            </a:r>
            <a:r>
              <a:rPr sz="1100" dirty="0">
                <a:latin typeface="Arial MT"/>
                <a:cs typeface="Arial MT"/>
              </a:rPr>
              <a:t>variabel,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termasuk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mulai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mengenal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pemrograman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fungsi,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maka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selanjutnya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Anda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mulai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berlatih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menggunakan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berbagai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obyek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tersedia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JavaScript. </a:t>
            </a:r>
            <a:r>
              <a:rPr sz="1100" dirty="0">
                <a:latin typeface="Arial MT"/>
                <a:cs typeface="Arial MT"/>
              </a:rPr>
              <a:t>Seperti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telah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disampaikan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perkuliahan,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JavaScript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menyediakan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banyak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obyek </a:t>
            </a:r>
            <a:r>
              <a:rPr sz="1100" i="1" spc="-10" dirty="0">
                <a:latin typeface="Arial"/>
                <a:cs typeface="Arial"/>
              </a:rPr>
              <a:t>built-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langsung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diaplikasikan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oleh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pengguna.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beragam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modifikasi </a:t>
            </a:r>
            <a:r>
              <a:rPr sz="1100" dirty="0">
                <a:latin typeface="Arial MT"/>
                <a:cs typeface="Arial MT"/>
              </a:rPr>
              <a:t>atribut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serta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nilai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diberikan</a:t>
            </a:r>
            <a:r>
              <a:rPr sz="1100" spc="12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obyek,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maka</a:t>
            </a:r>
            <a:r>
              <a:rPr sz="1100" spc="12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spc="-20" dirty="0">
                <a:latin typeface="Arial MT"/>
                <a:cs typeface="Arial MT"/>
              </a:rPr>
              <a:t>akan </a:t>
            </a:r>
            <a:r>
              <a:rPr sz="1100" dirty="0">
                <a:latin typeface="Arial MT"/>
                <a:cs typeface="Arial MT"/>
              </a:rPr>
              <a:t>mendapatkan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beragam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hasil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pula.</a:t>
            </a:r>
            <a:endParaRPr sz="1100" dirty="0">
              <a:latin typeface="Arial MT"/>
              <a:cs typeface="Arial MT"/>
            </a:endParaRPr>
          </a:p>
          <a:p>
            <a:pPr marL="296545">
              <a:lnSpc>
                <a:spcPct val="100000"/>
              </a:lnSpc>
              <a:spcBef>
                <a:spcPts val="1240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Properti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obyek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string</a:t>
            </a:r>
            <a:endParaRPr sz="1100" dirty="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7117" y="4674615"/>
          <a:ext cx="4517390" cy="34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340"/>
                <a:gridCol w="3194050"/>
              </a:tblGrid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Properties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Explanation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37401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Length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2653" y="5167629"/>
            <a:ext cx="12719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Metode</a:t>
            </a:r>
            <a:r>
              <a:rPr sz="1100" u="sng" spc="-6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obyek</a:t>
            </a:r>
            <a:r>
              <a:rPr sz="1100" u="sng" spc="-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string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74737" y="5441950"/>
          <a:ext cx="4517389" cy="3894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960"/>
                <a:gridCol w="3186429"/>
              </a:tblGrid>
              <a:tr h="174625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Methods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21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Explanation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anchor()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anchor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big()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big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text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blink()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blinking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bold()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bold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charAt()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position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charCodeAt()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66700" indent="283845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Unicode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position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concat()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concatenated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strings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fixed()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teletype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fontcolor()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color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fontsize()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size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fromCharCode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953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25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value of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Unicode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marL="37401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indexOf()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2225" indent="283845" algn="just">
                        <a:lnSpc>
                          <a:spcPts val="124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first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occurrence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inside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string.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1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never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occurs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italics()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italic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654685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lastIndexOf()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2390" marR="27305" indent="283845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position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first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occurrence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inside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string.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2390" marR="172085">
                        <a:lnSpc>
                          <a:spcPts val="1240"/>
                        </a:lnSpc>
                        <a:spcBef>
                          <a:spcPts val="1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never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occurs.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Note: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starts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from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right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moves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left!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link()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hyperlink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33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67117" y="942657"/>
          <a:ext cx="4517390" cy="3695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340"/>
                <a:gridCol w="3194050"/>
              </a:tblGrid>
              <a:tr h="495300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match()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187960" indent="284480">
                        <a:lnSpc>
                          <a:spcPts val="128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Similar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indexOf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lastIndexOf,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this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method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string,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"null",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instead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numeric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value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7401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replace()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312420" indent="284480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Replaces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some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some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characters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search()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375920" indent="284480">
                        <a:lnSpc>
                          <a:spcPts val="128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integer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contains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some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not it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slice()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473075" indent="284480">
                        <a:lnSpc>
                          <a:spcPts val="128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containing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specified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index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small()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small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text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split()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Replaces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comma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37401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strike()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strikethrough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sub()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subscript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37401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substr()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343535" indent="284480">
                        <a:lnSpc>
                          <a:spcPts val="124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characters.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14,7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14th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character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(starts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marL="37401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substring()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203835" indent="284480">
                        <a:lnSpc>
                          <a:spcPct val="9310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characters.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7,14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7th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up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but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not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including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14th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(starts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sup()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superscript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toLowerCase()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Converts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case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toUpperCase()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Converts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upper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case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422653" y="4791328"/>
            <a:ext cx="12134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Metode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obyek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date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72197" y="5068569"/>
          <a:ext cx="4552950" cy="3855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0495"/>
                <a:gridCol w="3132455"/>
              </a:tblGrid>
              <a:tr h="172085">
                <a:tc>
                  <a:txBody>
                    <a:bodyPr/>
                    <a:lstStyle/>
                    <a:p>
                      <a:pPr marL="366395">
                        <a:lnSpc>
                          <a:spcPts val="121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Methods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21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Explanation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36639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Date()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object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6639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getDate()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1-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191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31)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36639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getDay()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18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day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6.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1915">
                        <a:lnSpc>
                          <a:spcPts val="12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0=Sunday,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1=Monday,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etc.)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6639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getMonth()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73660" indent="28448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month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0-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11.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0=January,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1=February,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etc.)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6639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getFullYear()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year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(four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1915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digits)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6639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getYear()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17589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year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0-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99).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getFullYear</a:t>
                      </a:r>
                      <a:r>
                        <a:rPr sz="11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instead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!!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6639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getHours()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hour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0-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191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23)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36639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getMinutes()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minute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0-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191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6639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getSeconds()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18224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second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(from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59)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6639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getMilliseconds()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28765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millisecond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object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999)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6639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getTime()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20320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milliseconds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since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midnight</a:t>
                      </a:r>
                      <a:r>
                        <a:rPr sz="11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1/1-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1970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6639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getTimezoneOff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difference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the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34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67117" y="942657"/>
          <a:ext cx="4567554" cy="8042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3127374"/>
              </a:tblGrid>
              <a:tr h="172720">
                <a:tc>
                  <a:txBody>
                    <a:bodyPr/>
                    <a:lstStyle/>
                    <a:p>
                      <a:pPr marL="89535" marR="317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user's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computer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GMT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getUTCDate()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577215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(UTC)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getUTCDay()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62484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day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86715" marR="317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getUTCMonth()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46291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month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getUTCFullYear(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9535" marR="3175">
                        <a:lnSpc>
                          <a:spcPts val="128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37795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four-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digit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year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object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84175" marR="317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getUTCHours()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57213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hour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getUTCMinutes(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9535" marR="3175">
                        <a:lnSpc>
                          <a:spcPts val="128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363220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minutes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getUTCSeconds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9535" marR="317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seconds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6835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89535" marR="48895" indent="2838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getUTCMilliseco nds()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9144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milliseconds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time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parse()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82880" indent="284480" algn="just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holds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milliseconds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since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January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01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1970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00:00:00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setDate()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month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Date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6835">
                        <a:lnSpc>
                          <a:spcPts val="13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31)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setFullYear()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year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(four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digits)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setHours()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hour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23)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r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setMilliseconds()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millisecond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(from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6835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999)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setMinutes()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minute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0-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683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setMonth()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70815" indent="28448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month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0-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11.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0=January,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1=February)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setSeconds()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second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0-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6835">
                        <a:lnSpc>
                          <a:spcPts val="128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95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setTime()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5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milliseconds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1/1-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1970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setYear()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year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(00-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99)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setUTCDate()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2349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1-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31)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setUTCDay()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71755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day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6.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Sunday=0,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Monday=1,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etc.)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38417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setUTCMonth()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526415" indent="284480">
                        <a:lnSpc>
                          <a:spcPts val="1240"/>
                        </a:lnSpc>
                        <a:spcBef>
                          <a:spcPts val="1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month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0-11.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0=January,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7683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1=February)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setUTCFullYear(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9535" marR="3175">
                        <a:lnSpc>
                          <a:spcPts val="127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23495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year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(four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digits)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374015" marR="317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setUTCHour()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651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hour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23)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 marR="317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setUTCMinutes(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9535" marR="3175">
                        <a:lnSpc>
                          <a:spcPts val="1280"/>
                        </a:lnSpc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424815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minutes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59)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R="23495" algn="r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setUTCSeconds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seconds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67117" y="942657"/>
          <a:ext cx="4558029" cy="1344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655"/>
                <a:gridCol w="3127374"/>
              </a:tblGrid>
              <a:tr h="172720">
                <a:tc>
                  <a:txBody>
                    <a:bodyPr/>
                    <a:lstStyle/>
                    <a:p>
                      <a:pPr marL="89535">
                        <a:lnSpc>
                          <a:spcPts val="121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59)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89535" marR="46990" indent="2838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setUTCMilliseco nds()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3462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milliseconds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universal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(from</a:t>
                      </a:r>
                      <a:r>
                        <a:rPr sz="11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999)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toGMTString()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4986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Converts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GMT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zone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7401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toLocaleString()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149860" indent="284480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Converts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current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zone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toString()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Converts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object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422653" y="2436494"/>
            <a:ext cx="12592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Metode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obyek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array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7117" y="2715894"/>
          <a:ext cx="4518025" cy="169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9055"/>
                <a:gridCol w="3188970"/>
              </a:tblGrid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Methods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EDEDED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Explanation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EDEDED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length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99695" indent="287020" algn="just">
                        <a:lnSpc>
                          <a:spcPts val="126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elements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array.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This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property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assigned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value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when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array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created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concat()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7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array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concatenated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two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arrays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marL="374015">
                        <a:lnSpc>
                          <a:spcPts val="125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join()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323850" indent="284480">
                        <a:lnSpc>
                          <a:spcPts val="126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elements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array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concatenated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together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74015">
                        <a:lnSpc>
                          <a:spcPts val="121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reverse()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1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array</a:t>
                      </a:r>
                      <a:r>
                        <a:rPr sz="11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reversed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374015">
                        <a:lnSpc>
                          <a:spcPts val="123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slice()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3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array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37401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sort()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EDEDED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sorted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array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190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  <a:solidFill>
                      <a:srgbClr val="EBEBD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79817" y="4476369"/>
            <a:ext cx="5520055" cy="48126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80"/>
              </a:spcBef>
            </a:pPr>
            <a:r>
              <a:rPr sz="1100" b="1" dirty="0">
                <a:latin typeface="Arial"/>
                <a:cs typeface="Arial"/>
              </a:rPr>
              <a:t>3.</a:t>
            </a:r>
            <a:r>
              <a:rPr sz="1100" b="1" spc="125" dirty="0">
                <a:latin typeface="Arial"/>
                <a:cs typeface="Arial"/>
              </a:rPr>
              <a:t>  </a:t>
            </a:r>
            <a:r>
              <a:rPr sz="1100" b="1" spc="-10" dirty="0">
                <a:latin typeface="Arial"/>
                <a:cs typeface="Arial"/>
              </a:rPr>
              <a:t>LATIHAN</a:t>
            </a:r>
            <a:endParaRPr sz="1100">
              <a:latin typeface="Arial"/>
              <a:cs typeface="Arial"/>
            </a:endParaRPr>
          </a:p>
          <a:p>
            <a:pPr marL="12700" marR="5080" indent="286385" algn="just">
              <a:lnSpc>
                <a:spcPct val="96000"/>
              </a:lnSpc>
              <a:spcBef>
                <a:spcPts val="630"/>
              </a:spcBef>
            </a:pPr>
            <a:r>
              <a:rPr sz="1100" dirty="0">
                <a:latin typeface="Arial MT"/>
                <a:cs typeface="Arial MT"/>
              </a:rPr>
              <a:t>Seperti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pertemuan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sebelumnya,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gunakan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contoh-contoh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bawah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agar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24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23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lebih</a:t>
            </a:r>
            <a:r>
              <a:rPr sz="1100" spc="25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mengenal</a:t>
            </a:r>
            <a:r>
              <a:rPr sz="1100" spc="2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akrab</a:t>
            </a:r>
            <a:r>
              <a:rPr sz="1100" spc="245" dirty="0">
                <a:latin typeface="Arial MT"/>
                <a:cs typeface="Arial MT"/>
              </a:rPr>
              <a:t>  </a:t>
            </a:r>
            <a:r>
              <a:rPr sz="1100" spc="-10" dirty="0">
                <a:latin typeface="Arial MT"/>
                <a:cs typeface="Arial MT"/>
              </a:rPr>
              <a:t>obyek-</a:t>
            </a:r>
            <a:r>
              <a:rPr sz="1100" dirty="0">
                <a:latin typeface="Arial MT"/>
                <a:cs typeface="Arial MT"/>
              </a:rPr>
              <a:t>obyek</a:t>
            </a:r>
            <a:r>
              <a:rPr sz="1100" spc="24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25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JavaSript</a:t>
            </a:r>
            <a:r>
              <a:rPr sz="1100" spc="23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240" dirty="0">
                <a:latin typeface="Arial MT"/>
                <a:cs typeface="Arial MT"/>
              </a:rPr>
              <a:t>  </a:t>
            </a:r>
            <a:r>
              <a:rPr sz="1100" spc="-20" dirty="0">
                <a:latin typeface="Arial MT"/>
                <a:cs typeface="Arial MT"/>
              </a:rPr>
              <a:t>cara </a:t>
            </a:r>
            <a:r>
              <a:rPr sz="1100" dirty="0">
                <a:latin typeface="Arial MT"/>
                <a:cs typeface="Arial MT"/>
              </a:rPr>
              <a:t>memanfaatkannya.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Perhatikan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bahwa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benar-</a:t>
            </a:r>
            <a:r>
              <a:rPr sz="1100" dirty="0">
                <a:latin typeface="Arial MT"/>
                <a:cs typeface="Arial MT"/>
              </a:rPr>
              <a:t>benar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harus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menelaah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setiap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baris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agar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tahu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proses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kerja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setiap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skrip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buat.</a:t>
            </a:r>
            <a:endParaRPr sz="1100">
              <a:latin typeface="Arial MT"/>
              <a:cs typeface="Arial MT"/>
            </a:endParaRPr>
          </a:p>
          <a:p>
            <a:pPr marL="168910" indent="-156210">
              <a:lnSpc>
                <a:spcPct val="100000"/>
              </a:lnSpc>
              <a:spcBef>
                <a:spcPts val="1160"/>
              </a:spcBef>
              <a:buAutoNum type="alphaLcPeriod"/>
              <a:tabLst>
                <a:tab pos="168910" algn="l"/>
              </a:tabLst>
            </a:pPr>
            <a:r>
              <a:rPr sz="1100" b="1" spc="-10" dirty="0">
                <a:latin typeface="Arial"/>
                <a:cs typeface="Arial"/>
              </a:rPr>
              <a:t>Menghitung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karakter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suatu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string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6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908300">
              <a:lnSpc>
                <a:spcPts val="112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str="W3CSchools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great!"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70"/>
              </a:lnSpc>
            </a:pPr>
            <a:r>
              <a:rPr sz="1000" dirty="0">
                <a:latin typeface="Courier New"/>
                <a:cs typeface="Courier New"/>
              </a:rPr>
              <a:t>document.write("&lt;/p&gt;"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"&lt;/p&gt;")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document.write(str.length)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ts val="1310"/>
              </a:lnSpc>
              <a:spcBef>
                <a:spcPts val="1100"/>
              </a:spcBef>
              <a:buAutoNum type="alphaLcPeriod" startAt="2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Menguji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apakah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string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berisi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karakter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tertentu,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dengan</a:t>
            </a:r>
            <a:r>
              <a:rPr sz="1100" b="1" spc="-10" dirty="0">
                <a:latin typeface="Arial"/>
                <a:cs typeface="Arial"/>
              </a:rPr>
              <a:t> indexof()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9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908300">
              <a:lnSpc>
                <a:spcPct val="945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str="W3CSchools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great!"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pos=str.indexOf("School")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(pos&gt;=0)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 marR="1917700">
              <a:lnSpc>
                <a:spcPts val="114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document.write("School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found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position: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") </a:t>
            </a:r>
            <a:r>
              <a:rPr sz="1000" dirty="0">
                <a:latin typeface="Courier New"/>
                <a:cs typeface="Courier New"/>
              </a:rPr>
              <a:t>document.write(pos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"&lt;br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/&gt;")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20" dirty="0">
                <a:latin typeface="Courier New"/>
                <a:cs typeface="Courier New"/>
              </a:rPr>
              <a:t>else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document.write("School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not</a:t>
            </a:r>
            <a:r>
              <a:rPr sz="1000" spc="-10" dirty="0">
                <a:latin typeface="Courier New"/>
                <a:cs typeface="Courier New"/>
              </a:rPr>
              <a:t> found!")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12241"/>
            <a:ext cx="5518785" cy="866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180"/>
              </a:lnSpc>
              <a:spcBef>
                <a:spcPts val="100"/>
              </a:spcBef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 marR="5080" algn="just">
              <a:lnSpc>
                <a:spcPct val="94100"/>
              </a:lnSpc>
            </a:pPr>
            <a:r>
              <a:rPr sz="1000" dirty="0">
                <a:latin typeface="Courier New"/>
                <a:cs typeface="Courier New"/>
              </a:rPr>
              <a:t>&lt;p&gt;This</a:t>
            </a:r>
            <a:r>
              <a:rPr sz="1000" spc="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example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tests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contains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specified</a:t>
            </a:r>
            <a:r>
              <a:rPr sz="1000" spc="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word.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the </a:t>
            </a:r>
            <a:r>
              <a:rPr sz="1000" dirty="0">
                <a:latin typeface="Courier New"/>
                <a:cs typeface="Courier New"/>
              </a:rPr>
              <a:t>word</a:t>
            </a:r>
            <a:r>
              <a:rPr sz="1000" spc="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found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it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position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of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first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character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of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the </a:t>
            </a:r>
            <a:r>
              <a:rPr sz="1000" dirty="0">
                <a:latin typeface="Courier New"/>
                <a:cs typeface="Courier New"/>
              </a:rPr>
              <a:t>word</a:t>
            </a:r>
            <a:r>
              <a:rPr sz="1000" spc="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original</a:t>
            </a:r>
            <a:r>
              <a:rPr sz="1000" spc="1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string.</a:t>
            </a:r>
            <a:r>
              <a:rPr sz="1000" spc="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Note: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first</a:t>
            </a:r>
            <a:r>
              <a:rPr sz="1000" spc="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position</a:t>
            </a:r>
            <a:r>
              <a:rPr sz="1000" spc="1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</a:t>
            </a:r>
            <a:r>
              <a:rPr sz="1000" spc="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string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0!&lt;/p&gt;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910" indent="-156210">
              <a:lnSpc>
                <a:spcPct val="100000"/>
              </a:lnSpc>
              <a:spcBef>
                <a:spcPts val="1040"/>
              </a:spcBef>
              <a:buAutoNum type="alphaLcPeriod" startAt="3"/>
              <a:tabLst>
                <a:tab pos="168910" algn="l"/>
              </a:tabLst>
            </a:pPr>
            <a:r>
              <a:rPr sz="1100" b="1" spc="-10" dirty="0">
                <a:latin typeface="Arial"/>
                <a:cs typeface="Arial"/>
              </a:rPr>
              <a:t>Menguji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apakah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string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berisikan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karakter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tertentu,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dengan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match()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2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830830">
              <a:lnSpc>
                <a:spcPct val="942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"W3CSchools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great!" </a:t>
            </a:r>
            <a:r>
              <a:rPr sz="1000" spc="-45" dirty="0">
                <a:latin typeface="Courier New"/>
                <a:cs typeface="Courier New"/>
              </a:rPr>
              <a:t>document.write(str.match("great"))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 marR="163830">
              <a:lnSpc>
                <a:spcPts val="114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&lt;p&gt;This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example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tests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contains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specified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word.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the </a:t>
            </a:r>
            <a:r>
              <a:rPr sz="1000" dirty="0">
                <a:latin typeface="Courier New"/>
                <a:cs typeface="Courier New"/>
              </a:rPr>
              <a:t>word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found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word.&lt;/p&gt;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060"/>
              </a:spcBef>
              <a:buAutoNum type="alphaLcPeriod" startAt="4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Memunculkan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bagian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string</a:t>
            </a:r>
            <a:r>
              <a:rPr sz="1100" b="1" spc="-10" dirty="0">
                <a:latin typeface="Arial"/>
                <a:cs typeface="Arial"/>
              </a:rPr>
              <a:t> tertentu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907030">
              <a:lnSpc>
                <a:spcPct val="942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str="W3CSchools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great!" document.write(str.substr(2,6))</a:t>
            </a:r>
            <a:endParaRPr sz="1000">
              <a:latin typeface="Courier New"/>
              <a:cs typeface="Courier New"/>
            </a:endParaRPr>
          </a:p>
          <a:p>
            <a:pPr marL="240665" marR="2937510">
              <a:lnSpc>
                <a:spcPts val="114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document.write("&lt;br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/&gt;&lt;br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/&gt;") </a:t>
            </a:r>
            <a:r>
              <a:rPr sz="1000" spc="-70" dirty="0">
                <a:latin typeface="Courier New"/>
                <a:cs typeface="Courier New"/>
              </a:rPr>
              <a:t>document.write(str.substring(2,6))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 marR="12700" algn="just">
              <a:lnSpc>
                <a:spcPts val="114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2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substr()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method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2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specified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part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of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25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string.</a:t>
            </a:r>
            <a:r>
              <a:rPr sz="1000" spc="2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26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you </a:t>
            </a:r>
            <a:r>
              <a:rPr sz="1000" dirty="0">
                <a:latin typeface="Courier New"/>
                <a:cs typeface="Courier New"/>
              </a:rPr>
              <a:t>specify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(2,6)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returned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will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from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second</a:t>
            </a:r>
            <a:r>
              <a:rPr sz="1000" spc="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character </a:t>
            </a:r>
            <a:r>
              <a:rPr sz="1000" dirty="0">
                <a:latin typeface="Courier New"/>
                <a:cs typeface="Courier New"/>
              </a:rPr>
              <a:t>(start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0)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6</a:t>
            </a:r>
            <a:r>
              <a:rPr sz="1000" spc="-10" dirty="0">
                <a:latin typeface="Courier New"/>
                <a:cs typeface="Courier New"/>
              </a:rPr>
              <a:t> long.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 marR="9525" algn="just">
              <a:lnSpc>
                <a:spcPct val="945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substring()</a:t>
            </a:r>
            <a:r>
              <a:rPr sz="1000" spc="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method</a:t>
            </a:r>
            <a:r>
              <a:rPr sz="1000" spc="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also</a:t>
            </a:r>
            <a:r>
              <a:rPr sz="1000" spc="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specified</a:t>
            </a:r>
            <a:r>
              <a:rPr sz="1000" spc="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part</a:t>
            </a:r>
            <a:r>
              <a:rPr sz="1000" spc="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of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string.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If </a:t>
            </a:r>
            <a:r>
              <a:rPr sz="1000" dirty="0">
                <a:latin typeface="Courier New"/>
                <a:cs typeface="Courier New"/>
              </a:rPr>
              <a:t>you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specify</a:t>
            </a:r>
            <a:r>
              <a:rPr sz="1000" spc="-15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(2,6)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it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returns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all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characters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from</a:t>
            </a:r>
            <a:r>
              <a:rPr sz="1000" spc="-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285" dirty="0">
                <a:latin typeface="Courier New"/>
                <a:cs typeface="Courier New"/>
              </a:rPr>
              <a:t>  </a:t>
            </a:r>
            <a:r>
              <a:rPr sz="1000" spc="-10" dirty="0">
                <a:latin typeface="Courier New"/>
                <a:cs typeface="Courier New"/>
              </a:rPr>
              <a:t>second </a:t>
            </a:r>
            <a:r>
              <a:rPr sz="1000" dirty="0">
                <a:latin typeface="Courier New"/>
                <a:cs typeface="Courier New"/>
              </a:rPr>
              <a:t>character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(start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at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0)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up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to,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but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not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including,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the</a:t>
            </a:r>
            <a:r>
              <a:rPr sz="1000" spc="3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sixth character.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Courier New"/>
              <a:cs typeface="Courier New"/>
            </a:endParaRPr>
          </a:p>
          <a:p>
            <a:pPr marL="168910" indent="-156210">
              <a:lnSpc>
                <a:spcPct val="100000"/>
              </a:lnSpc>
              <a:buAutoNum type="alphaLcPeriod" startAt="5"/>
              <a:tabLst>
                <a:tab pos="168910" algn="l"/>
              </a:tabLst>
            </a:pPr>
            <a:r>
              <a:rPr sz="1100" b="1" dirty="0">
                <a:latin typeface="Arial"/>
                <a:cs typeface="Arial"/>
              </a:rPr>
              <a:t>Mengubah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menjadi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huruf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besar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atau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kecil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830830">
              <a:lnSpc>
                <a:spcPct val="942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str=("Hello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JavaScripters!") </a:t>
            </a:r>
            <a:r>
              <a:rPr sz="1000" spc="-25" dirty="0">
                <a:latin typeface="Courier New"/>
                <a:cs typeface="Courier New"/>
              </a:rPr>
              <a:t>document.write(str.toLowerCase())</a:t>
            </a:r>
            <a:endParaRPr sz="1000">
              <a:latin typeface="Courier New"/>
              <a:cs typeface="Courier New"/>
            </a:endParaRPr>
          </a:p>
          <a:p>
            <a:pPr marL="240665" marR="2886710">
              <a:lnSpc>
                <a:spcPts val="1120"/>
              </a:lnSpc>
              <a:spcBef>
                <a:spcPts val="45"/>
              </a:spcBef>
            </a:pPr>
            <a:r>
              <a:rPr sz="1000" spc="-10" dirty="0">
                <a:latin typeface="Courier New"/>
                <a:cs typeface="Courier New"/>
              </a:rPr>
              <a:t>document.write("&lt;br&gt;") </a:t>
            </a:r>
            <a:r>
              <a:rPr sz="1000" spc="-40" dirty="0">
                <a:latin typeface="Courier New"/>
                <a:cs typeface="Courier New"/>
              </a:rPr>
              <a:t>document.write(str.toUpperCase())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5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7640" indent="-154940">
              <a:lnSpc>
                <a:spcPct val="100000"/>
              </a:lnSpc>
              <a:spcBef>
                <a:spcPts val="1060"/>
              </a:spcBef>
              <a:buAutoNum type="alphaLcPeriod" startAt="6"/>
              <a:tabLst>
                <a:tab pos="167640" algn="l"/>
              </a:tabLst>
            </a:pPr>
            <a:r>
              <a:rPr sz="1100" b="1" spc="-10" dirty="0">
                <a:latin typeface="Arial"/>
                <a:cs typeface="Arial"/>
              </a:rPr>
              <a:t>Membuat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array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berisi </a:t>
            </a:r>
            <a:r>
              <a:rPr sz="1100" b="1" spc="-10" dirty="0">
                <a:latin typeface="Arial"/>
                <a:cs typeface="Arial"/>
              </a:rPr>
              <a:t>nama-</a:t>
            </a:r>
            <a:r>
              <a:rPr sz="1100" b="1" spc="-20" dirty="0">
                <a:latin typeface="Arial"/>
                <a:cs typeface="Arial"/>
              </a:rPr>
              <a:t>nama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7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742690" y="9682695"/>
            <a:ext cx="18288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100" spc="-25" dirty="0">
                <a:latin typeface="Arial MT"/>
                <a:cs typeface="Arial MT"/>
              </a:rPr>
              <a:t>37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79817" y="904493"/>
            <a:ext cx="3169920" cy="29546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40665" marR="558165">
              <a:lnSpc>
                <a:spcPct val="93900"/>
              </a:lnSpc>
              <a:spcBef>
                <a:spcPts val="170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famname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Array(6) </a:t>
            </a:r>
            <a:r>
              <a:rPr sz="1000" dirty="0">
                <a:latin typeface="Courier New"/>
                <a:cs typeface="Courier New"/>
              </a:rPr>
              <a:t>famname[0]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"Jan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Egil" </a:t>
            </a:r>
            <a:r>
              <a:rPr sz="1000" dirty="0">
                <a:latin typeface="Courier New"/>
                <a:cs typeface="Courier New"/>
              </a:rPr>
              <a:t>famname[1]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"Tove"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famname[2]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"Hege"</a:t>
            </a:r>
            <a:endParaRPr sz="1000">
              <a:latin typeface="Courier New"/>
              <a:cs typeface="Courier New"/>
            </a:endParaRPr>
          </a:p>
          <a:p>
            <a:pPr marL="240665" marR="1243965">
              <a:lnSpc>
                <a:spcPct val="9450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famname[3]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"Stale" </a:t>
            </a:r>
            <a:r>
              <a:rPr sz="1000" dirty="0">
                <a:latin typeface="Courier New"/>
                <a:cs typeface="Courier New"/>
              </a:rPr>
              <a:t>famname[4]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"Kai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Jim" </a:t>
            </a:r>
            <a:r>
              <a:rPr sz="1000" dirty="0">
                <a:latin typeface="Courier New"/>
                <a:cs typeface="Courier New"/>
              </a:rPr>
              <a:t>famname[5]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"Borge" </a:t>
            </a:r>
            <a:r>
              <a:rPr sz="1000" dirty="0">
                <a:latin typeface="Courier New"/>
                <a:cs typeface="Courier New"/>
              </a:rPr>
              <a:t>for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(i=0;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i&lt;6;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i++)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document.write(famname[i]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"&lt;br&gt;")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310"/>
              </a:lnSpc>
              <a:spcBef>
                <a:spcPts val="1020"/>
              </a:spcBef>
            </a:pPr>
            <a:r>
              <a:rPr sz="1100" b="1" dirty="0">
                <a:latin typeface="Arial"/>
                <a:cs typeface="Arial"/>
              </a:rPr>
              <a:t>g.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Menghitung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elemen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yang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berada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dalam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array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9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8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1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1150" y="3815968"/>
            <a:ext cx="22199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latin typeface="Courier New"/>
                <a:cs typeface="Courier New"/>
              </a:rPr>
              <a:t>Egil","Tove","Hege","Stale","Kai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8353" y="3815968"/>
            <a:ext cx="2675255" cy="13341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40005">
              <a:lnSpc>
                <a:spcPts val="1120"/>
              </a:lnSpc>
              <a:spcBef>
                <a:spcPts val="200"/>
              </a:spcBef>
              <a:tabLst>
                <a:tab pos="439420" algn="l"/>
                <a:tab pos="1169035" algn="l"/>
                <a:tab pos="1440815" algn="l"/>
                <a:tab pos="1864995" algn="l"/>
              </a:tabLst>
            </a:pPr>
            <a:r>
              <a:rPr sz="1000" spc="-25" dirty="0">
                <a:latin typeface="Courier New"/>
                <a:cs typeface="Courier New"/>
              </a:rPr>
              <a:t>var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famname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50" dirty="0">
                <a:latin typeface="Courier New"/>
                <a:cs typeface="Courier New"/>
              </a:rPr>
              <a:t>=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5" dirty="0">
                <a:latin typeface="Courier New"/>
                <a:cs typeface="Courier New"/>
              </a:rPr>
              <a:t>new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Array("Jan Jim","Borge")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5"/>
              </a:lnSpc>
            </a:pPr>
            <a:r>
              <a:rPr sz="1000" dirty="0">
                <a:latin typeface="Courier New"/>
                <a:cs typeface="Courier New"/>
              </a:rPr>
              <a:t>for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(i=0;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i&lt;famname.length;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i++)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document.write(famname[i]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"&lt;br&gt;")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9817" y="5266690"/>
            <a:ext cx="2692400" cy="428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indent="-155575">
              <a:lnSpc>
                <a:spcPts val="1300"/>
              </a:lnSpc>
              <a:spcBef>
                <a:spcPts val="100"/>
              </a:spcBef>
              <a:buAutoNum type="alphaLcPeriod" startAt="8"/>
              <a:tabLst>
                <a:tab pos="168275" algn="l"/>
              </a:tabLst>
            </a:pPr>
            <a:r>
              <a:rPr sz="1100" b="1" dirty="0">
                <a:latin typeface="Arial"/>
                <a:cs typeface="Arial"/>
              </a:rPr>
              <a:t>Tanggal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hari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ini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ct val="94200"/>
              </a:lnSpc>
              <a:spcBef>
                <a:spcPts val="10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0" dirty="0">
                <a:latin typeface="Courier New"/>
                <a:cs typeface="Courier New"/>
              </a:rPr>
              <a:t> Date() document.write(d.getDate()) document.write(".") </a:t>
            </a:r>
            <a:r>
              <a:rPr sz="1000" dirty="0">
                <a:latin typeface="Courier New"/>
                <a:cs typeface="Courier New"/>
              </a:rPr>
              <a:t>document.write(d.getMonth()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1) </a:t>
            </a:r>
            <a:r>
              <a:rPr sz="1000" spc="-10" dirty="0">
                <a:latin typeface="Courier New"/>
                <a:cs typeface="Courier New"/>
              </a:rPr>
              <a:t>document.write(".") document.write(d.getFullYear())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  <a:spcBef>
                <a:spcPts val="35"/>
              </a:spcBef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100"/>
              </a:spcBef>
              <a:buAutoNum type="alphaLcPeriod" startAt="9"/>
              <a:tabLst>
                <a:tab pos="168275" algn="l"/>
              </a:tabLst>
            </a:pPr>
            <a:r>
              <a:rPr sz="1100" b="1" dirty="0">
                <a:latin typeface="Arial"/>
                <a:cs typeface="Arial"/>
              </a:rPr>
              <a:t>Jam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saat </a:t>
            </a:r>
            <a:r>
              <a:rPr sz="1100" b="1" spc="-25" dirty="0">
                <a:latin typeface="Arial"/>
                <a:cs typeface="Arial"/>
              </a:rPr>
              <a:t>ini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81280">
              <a:lnSpc>
                <a:spcPct val="942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0" dirty="0">
                <a:latin typeface="Courier New"/>
                <a:cs typeface="Courier New"/>
              </a:rPr>
              <a:t> Date() document.write(d.getHours())</a:t>
            </a:r>
            <a:endParaRPr sz="1000">
              <a:latin typeface="Courier New"/>
              <a:cs typeface="Courier New"/>
            </a:endParaRPr>
          </a:p>
          <a:p>
            <a:pPr marL="240665" marR="157480">
              <a:lnSpc>
                <a:spcPct val="94400"/>
              </a:lnSpc>
              <a:spcBef>
                <a:spcPts val="5"/>
              </a:spcBef>
            </a:pPr>
            <a:r>
              <a:rPr sz="1000" spc="-10" dirty="0">
                <a:latin typeface="Courier New"/>
                <a:cs typeface="Courier New"/>
              </a:rPr>
              <a:t>document.write(".") document.write(d.getMinutes()) document.write(".") document.write(d.getSeconds())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125"/>
              </a:spcBef>
              <a:buAutoNum type="alphaLcPeriod" startAt="10"/>
              <a:tabLst>
                <a:tab pos="168275" algn="l"/>
              </a:tabLst>
            </a:pPr>
            <a:r>
              <a:rPr sz="1100" b="1" dirty="0">
                <a:latin typeface="Arial"/>
                <a:cs typeface="Arial"/>
              </a:rPr>
              <a:t>Mengeset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tanggal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12241"/>
            <a:ext cx="4917440" cy="866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18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306320">
              <a:lnSpc>
                <a:spcPct val="941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0" dirty="0">
                <a:latin typeface="Courier New"/>
                <a:cs typeface="Courier New"/>
              </a:rPr>
              <a:t> Date() d.setFullYear("1990")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document.write(d)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910" indent="-156210">
              <a:lnSpc>
                <a:spcPct val="100000"/>
              </a:lnSpc>
              <a:spcBef>
                <a:spcPts val="1100"/>
              </a:spcBef>
              <a:buAutoNum type="alphaLcPeriod" startAt="11"/>
              <a:tabLst>
                <a:tab pos="168910" algn="l"/>
              </a:tabLst>
            </a:pPr>
            <a:r>
              <a:rPr sz="1100" b="1" dirty="0">
                <a:latin typeface="Arial"/>
                <a:cs typeface="Arial"/>
              </a:rPr>
              <a:t>Melihat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waktu</a:t>
            </a:r>
            <a:r>
              <a:rPr sz="1100" b="1" spc="-25" dirty="0">
                <a:latin typeface="Arial"/>
                <a:cs typeface="Arial"/>
              </a:rPr>
              <a:t> UTC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306320">
              <a:lnSpc>
                <a:spcPct val="945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0" dirty="0">
                <a:latin typeface="Courier New"/>
                <a:cs typeface="Courier New"/>
              </a:rPr>
              <a:t> Date() document.write(d.getUTCHours()) document.write(".") </a:t>
            </a:r>
            <a:r>
              <a:rPr sz="1000" spc="-45" dirty="0">
                <a:latin typeface="Courier New"/>
                <a:cs typeface="Courier New"/>
              </a:rPr>
              <a:t>document.write(d.getUTCMinutes()) </a:t>
            </a:r>
            <a:r>
              <a:rPr sz="1000" spc="-10" dirty="0">
                <a:latin typeface="Courier New"/>
                <a:cs typeface="Courier New"/>
              </a:rPr>
              <a:t>document.write(".") </a:t>
            </a:r>
            <a:r>
              <a:rPr sz="1000" spc="-45" dirty="0">
                <a:latin typeface="Courier New"/>
                <a:cs typeface="Courier New"/>
              </a:rPr>
              <a:t>document.write(d.getUTCSeconds())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100"/>
              </a:spcBef>
              <a:buAutoNum type="alphaLcPeriod" startAt="12"/>
              <a:tabLst>
                <a:tab pos="168275" algn="l"/>
              </a:tabLst>
            </a:pPr>
            <a:r>
              <a:rPr sz="1100" b="1" dirty="0">
                <a:latin typeface="Arial"/>
                <a:cs typeface="Arial"/>
              </a:rPr>
              <a:t>Memunculkan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nama-</a:t>
            </a:r>
            <a:r>
              <a:rPr sz="1100" b="1" dirty="0">
                <a:latin typeface="Arial"/>
                <a:cs typeface="Arial"/>
              </a:rPr>
              <a:t>nama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hari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4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306320">
              <a:lnSpc>
                <a:spcPts val="114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d=new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Date()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6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weekday=new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ts val="1120"/>
              </a:lnSpc>
              <a:spcBef>
                <a:spcPts val="70"/>
              </a:spcBef>
            </a:pPr>
            <a:r>
              <a:rPr sz="1000" spc="-70" dirty="0">
                <a:latin typeface="Courier New"/>
                <a:cs typeface="Courier New"/>
              </a:rPr>
              <a:t>Array("Sunday","Monday","Tuesday","Wednesday","Thursday","Friday","S </a:t>
            </a:r>
            <a:r>
              <a:rPr sz="1000" spc="-10" dirty="0">
                <a:latin typeface="Courier New"/>
                <a:cs typeface="Courier New"/>
              </a:rPr>
              <a:t>aturday")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5"/>
              </a:lnSpc>
            </a:pPr>
            <a:r>
              <a:rPr sz="1000" spc="-10" dirty="0">
                <a:latin typeface="Courier New"/>
                <a:cs typeface="Courier New"/>
              </a:rPr>
              <a:t>document.write("Today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weekday[d.getDay()])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Courier New"/>
              <a:cs typeface="Courier New"/>
            </a:endParaRPr>
          </a:p>
          <a:p>
            <a:pPr marL="367665" indent="-354965">
              <a:lnSpc>
                <a:spcPct val="100000"/>
              </a:lnSpc>
              <a:buAutoNum type="alphaLcPeriod" startAt="13"/>
              <a:tabLst>
                <a:tab pos="367665" algn="l"/>
              </a:tabLst>
            </a:pPr>
            <a:r>
              <a:rPr sz="1100" b="1" dirty="0">
                <a:latin typeface="Arial"/>
                <a:cs typeface="Arial"/>
              </a:rPr>
              <a:t>Memunculkan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tanggal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lengkap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306320">
              <a:lnSpc>
                <a:spcPts val="114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d=new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Date()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weekday=new </a:t>
            </a:r>
            <a:r>
              <a:rPr sz="1000" spc="-70" dirty="0">
                <a:latin typeface="Courier New"/>
                <a:cs typeface="Courier New"/>
              </a:rPr>
              <a:t>Array("Sunday","Monday","Tuesday","Wednesday","Thursday","Friday","S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aturday")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ct val="9420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monthname=new </a:t>
            </a:r>
            <a:r>
              <a:rPr sz="1000" spc="-70" dirty="0">
                <a:latin typeface="Courier New"/>
                <a:cs typeface="Courier New"/>
              </a:rPr>
              <a:t>Array("Jan","Feb","Mar","Apr","May","Jun","Jul","Aug","Sep","Oct","N </a:t>
            </a:r>
            <a:r>
              <a:rPr sz="1000" spc="-10" dirty="0">
                <a:latin typeface="Courier New"/>
                <a:cs typeface="Courier New"/>
              </a:rPr>
              <a:t>ov","Dec")</a:t>
            </a:r>
            <a:endParaRPr sz="1000">
              <a:latin typeface="Courier New"/>
              <a:cs typeface="Courier New"/>
            </a:endParaRPr>
          </a:p>
          <a:p>
            <a:pPr marL="240665" marR="1240155">
              <a:lnSpc>
                <a:spcPct val="93900"/>
              </a:lnSpc>
              <a:spcBef>
                <a:spcPts val="15"/>
              </a:spcBef>
            </a:pPr>
            <a:r>
              <a:rPr sz="1000" spc="-10" dirty="0">
                <a:latin typeface="Courier New"/>
                <a:cs typeface="Courier New"/>
              </a:rPr>
              <a:t>document.write(weekday[d.getDay()]</a:t>
            </a:r>
            <a:r>
              <a:rPr sz="1000" spc="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") </a:t>
            </a:r>
            <a:r>
              <a:rPr sz="1000" dirty="0">
                <a:latin typeface="Courier New"/>
                <a:cs typeface="Courier New"/>
              </a:rPr>
              <a:t>document.write(d.getDate()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".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") </a:t>
            </a:r>
            <a:r>
              <a:rPr sz="1000" spc="-10" dirty="0">
                <a:latin typeface="Courier New"/>
                <a:cs typeface="Courier New"/>
              </a:rPr>
              <a:t>document.write(monthname[d.getMonth()]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6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") </a:t>
            </a:r>
            <a:r>
              <a:rPr sz="1000" spc="-10" dirty="0">
                <a:latin typeface="Courier New"/>
                <a:cs typeface="Courier New"/>
              </a:rPr>
              <a:t>document.write(d.getFullYear())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68275" indent="-155575">
              <a:lnSpc>
                <a:spcPct val="100000"/>
              </a:lnSpc>
              <a:spcBef>
                <a:spcPts val="1040"/>
              </a:spcBef>
              <a:buAutoNum type="alphaLcPeriod" startAt="14"/>
              <a:tabLst>
                <a:tab pos="168275" algn="l"/>
              </a:tabLst>
            </a:pPr>
            <a:r>
              <a:rPr sz="1100" b="1" spc="-10" dirty="0">
                <a:latin typeface="Arial"/>
                <a:cs typeface="Arial"/>
              </a:rPr>
              <a:t>Membuat</a:t>
            </a:r>
            <a:r>
              <a:rPr sz="1100" b="1" spc="-25" dirty="0">
                <a:latin typeface="Arial"/>
                <a:cs typeface="Arial"/>
              </a:rPr>
              <a:t> jam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60"/>
              </a:lnSpc>
              <a:spcBef>
                <a:spcPts val="12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39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308353" y="904493"/>
            <a:ext cx="3759200" cy="377761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1376680">
              <a:lnSpc>
                <a:spcPts val="1120"/>
              </a:lnSpc>
              <a:spcBef>
                <a:spcPts val="200"/>
              </a:spcBef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type="text/javascript"&gt;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timer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null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stop()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clearTimeout(timer)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start()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time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Date()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hours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time.getHours()</a:t>
            </a:r>
            <a:endParaRPr sz="1000">
              <a:latin typeface="Courier New"/>
              <a:cs typeface="Courier New"/>
            </a:endParaRPr>
          </a:p>
          <a:p>
            <a:pPr marL="12700" marR="309880">
              <a:lnSpc>
                <a:spcPts val="112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minutes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time.getMinutes() </a:t>
            </a:r>
            <a:r>
              <a:rPr sz="1000" dirty="0">
                <a:latin typeface="Courier New"/>
                <a:cs typeface="Courier New"/>
              </a:rPr>
              <a:t>minutes=((minutes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&lt;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?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"0"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"")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minutes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seconds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time.getSeconds() </a:t>
            </a:r>
            <a:r>
              <a:rPr sz="1000" dirty="0">
                <a:latin typeface="Courier New"/>
                <a:cs typeface="Courier New"/>
              </a:rPr>
              <a:t>seconds=((seconds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&lt;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?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"0"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: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"")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seconds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2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clock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hours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":"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minutes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":"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10" dirty="0">
                <a:latin typeface="Courier New"/>
                <a:cs typeface="Courier New"/>
              </a:rPr>
              <a:t> seconds document.forms[0].display.value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clock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50"/>
              </a:lnSpc>
              <a:spcBef>
                <a:spcPts val="20"/>
              </a:spcBef>
            </a:pPr>
            <a:r>
              <a:rPr sz="1000" dirty="0">
                <a:latin typeface="Courier New"/>
                <a:cs typeface="Courier New"/>
              </a:rPr>
              <a:t>timer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setTimeout("start()",1000)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onload="start()"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onunload="stop()"&gt;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&lt;form&gt;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type="text"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name="display"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size="20"&gt;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2160</Words>
  <Application>Microsoft Office PowerPoint</Application>
  <PresentationFormat>Custom</PresentationFormat>
  <Paragraphs>362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2025-02-24T07:21:09Z</dcterms:created>
  <dcterms:modified xsi:type="dcterms:W3CDTF">2025-02-24T07:21:43Z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2024-06-05T00:00:00Z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2025-02-24T00:00:00Z</vt:filetime>
  </property>
  <property fmtid="{D5CDD505-2E9C-101B-9397-08002B2CF9AE}" pid="5" name="Producer">
    <vt:lpwstr>Microsoft® Word 2010</vt:lpwstr>
  </property>
</Properties>
</file>
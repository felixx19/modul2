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6121400" cy="8642350"/>
  <p:notesSz cx="6121400" cy="8642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900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81" y="2679128"/>
            <a:ext cx="5208587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9162" y="4839716"/>
            <a:ext cx="4289425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6387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55791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387" y="345694"/>
            <a:ext cx="5514975" cy="13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387" y="1987740"/>
            <a:ext cx="5514975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3435" y="8037385"/>
            <a:ext cx="1960880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6387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1980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477519"/>
            <a:ext cx="4705985" cy="599694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Times New Roman"/>
                <a:cs typeface="Times New Roman"/>
              </a:rPr>
              <a:t>BAB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  <a:p>
            <a:pPr marL="307340" marR="299720" algn="ctr">
              <a:lnSpc>
                <a:spcPts val="2420"/>
              </a:lnSpc>
              <a:spcBef>
                <a:spcPts val="204"/>
              </a:spcBef>
            </a:pPr>
            <a:r>
              <a:rPr sz="1400" b="1" spc="-10" dirty="0">
                <a:latin typeface="Times New Roman"/>
                <a:cs typeface="Times New Roman"/>
              </a:rPr>
              <a:t>PENGENALAN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FORM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DAN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PENGGUNAAN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HTTP </a:t>
            </a:r>
            <a:r>
              <a:rPr sz="1400" b="1" spc="-10" dirty="0">
                <a:latin typeface="Times New Roman"/>
                <a:cs typeface="Times New Roman"/>
              </a:rPr>
              <a:t>SERVER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Deskripsi: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Membahas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pengolahan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mempraktikkan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SERVER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Tujuan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Pembelajaran:</a:t>
            </a:r>
            <a:endParaRPr sz="1200">
              <a:latin typeface="Times New Roman"/>
              <a:cs typeface="Times New Roman"/>
            </a:endParaRPr>
          </a:p>
          <a:p>
            <a:pPr marL="12700" marR="389255">
              <a:lnSpc>
                <a:spcPts val="207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memahami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pokok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bab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diharapkan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mahasiswa mampu:</a:t>
            </a: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84480" algn="l"/>
              </a:tabLst>
            </a:pP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pemrograman</a:t>
            </a:r>
            <a:r>
              <a:rPr sz="1200" spc="-25" dirty="0">
                <a:latin typeface="Times New Roman"/>
                <a:cs typeface="Times New Roman"/>
              </a:rPr>
              <a:t> web</a:t>
            </a: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28448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mengirim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5.1</a:t>
            </a:r>
            <a:r>
              <a:rPr sz="1200" b="1" spc="484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Komponen </a:t>
            </a:r>
            <a:r>
              <a:rPr sz="1200" b="1" i="1" spc="-20" dirty="0">
                <a:latin typeface="Times New Roman"/>
                <a:cs typeface="Times New Roman"/>
              </a:rPr>
              <a:t>Form</a:t>
            </a:r>
            <a:endParaRPr sz="12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website</a:t>
            </a:r>
            <a:r>
              <a:rPr sz="1200" i="1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dinamis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seringkali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memerlukan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interaksi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antara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165"/>
              </a:spcBef>
            </a:pPr>
            <a:r>
              <a:rPr sz="1200" i="1" dirty="0">
                <a:latin typeface="Times New Roman"/>
                <a:cs typeface="Times New Roman"/>
              </a:rPr>
              <a:t>browser</a:t>
            </a:r>
            <a:r>
              <a:rPr sz="1200" i="1" spc="2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client</a:t>
            </a:r>
            <a:r>
              <a:rPr sz="1200" i="1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server</a:t>
            </a:r>
            <a:r>
              <a:rPr sz="1200" i="1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berupa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pemasukan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atau </a:t>
            </a:r>
            <a:r>
              <a:rPr sz="1200" i="1" dirty="0">
                <a:latin typeface="Times New Roman"/>
                <a:cs typeface="Times New Roman"/>
              </a:rPr>
              <a:t>upload</a:t>
            </a:r>
            <a:r>
              <a:rPr sz="1200" i="1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diproses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server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mewadahi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dikirimkan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browser</a:t>
            </a:r>
            <a:r>
              <a:rPr sz="1200" i="1" spc="160" dirty="0">
                <a:latin typeface="Times New Roman"/>
                <a:cs typeface="Times New Roman"/>
              </a:rPr>
              <a:t>  </a:t>
            </a:r>
            <a:r>
              <a:rPr sz="1200" i="1" dirty="0">
                <a:latin typeface="Times New Roman"/>
                <a:cs typeface="Times New Roman"/>
              </a:rPr>
              <a:t>client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dibutuhkan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adanya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HTML.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ts val="2070"/>
              </a:lnSpc>
            </a:pP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form</a:t>
            </a:r>
            <a:r>
              <a:rPr sz="1200" i="1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misalnya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pendaftaran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keanggotaan,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pemasukan </a:t>
            </a:r>
            <a:r>
              <a:rPr sz="1200" dirty="0">
                <a:latin typeface="Times New Roman"/>
                <a:cs typeface="Times New Roman"/>
              </a:rPr>
              <a:t>kode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kartu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kredit,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login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transaksi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perbelanjaan,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upload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6795516"/>
            <a:ext cx="243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/>
                <a:cs typeface="Times New Roman"/>
              </a:rPr>
              <a:t>5.2.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717" y="6718045"/>
            <a:ext cx="4246880" cy="5461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710"/>
              </a:spcBef>
            </a:pPr>
            <a:r>
              <a:rPr sz="1200" b="1" dirty="0">
                <a:latin typeface="Times New Roman"/>
                <a:cs typeface="Times New Roman"/>
              </a:rPr>
              <a:t>Pengolahan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Dari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Form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dikenal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adanya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&lt;FORM&gt;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ditutup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7238682"/>
            <a:ext cx="470281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&lt;/FORM&gt;.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pembuka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&lt;FORM&gt;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diikuti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atribut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action</a:t>
            </a:r>
            <a:r>
              <a:rPr sz="1200" i="1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method.</a:t>
            </a:r>
            <a:r>
              <a:rPr sz="1200" i="1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atribut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menerangkan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7009104"/>
            <a:ext cx="4328795" cy="12725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ts val="1405"/>
              </a:lnSpc>
              <a:spcBef>
                <a:spcPts val="254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864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Proses&lt;/title&gt;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Diinputkan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&lt;?php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echo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415"/>
              </a:lnSpc>
            </a:pPr>
            <a:r>
              <a:rPr sz="1200" spc="-10" dirty="0">
                <a:latin typeface="Times New Roman"/>
                <a:cs typeface="Times New Roman"/>
              </a:rPr>
              <a:t>$_GET["nama"];?&gt;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3014345"/>
            <a:ext cx="4533900" cy="203835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ts val="1405"/>
              </a:lnSpc>
              <a:spcBef>
                <a:spcPts val="24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86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Get&lt;/title&gt;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&lt;form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action="metodegetproses.php"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method="get"&gt;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Masukkan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"text"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name="nama"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size="25"&gt;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type="submit"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value="Proses"&gt;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&lt;/form&gt;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490219"/>
            <a:ext cx="4709160" cy="238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43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input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sedangkan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mengatur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mem-</a:t>
            </a:r>
            <a:r>
              <a:rPr sz="1200" dirty="0">
                <a:latin typeface="Times New Roman"/>
                <a:cs typeface="Times New Roman"/>
              </a:rPr>
              <a:t>parsing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konten.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menerima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inputan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para </a:t>
            </a:r>
            <a:r>
              <a:rPr sz="1200" dirty="0">
                <a:latin typeface="Times New Roman"/>
                <a:cs typeface="Times New Roman"/>
              </a:rPr>
              <a:t>pengunjung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POST.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akan </a:t>
            </a:r>
            <a:r>
              <a:rPr sz="1200" dirty="0">
                <a:latin typeface="Times New Roman"/>
                <a:cs typeface="Times New Roman"/>
              </a:rPr>
              <a:t>mengirimkan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bersama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URL,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sedangkan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akan </a:t>
            </a:r>
            <a:r>
              <a:rPr sz="1200" dirty="0">
                <a:latin typeface="Times New Roman"/>
                <a:cs typeface="Times New Roman"/>
              </a:rPr>
              <a:t>mengirimkannya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terpisah.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mengirimkan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input</a:t>
            </a:r>
            <a:r>
              <a:rPr sz="1200" i="1" spc="3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mengisi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pilihan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attibut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html.</a:t>
            </a:r>
            <a:endParaRPr sz="1200">
              <a:latin typeface="Times New Roman"/>
              <a:cs typeface="Times New Roman"/>
            </a:endParaRPr>
          </a:p>
          <a:p>
            <a:pPr marL="12700" marR="196850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GET.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metodeget.php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5038725"/>
            <a:ext cx="2787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6137528"/>
            <a:ext cx="3903979" cy="8166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35763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5.1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metodeget.php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0"/>
              </a:spcBef>
              <a:tabLst>
                <a:tab pos="461009" algn="l"/>
                <a:tab pos="822960" algn="l"/>
                <a:tab pos="1330960" algn="l"/>
                <a:tab pos="2184400" algn="l"/>
                <a:tab pos="2868930" algn="l"/>
                <a:tab pos="3326129" algn="l"/>
              </a:tabLst>
            </a:pPr>
            <a:r>
              <a:rPr sz="1200" spc="-20" dirty="0">
                <a:latin typeface="Times New Roman"/>
                <a:cs typeface="Times New Roman"/>
              </a:rPr>
              <a:t>Buat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file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untuk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memproses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Variable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yang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diberikan </a:t>
            </a:r>
            <a:r>
              <a:rPr sz="1200" dirty="0">
                <a:latin typeface="Times New Roman"/>
                <a:cs typeface="Times New Roman"/>
              </a:rPr>
              <a:t>metodeget.php,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filenya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metodegetproses.php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9578" y="6482969"/>
            <a:ext cx="27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oleh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1346" y="6482969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file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0269" y="5243195"/>
            <a:ext cx="4343400" cy="933450"/>
            <a:chOff x="890269" y="5243195"/>
            <a:chExt cx="4343400" cy="9334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109" y="5251653"/>
              <a:ext cx="4323715" cy="66959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90270" y="5243194"/>
              <a:ext cx="4343400" cy="933450"/>
            </a:xfrm>
            <a:custGeom>
              <a:avLst/>
              <a:gdLst/>
              <a:ahLst/>
              <a:cxnLst/>
              <a:rect l="l" t="t" r="r" b="b"/>
              <a:pathLst>
                <a:path w="4343400" h="933450">
                  <a:moveTo>
                    <a:pt x="911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18" y="9144"/>
                  </a:lnTo>
                  <a:lnTo>
                    <a:pt x="9118" y="0"/>
                  </a:lnTo>
                  <a:close/>
                </a:path>
                <a:path w="4343400" h="933450">
                  <a:moveTo>
                    <a:pt x="9131" y="9271"/>
                  </a:moveTo>
                  <a:lnTo>
                    <a:pt x="0" y="9271"/>
                  </a:lnTo>
                  <a:lnTo>
                    <a:pt x="0" y="933069"/>
                  </a:lnTo>
                  <a:lnTo>
                    <a:pt x="9131" y="933069"/>
                  </a:lnTo>
                  <a:lnTo>
                    <a:pt x="9131" y="9271"/>
                  </a:lnTo>
                  <a:close/>
                </a:path>
                <a:path w="4343400" h="933450">
                  <a:moveTo>
                    <a:pt x="4333621" y="923925"/>
                  </a:moveTo>
                  <a:lnTo>
                    <a:pt x="9144" y="923925"/>
                  </a:lnTo>
                  <a:lnTo>
                    <a:pt x="9144" y="933069"/>
                  </a:lnTo>
                  <a:lnTo>
                    <a:pt x="4333621" y="933069"/>
                  </a:lnTo>
                  <a:lnTo>
                    <a:pt x="4333621" y="923925"/>
                  </a:lnTo>
                  <a:close/>
                </a:path>
                <a:path w="4343400" h="933450">
                  <a:moveTo>
                    <a:pt x="4333621" y="0"/>
                  </a:moveTo>
                  <a:lnTo>
                    <a:pt x="9144" y="0"/>
                  </a:lnTo>
                  <a:lnTo>
                    <a:pt x="9144" y="9144"/>
                  </a:lnTo>
                  <a:lnTo>
                    <a:pt x="4333621" y="9144"/>
                  </a:lnTo>
                  <a:lnTo>
                    <a:pt x="4333621" y="0"/>
                  </a:lnTo>
                  <a:close/>
                </a:path>
                <a:path w="4343400" h="933450">
                  <a:moveTo>
                    <a:pt x="4342892" y="9271"/>
                  </a:moveTo>
                  <a:lnTo>
                    <a:pt x="4333748" y="9271"/>
                  </a:lnTo>
                  <a:lnTo>
                    <a:pt x="4333748" y="933069"/>
                  </a:lnTo>
                  <a:lnTo>
                    <a:pt x="4342892" y="933069"/>
                  </a:lnTo>
                  <a:lnTo>
                    <a:pt x="4342892" y="9271"/>
                  </a:lnTo>
                  <a:close/>
                </a:path>
                <a:path w="4343400" h="933450">
                  <a:moveTo>
                    <a:pt x="4342892" y="0"/>
                  </a:moveTo>
                  <a:lnTo>
                    <a:pt x="4333748" y="0"/>
                  </a:lnTo>
                  <a:lnTo>
                    <a:pt x="4333748" y="9144"/>
                  </a:lnTo>
                  <a:lnTo>
                    <a:pt x="4342892" y="9144"/>
                  </a:lnTo>
                  <a:lnTo>
                    <a:pt x="4342892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884" y="3319145"/>
            <a:ext cx="4968875" cy="291274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9275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Get&lt;/title&gt;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2075" marR="930275">
              <a:lnSpc>
                <a:spcPts val="207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&lt;form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action="metodepostproses.php"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method="post"&gt; </a:t>
            </a:r>
            <a:r>
              <a:rPr sz="1200" dirty="0">
                <a:latin typeface="Times New Roman"/>
                <a:cs typeface="Times New Roman"/>
              </a:rPr>
              <a:t>Masukkan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"text"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name="nama"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size="25"&gt;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type="submit"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value="Proses"&gt;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&lt;/form&gt;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660"/>
              </a:spcBef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67690"/>
            <a:ext cx="2787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1657476"/>
            <a:ext cx="4630420" cy="160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06805" indent="1149350">
              <a:lnSpc>
                <a:spcPct val="1431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Gambar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5.2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metodegetproses.php </a:t>
            </a:r>
            <a:r>
              <a:rPr sz="1200" dirty="0">
                <a:latin typeface="Times New Roman"/>
                <a:cs typeface="Times New Roman"/>
              </a:rPr>
              <a:t>Penjelasan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metodegetproses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adalah: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>
              <a:lnSpc>
                <a:spcPts val="2070"/>
              </a:lnSpc>
              <a:spcBef>
                <a:spcPts val="170"/>
              </a:spcBef>
            </a:pPr>
            <a:r>
              <a:rPr sz="1200" dirty="0">
                <a:latin typeface="Times New Roman"/>
                <a:cs typeface="Times New Roman"/>
              </a:rPr>
              <a:t>Perhatikan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tulisan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dikirmkan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ditampilkan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25" dirty="0">
                <a:latin typeface="Times New Roman"/>
                <a:cs typeface="Times New Roman"/>
              </a:rPr>
              <a:t> URL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b.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POST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inputan,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metodepost.php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6293866"/>
            <a:ext cx="2787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3491" y="7892732"/>
            <a:ext cx="205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5.3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metodepost.php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23900" y="773430"/>
            <a:ext cx="5266690" cy="913130"/>
            <a:chOff x="723900" y="773430"/>
            <a:chExt cx="5266690" cy="9131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85" y="782751"/>
              <a:ext cx="5247640" cy="6473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3900" y="773429"/>
              <a:ext cx="5266690" cy="913130"/>
            </a:xfrm>
            <a:custGeom>
              <a:avLst/>
              <a:gdLst/>
              <a:ahLst/>
              <a:cxnLst/>
              <a:rect l="l" t="t" r="r" b="b"/>
              <a:pathLst>
                <a:path w="5266690" h="913130">
                  <a:moveTo>
                    <a:pt x="5266690" y="0"/>
                  </a:moveTo>
                  <a:lnTo>
                    <a:pt x="5257546" y="0"/>
                  </a:lnTo>
                  <a:lnTo>
                    <a:pt x="5257546" y="9398"/>
                  </a:lnTo>
                  <a:lnTo>
                    <a:pt x="5257546" y="904240"/>
                  </a:lnTo>
                  <a:lnTo>
                    <a:pt x="9144" y="904240"/>
                  </a:lnTo>
                  <a:lnTo>
                    <a:pt x="9144" y="9398"/>
                  </a:lnTo>
                  <a:lnTo>
                    <a:pt x="5257546" y="9398"/>
                  </a:lnTo>
                  <a:lnTo>
                    <a:pt x="5257546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9398"/>
                  </a:lnTo>
                  <a:lnTo>
                    <a:pt x="0" y="904240"/>
                  </a:lnTo>
                  <a:lnTo>
                    <a:pt x="0" y="913130"/>
                  </a:lnTo>
                  <a:lnTo>
                    <a:pt x="5266690" y="913130"/>
                  </a:lnTo>
                  <a:lnTo>
                    <a:pt x="5266690" y="904240"/>
                  </a:lnTo>
                  <a:lnTo>
                    <a:pt x="5266690" y="9398"/>
                  </a:lnTo>
                  <a:lnTo>
                    <a:pt x="5266690" y="8890"/>
                  </a:lnTo>
                  <a:lnTo>
                    <a:pt x="5266690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7760" y="954151"/>
              <a:ext cx="2790825" cy="276225"/>
            </a:xfrm>
            <a:custGeom>
              <a:avLst/>
              <a:gdLst/>
              <a:ahLst/>
              <a:cxnLst/>
              <a:rect l="l" t="t" r="r" b="b"/>
              <a:pathLst>
                <a:path w="2790825" h="276225">
                  <a:moveTo>
                    <a:pt x="0" y="276225"/>
                  </a:moveTo>
                  <a:lnTo>
                    <a:pt x="2790825" y="276225"/>
                  </a:lnTo>
                  <a:lnTo>
                    <a:pt x="27908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55650" y="6497954"/>
            <a:ext cx="4610100" cy="1343025"/>
            <a:chOff x="755650" y="6497954"/>
            <a:chExt cx="4610100" cy="13430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616" y="6506070"/>
              <a:ext cx="4590415" cy="12437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5650" y="6497954"/>
              <a:ext cx="4610100" cy="1343025"/>
            </a:xfrm>
            <a:custGeom>
              <a:avLst/>
              <a:gdLst/>
              <a:ahLst/>
              <a:cxnLst/>
              <a:rect l="l" t="t" r="r" b="b"/>
              <a:pathLst>
                <a:path w="4610100" h="1343025">
                  <a:moveTo>
                    <a:pt x="9118" y="1333766"/>
                  </a:moveTo>
                  <a:lnTo>
                    <a:pt x="0" y="1333766"/>
                  </a:lnTo>
                  <a:lnTo>
                    <a:pt x="0" y="1342885"/>
                  </a:lnTo>
                  <a:lnTo>
                    <a:pt x="9118" y="1342885"/>
                  </a:lnTo>
                  <a:lnTo>
                    <a:pt x="9118" y="1333766"/>
                  </a:lnTo>
                  <a:close/>
                </a:path>
                <a:path w="4610100" h="1343025">
                  <a:moveTo>
                    <a:pt x="9131" y="0"/>
                  </a:moveTo>
                  <a:lnTo>
                    <a:pt x="0" y="0"/>
                  </a:lnTo>
                  <a:lnTo>
                    <a:pt x="0" y="1333741"/>
                  </a:lnTo>
                  <a:lnTo>
                    <a:pt x="9131" y="1333741"/>
                  </a:lnTo>
                  <a:lnTo>
                    <a:pt x="9131" y="0"/>
                  </a:lnTo>
                  <a:close/>
                </a:path>
                <a:path w="4610100" h="1343025">
                  <a:moveTo>
                    <a:pt x="4600321" y="1333766"/>
                  </a:moveTo>
                  <a:lnTo>
                    <a:pt x="9144" y="1333766"/>
                  </a:lnTo>
                  <a:lnTo>
                    <a:pt x="9144" y="1342885"/>
                  </a:lnTo>
                  <a:lnTo>
                    <a:pt x="4600321" y="1342885"/>
                  </a:lnTo>
                  <a:lnTo>
                    <a:pt x="4600321" y="1333766"/>
                  </a:lnTo>
                  <a:close/>
                </a:path>
                <a:path w="4610100" h="1343025">
                  <a:moveTo>
                    <a:pt x="4600321" y="25"/>
                  </a:moveTo>
                  <a:lnTo>
                    <a:pt x="9144" y="25"/>
                  </a:lnTo>
                  <a:lnTo>
                    <a:pt x="9144" y="9144"/>
                  </a:lnTo>
                  <a:lnTo>
                    <a:pt x="4600321" y="9144"/>
                  </a:lnTo>
                  <a:lnTo>
                    <a:pt x="4600321" y="25"/>
                  </a:lnTo>
                  <a:close/>
                </a:path>
                <a:path w="4610100" h="1343025">
                  <a:moveTo>
                    <a:pt x="4609592" y="1333766"/>
                  </a:moveTo>
                  <a:lnTo>
                    <a:pt x="4600448" y="1333766"/>
                  </a:lnTo>
                  <a:lnTo>
                    <a:pt x="4600448" y="1342885"/>
                  </a:lnTo>
                  <a:lnTo>
                    <a:pt x="4609592" y="1342885"/>
                  </a:lnTo>
                  <a:lnTo>
                    <a:pt x="4609592" y="1333766"/>
                  </a:lnTo>
                  <a:close/>
                </a:path>
                <a:path w="4610100" h="1343025">
                  <a:moveTo>
                    <a:pt x="4609592" y="0"/>
                  </a:moveTo>
                  <a:lnTo>
                    <a:pt x="4600448" y="0"/>
                  </a:lnTo>
                  <a:lnTo>
                    <a:pt x="4600448" y="1333741"/>
                  </a:lnTo>
                  <a:lnTo>
                    <a:pt x="4609592" y="1333741"/>
                  </a:lnTo>
                  <a:lnTo>
                    <a:pt x="4609592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490219"/>
            <a:ext cx="4690110" cy="54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  <a:tabLst>
                <a:tab pos="461009" algn="l"/>
                <a:tab pos="822960" algn="l"/>
                <a:tab pos="1330960" algn="l"/>
                <a:tab pos="2184400" algn="l"/>
                <a:tab pos="2868930" algn="l"/>
                <a:tab pos="3326129" algn="l"/>
                <a:tab pos="4060825" algn="l"/>
                <a:tab pos="4482465" algn="l"/>
              </a:tabLst>
            </a:pPr>
            <a:r>
              <a:rPr sz="1200" spc="-20" dirty="0">
                <a:latin typeface="Times New Roman"/>
                <a:cs typeface="Times New Roman"/>
              </a:rPr>
              <a:t>Buat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file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untuk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memproses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Variable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yang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diberikan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oleh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35" dirty="0">
                <a:latin typeface="Times New Roman"/>
                <a:cs typeface="Times New Roman"/>
              </a:rPr>
              <a:t>file </a:t>
            </a:r>
            <a:r>
              <a:rPr sz="1200" spc="-10" dirty="0">
                <a:latin typeface="Times New Roman"/>
                <a:cs typeface="Times New Roman"/>
              </a:rPr>
              <a:t>metodepost.php </a:t>
            </a:r>
            <a:r>
              <a:rPr sz="1200" dirty="0">
                <a:latin typeface="Times New Roman"/>
                <a:cs typeface="Times New Roman"/>
              </a:rPr>
              <a:t>beri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filenya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metodepostproses.php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3451225"/>
            <a:ext cx="2787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930" y="4789804"/>
            <a:ext cx="4662805" cy="33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5.4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metodepostproses.php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Penjelasan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metodegetproses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adalah:</a:t>
            </a:r>
            <a:endParaRPr sz="1200">
              <a:latin typeface="Times New Roman"/>
              <a:cs typeface="Times New Roman"/>
            </a:endParaRPr>
          </a:p>
          <a:p>
            <a:pPr marL="13970" marR="35560" indent="457200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Perhatikan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tulisan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dikirmkan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ditampilkan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URL.</a:t>
            </a:r>
            <a:endParaRPr sz="1200">
              <a:latin typeface="Times New Roman"/>
              <a:cs typeface="Times New Roman"/>
            </a:endParaRPr>
          </a:p>
          <a:p>
            <a:pPr marL="193040" marR="107314" indent="-180975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c.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Satu File</a:t>
            </a:r>
            <a:endParaRPr sz="1200">
              <a:latin typeface="Times New Roman"/>
              <a:cs typeface="Times New Roman"/>
            </a:endParaRPr>
          </a:p>
          <a:p>
            <a:pPr marL="13970" marR="36195" indent="457200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input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menampilkan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580"/>
              </a:spcBef>
            </a:pP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(!Empty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(nama_Variable))</a:t>
            </a:r>
            <a:endParaRPr sz="1200">
              <a:latin typeface="Courier New"/>
              <a:cs typeface="Courier New"/>
            </a:endParaRPr>
          </a:p>
          <a:p>
            <a:pPr marL="13970" marR="5080" indent="457200">
              <a:lnSpc>
                <a:spcPct val="1438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Artinya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kosong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(alias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baru </a:t>
            </a:r>
            <a:r>
              <a:rPr sz="1200" spc="-10" dirty="0">
                <a:latin typeface="Times New Roman"/>
                <a:cs typeface="Times New Roman"/>
              </a:rPr>
              <a:t>ditampilkan,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sementara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ditampilkan.</a:t>
            </a:r>
            <a:endParaRPr sz="12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diketahui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digunakannya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090" y="1122044"/>
            <a:ext cx="5151120" cy="211455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4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Proses&lt;/title&gt;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Diinputkan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&lt;?php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$_POST["nama"];?&gt;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680"/>
              </a:spcBef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23900" y="3655059"/>
            <a:ext cx="4925695" cy="1085850"/>
            <a:chOff x="723900" y="3655059"/>
            <a:chExt cx="4925695" cy="10858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85" y="3664381"/>
              <a:ext cx="4906010" cy="7192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3655059"/>
              <a:ext cx="4925695" cy="1085850"/>
            </a:xfrm>
            <a:custGeom>
              <a:avLst/>
              <a:gdLst/>
              <a:ahLst/>
              <a:cxnLst/>
              <a:rect l="l" t="t" r="r" b="b"/>
              <a:pathLst>
                <a:path w="4925695" h="1085850">
                  <a:moveTo>
                    <a:pt x="4925314" y="508"/>
                  </a:moveTo>
                  <a:lnTo>
                    <a:pt x="4916170" y="508"/>
                  </a:lnTo>
                  <a:lnTo>
                    <a:pt x="4916170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076960"/>
                  </a:lnTo>
                  <a:lnTo>
                    <a:pt x="0" y="1085850"/>
                  </a:lnTo>
                  <a:lnTo>
                    <a:pt x="4925314" y="1085850"/>
                  </a:lnTo>
                  <a:lnTo>
                    <a:pt x="4925314" y="1076960"/>
                  </a:lnTo>
                  <a:lnTo>
                    <a:pt x="9144" y="1076960"/>
                  </a:lnTo>
                  <a:lnTo>
                    <a:pt x="9144" y="10160"/>
                  </a:lnTo>
                  <a:lnTo>
                    <a:pt x="4916170" y="10160"/>
                  </a:lnTo>
                  <a:lnTo>
                    <a:pt x="4916170" y="1076706"/>
                  </a:lnTo>
                  <a:lnTo>
                    <a:pt x="4925314" y="1076706"/>
                  </a:lnTo>
                  <a:lnTo>
                    <a:pt x="4925314" y="508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55035" y="3990720"/>
              <a:ext cx="2630170" cy="276225"/>
            </a:xfrm>
            <a:custGeom>
              <a:avLst/>
              <a:gdLst/>
              <a:ahLst/>
              <a:cxnLst/>
              <a:rect l="l" t="t" r="r" b="b"/>
              <a:pathLst>
                <a:path w="2630170" h="276225">
                  <a:moveTo>
                    <a:pt x="0" y="276225"/>
                  </a:moveTo>
                  <a:lnTo>
                    <a:pt x="2630169" y="276225"/>
                  </a:lnTo>
                  <a:lnTo>
                    <a:pt x="2630169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030" y="1909445"/>
            <a:ext cx="4782185" cy="245173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ts val="130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6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Data&lt;/title&gt;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&lt;h1&gt;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Anda&lt;h1&gt;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&lt;form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action="&lt;?php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$_SERVER['PHP_SELF'];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?&gt;"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method="post"&gt;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&lt;pre&gt;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  <a:tabLst>
                <a:tab pos="932180" algn="l"/>
              </a:tabLst>
            </a:pPr>
            <a:r>
              <a:rPr sz="1200" dirty="0">
                <a:latin typeface="Times New Roman"/>
                <a:cs typeface="Times New Roman"/>
              </a:rPr>
              <a:t>Isikan</a:t>
            </a:r>
            <a:r>
              <a:rPr sz="1200" spc="-20" dirty="0">
                <a:latin typeface="Times New Roman"/>
                <a:cs typeface="Times New Roman"/>
              </a:rPr>
              <a:t> Nama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type="text"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name="nama"&gt;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Isikan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Telp: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type="text"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name="notelp"&gt;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Isikan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&lt;textarea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name="alamat"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rows="5"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cols="40"&gt;&lt;/textarea&gt;</a:t>
            </a:r>
            <a:endParaRPr sz="1200">
              <a:latin typeface="Times New Roman"/>
              <a:cs typeface="Times New Roman"/>
            </a:endParaRPr>
          </a:p>
          <a:p>
            <a:pPr marL="17145" marR="1026160">
              <a:lnSpc>
                <a:spcPts val="138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&lt;input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type="submit"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value="TAMPIL"&gt;&lt;input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type="reset" value="BATAL"&gt;</a:t>
            </a: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ts val="1345"/>
              </a:lnSpc>
            </a:pPr>
            <a:r>
              <a:rPr sz="1200" spc="-10" dirty="0">
                <a:latin typeface="Times New Roman"/>
                <a:cs typeface="Times New Roman"/>
              </a:rPr>
              <a:t>&lt;/pre&gt;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015" y="4531359"/>
            <a:ext cx="4760595" cy="245681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2384" rIns="0" bIns="0" rtlCol="0">
            <a:spAutoFit/>
          </a:bodyPr>
          <a:lstStyle/>
          <a:p>
            <a:pPr marL="89535">
              <a:lnSpc>
                <a:spcPts val="1405"/>
              </a:lnSpc>
              <a:spcBef>
                <a:spcPts val="254"/>
              </a:spcBef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$nama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$_POST['nama'];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$telp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$_POST['notelp'];</a:t>
            </a:r>
            <a:endParaRPr sz="1200">
              <a:latin typeface="Times New Roman"/>
              <a:cs typeface="Times New Roman"/>
            </a:endParaRPr>
          </a:p>
          <a:p>
            <a:pPr marL="89535" marR="290830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$alamat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$_POST['alamat']; if(!empty($nama)){</a:t>
            </a:r>
            <a:endParaRPr sz="1200">
              <a:latin typeface="Times New Roman"/>
              <a:cs typeface="Times New Roman"/>
            </a:endParaRPr>
          </a:p>
          <a:p>
            <a:pPr marL="89535" marR="2736215">
              <a:lnSpc>
                <a:spcPts val="1380"/>
              </a:lnSpc>
              <a:spcBef>
                <a:spcPts val="10"/>
              </a:spcBef>
              <a:tabLst>
                <a:tab pos="1003935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"Nama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$nama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&lt;br&gt;";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 </a:t>
            </a:r>
            <a:r>
              <a:rPr sz="1200" spc="-10" dirty="0">
                <a:latin typeface="Times New Roman"/>
                <a:cs typeface="Times New Roman"/>
              </a:rPr>
              <a:t>if(!empty($telp)){</a:t>
            </a:r>
            <a:endParaRPr sz="1200">
              <a:latin typeface="Times New Roman"/>
              <a:cs typeface="Times New Roman"/>
            </a:endParaRPr>
          </a:p>
          <a:p>
            <a:pPr marL="89535" marR="2836545">
              <a:lnSpc>
                <a:spcPts val="138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echo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Telp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$telp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&lt;br&gt;";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 </a:t>
            </a:r>
            <a:r>
              <a:rPr sz="1200" spc="-10" dirty="0">
                <a:latin typeface="Times New Roman"/>
                <a:cs typeface="Times New Roman"/>
              </a:rPr>
              <a:t>if(!empty($alamat)){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"Alamat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$alamat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&lt;br&gt;";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8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478790"/>
            <a:ext cx="4701540" cy="13481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750"/>
              </a:spcBef>
            </a:pPr>
            <a:r>
              <a:rPr sz="1200" dirty="0">
                <a:latin typeface="Courier New"/>
                <a:cs typeface="Courier New"/>
              </a:rPr>
              <a:t>$_server</a:t>
            </a:r>
            <a:r>
              <a:rPr sz="1200" spc="-13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[‘php_self’]</a:t>
            </a:r>
            <a:endParaRPr sz="1200">
              <a:latin typeface="Courier New"/>
              <a:cs typeface="Courier New"/>
            </a:endParaRPr>
          </a:p>
          <a:p>
            <a:pPr marL="12700" marR="5080" indent="457200" algn="just">
              <a:lnSpc>
                <a:spcPct val="1439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Artinya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alamat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mengacu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itu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sendiri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bukan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demikian,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maka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dipanggil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sama.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50"/>
              </a:spcBef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formdatadiri.php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7905" y="860425"/>
            <a:ext cx="4086860" cy="1657350"/>
            <a:chOff x="1017905" y="860425"/>
            <a:chExt cx="4086860" cy="1657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998" y="869569"/>
              <a:ext cx="4067175" cy="16095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17905" y="860424"/>
              <a:ext cx="4086860" cy="1657350"/>
            </a:xfrm>
            <a:custGeom>
              <a:avLst/>
              <a:gdLst/>
              <a:ahLst/>
              <a:cxnLst/>
              <a:rect l="l" t="t" r="r" b="b"/>
              <a:pathLst>
                <a:path w="4086860" h="1657350">
                  <a:moveTo>
                    <a:pt x="4077589" y="1647825"/>
                  </a:moveTo>
                  <a:lnTo>
                    <a:pt x="9144" y="1647825"/>
                  </a:lnTo>
                  <a:lnTo>
                    <a:pt x="9144" y="9271"/>
                  </a:lnTo>
                  <a:lnTo>
                    <a:pt x="0" y="9271"/>
                  </a:lnTo>
                  <a:lnTo>
                    <a:pt x="0" y="1647825"/>
                  </a:lnTo>
                  <a:lnTo>
                    <a:pt x="0" y="1656969"/>
                  </a:lnTo>
                  <a:lnTo>
                    <a:pt x="4077589" y="1656969"/>
                  </a:lnTo>
                  <a:lnTo>
                    <a:pt x="4077589" y="1647825"/>
                  </a:lnTo>
                  <a:close/>
                </a:path>
                <a:path w="4086860" h="1657350">
                  <a:moveTo>
                    <a:pt x="4077589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077589" y="9144"/>
                  </a:lnTo>
                  <a:lnTo>
                    <a:pt x="4077589" y="0"/>
                  </a:lnTo>
                  <a:close/>
                </a:path>
                <a:path w="4086860" h="1657350">
                  <a:moveTo>
                    <a:pt x="4086847" y="1647837"/>
                  </a:moveTo>
                  <a:lnTo>
                    <a:pt x="4077716" y="1647837"/>
                  </a:lnTo>
                  <a:lnTo>
                    <a:pt x="4077716" y="1656969"/>
                  </a:lnTo>
                  <a:lnTo>
                    <a:pt x="4086847" y="1656969"/>
                  </a:lnTo>
                  <a:lnTo>
                    <a:pt x="4086847" y="1647837"/>
                  </a:lnTo>
                  <a:close/>
                </a:path>
                <a:path w="4086860" h="1657350">
                  <a:moveTo>
                    <a:pt x="4086847" y="9271"/>
                  </a:moveTo>
                  <a:lnTo>
                    <a:pt x="4077716" y="9271"/>
                  </a:lnTo>
                  <a:lnTo>
                    <a:pt x="4077716" y="1647825"/>
                  </a:lnTo>
                  <a:lnTo>
                    <a:pt x="4086847" y="1647825"/>
                  </a:lnTo>
                  <a:lnTo>
                    <a:pt x="4086847" y="9271"/>
                  </a:lnTo>
                  <a:close/>
                </a:path>
                <a:path w="4086860" h="1657350">
                  <a:moveTo>
                    <a:pt x="4086847" y="0"/>
                  </a:moveTo>
                  <a:lnTo>
                    <a:pt x="4077716" y="0"/>
                  </a:lnTo>
                  <a:lnTo>
                    <a:pt x="4077716" y="9144"/>
                  </a:lnTo>
                  <a:lnTo>
                    <a:pt x="4086847" y="9144"/>
                  </a:lnTo>
                  <a:lnTo>
                    <a:pt x="4086847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1200" y="568959"/>
            <a:ext cx="2787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2497074"/>
            <a:ext cx="4368800" cy="72644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1150" algn="ctr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5.5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formdatadiri.php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25"/>
              </a:spcBef>
            </a:pPr>
            <a:r>
              <a:rPr sz="1200" spc="-10" dirty="0">
                <a:latin typeface="Times New Roman"/>
                <a:cs typeface="Times New Roman"/>
              </a:rPr>
              <a:t>Selanjutnya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formdatadiri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KLIK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Tombol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Tampil,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kiriman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datanya.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5095875"/>
            <a:ext cx="4686300" cy="124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5.6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kiriman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formdatadiri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Latihan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299720" algn="l"/>
              </a:tabLst>
            </a:pPr>
            <a:r>
              <a:rPr sz="1200" spc="-25" dirty="0">
                <a:latin typeface="Times New Roman"/>
                <a:cs typeface="Times New Roman"/>
              </a:rPr>
              <a:t>1.</a:t>
            </a:r>
            <a:r>
              <a:rPr sz="1200" dirty="0">
                <a:latin typeface="Times New Roman"/>
                <a:cs typeface="Times New Roman"/>
              </a:rPr>
              <a:t>	Buat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input</a:t>
            </a:r>
            <a:r>
              <a:rPr sz="1200" i="1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disimpan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nama</a:t>
            </a:r>
            <a:endParaRPr sz="1200">
              <a:latin typeface="Times New Roman"/>
              <a:cs typeface="Times New Roman"/>
            </a:endParaRPr>
          </a:p>
          <a:p>
            <a:pPr marL="299720">
              <a:lnSpc>
                <a:spcPct val="100000"/>
              </a:lnSpc>
              <a:spcBef>
                <a:spcPts val="630"/>
              </a:spcBef>
            </a:pPr>
            <a:r>
              <a:rPr sz="1200" b="1" spc="-10" dirty="0">
                <a:latin typeface="Times New Roman"/>
                <a:cs typeface="Times New Roman"/>
              </a:rPr>
              <a:t>forminputmahasiswa.php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0910" y="3218179"/>
            <a:ext cx="4260850" cy="1903730"/>
            <a:chOff x="930910" y="3218179"/>
            <a:chExt cx="4260850" cy="19037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876" y="3226307"/>
              <a:ext cx="4241165" cy="18470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30910" y="3218179"/>
              <a:ext cx="4260850" cy="1903730"/>
            </a:xfrm>
            <a:custGeom>
              <a:avLst/>
              <a:gdLst/>
              <a:ahLst/>
              <a:cxnLst/>
              <a:rect l="l" t="t" r="r" b="b"/>
              <a:pathLst>
                <a:path w="4260850" h="1903729">
                  <a:moveTo>
                    <a:pt x="4251325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894840"/>
                  </a:lnTo>
                  <a:lnTo>
                    <a:pt x="0" y="1903730"/>
                  </a:lnTo>
                  <a:lnTo>
                    <a:pt x="4251325" y="1903730"/>
                  </a:lnTo>
                  <a:lnTo>
                    <a:pt x="4251325" y="1894840"/>
                  </a:lnTo>
                  <a:lnTo>
                    <a:pt x="9144" y="1894840"/>
                  </a:lnTo>
                  <a:lnTo>
                    <a:pt x="9144" y="8890"/>
                  </a:lnTo>
                  <a:lnTo>
                    <a:pt x="4251325" y="8890"/>
                  </a:lnTo>
                  <a:lnTo>
                    <a:pt x="4251325" y="0"/>
                  </a:lnTo>
                  <a:close/>
                </a:path>
                <a:path w="4260850" h="1903729">
                  <a:moveTo>
                    <a:pt x="4260596" y="0"/>
                  </a:moveTo>
                  <a:lnTo>
                    <a:pt x="4251452" y="0"/>
                  </a:lnTo>
                  <a:lnTo>
                    <a:pt x="4251452" y="1903730"/>
                  </a:lnTo>
                  <a:lnTo>
                    <a:pt x="4260596" y="1903730"/>
                  </a:lnTo>
                  <a:lnTo>
                    <a:pt x="4260596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3309873"/>
            <a:ext cx="4671060" cy="996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Gambar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5.7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 </a:t>
            </a:r>
            <a:r>
              <a:rPr sz="1200" spc="-10" dirty="0">
                <a:latin typeface="Times New Roman"/>
                <a:cs typeface="Times New Roman"/>
              </a:rPr>
              <a:t>forminputmahasiswa.php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43100"/>
              </a:lnSpc>
              <a:tabLst>
                <a:tab pos="297180" algn="l"/>
              </a:tabLst>
            </a:pPr>
            <a:r>
              <a:rPr sz="1200" spc="-25" dirty="0">
                <a:latin typeface="Times New Roman"/>
                <a:cs typeface="Times New Roman"/>
              </a:rPr>
              <a:t>2.</a:t>
            </a:r>
            <a:r>
              <a:rPr sz="1200" dirty="0">
                <a:latin typeface="Times New Roman"/>
                <a:cs typeface="Times New Roman"/>
              </a:rPr>
              <a:t>	Buat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tampilmahasiswa.php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memanggil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input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945632"/>
            <a:ext cx="3538220" cy="8197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46812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tampilmahasiswa.php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b="1" dirty="0">
                <a:latin typeface="Times New Roman"/>
                <a:cs typeface="Times New Roman"/>
              </a:rPr>
              <a:t>Jawaban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latihan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forminputmahasiswa.php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10285" y="596900"/>
            <a:ext cx="4658995" cy="2668270"/>
            <a:chOff x="1010285" y="596900"/>
            <a:chExt cx="4658995" cy="26682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378" y="606171"/>
              <a:ext cx="4638675" cy="26485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0285" y="596899"/>
              <a:ext cx="4658995" cy="2668270"/>
            </a:xfrm>
            <a:custGeom>
              <a:avLst/>
              <a:gdLst/>
              <a:ahLst/>
              <a:cxnLst/>
              <a:rect l="l" t="t" r="r" b="b"/>
              <a:pathLst>
                <a:path w="4658995" h="2668270">
                  <a:moveTo>
                    <a:pt x="4658614" y="0"/>
                  </a:moveTo>
                  <a:lnTo>
                    <a:pt x="4649470" y="0"/>
                  </a:lnTo>
                  <a:lnTo>
                    <a:pt x="4649470" y="8890"/>
                  </a:lnTo>
                  <a:lnTo>
                    <a:pt x="4649470" y="2658110"/>
                  </a:lnTo>
                  <a:lnTo>
                    <a:pt x="9144" y="2658110"/>
                  </a:lnTo>
                  <a:lnTo>
                    <a:pt x="9144" y="8890"/>
                  </a:lnTo>
                  <a:lnTo>
                    <a:pt x="4649470" y="8890"/>
                  </a:lnTo>
                  <a:lnTo>
                    <a:pt x="464947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2658110"/>
                  </a:lnTo>
                  <a:lnTo>
                    <a:pt x="0" y="2668270"/>
                  </a:lnTo>
                  <a:lnTo>
                    <a:pt x="4658614" y="2668270"/>
                  </a:lnTo>
                  <a:lnTo>
                    <a:pt x="4658614" y="2658491"/>
                  </a:lnTo>
                  <a:lnTo>
                    <a:pt x="4658614" y="2658110"/>
                  </a:lnTo>
                  <a:lnTo>
                    <a:pt x="4658614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04314" y="4390263"/>
            <a:ext cx="3399790" cy="1597660"/>
            <a:chOff x="1504314" y="4390263"/>
            <a:chExt cx="3399790" cy="15976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077" y="4398518"/>
              <a:ext cx="3380104" cy="157861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04315" y="4390262"/>
              <a:ext cx="3399790" cy="1597660"/>
            </a:xfrm>
            <a:custGeom>
              <a:avLst/>
              <a:gdLst/>
              <a:ahLst/>
              <a:cxnLst/>
              <a:rect l="l" t="t" r="r" b="b"/>
              <a:pathLst>
                <a:path w="3399790" h="1597660">
                  <a:moveTo>
                    <a:pt x="911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18" y="9144"/>
                  </a:lnTo>
                  <a:lnTo>
                    <a:pt x="9118" y="0"/>
                  </a:lnTo>
                  <a:close/>
                </a:path>
                <a:path w="3399790" h="1597660">
                  <a:moveTo>
                    <a:pt x="3390265" y="1588389"/>
                  </a:moveTo>
                  <a:lnTo>
                    <a:pt x="9144" y="1588389"/>
                  </a:lnTo>
                  <a:lnTo>
                    <a:pt x="9144" y="9271"/>
                  </a:lnTo>
                  <a:lnTo>
                    <a:pt x="0" y="9271"/>
                  </a:lnTo>
                  <a:lnTo>
                    <a:pt x="0" y="1597533"/>
                  </a:lnTo>
                  <a:lnTo>
                    <a:pt x="9144" y="1597533"/>
                  </a:lnTo>
                  <a:lnTo>
                    <a:pt x="3390265" y="1597533"/>
                  </a:lnTo>
                  <a:lnTo>
                    <a:pt x="3390265" y="1588389"/>
                  </a:lnTo>
                  <a:close/>
                </a:path>
                <a:path w="3399790" h="1597660">
                  <a:moveTo>
                    <a:pt x="3390265" y="0"/>
                  </a:moveTo>
                  <a:lnTo>
                    <a:pt x="9144" y="0"/>
                  </a:lnTo>
                  <a:lnTo>
                    <a:pt x="9144" y="9144"/>
                  </a:lnTo>
                  <a:lnTo>
                    <a:pt x="3390265" y="9144"/>
                  </a:lnTo>
                  <a:lnTo>
                    <a:pt x="3390265" y="0"/>
                  </a:lnTo>
                  <a:close/>
                </a:path>
                <a:path w="3399790" h="1597660">
                  <a:moveTo>
                    <a:pt x="3399536" y="9271"/>
                  </a:moveTo>
                  <a:lnTo>
                    <a:pt x="3390392" y="9271"/>
                  </a:lnTo>
                  <a:lnTo>
                    <a:pt x="3390392" y="1597533"/>
                  </a:lnTo>
                  <a:lnTo>
                    <a:pt x="3399536" y="1597533"/>
                  </a:lnTo>
                  <a:lnTo>
                    <a:pt x="3399536" y="9271"/>
                  </a:lnTo>
                  <a:close/>
                </a:path>
                <a:path w="3399790" h="1597660">
                  <a:moveTo>
                    <a:pt x="3399536" y="0"/>
                  </a:moveTo>
                  <a:lnTo>
                    <a:pt x="3390392" y="0"/>
                  </a:lnTo>
                  <a:lnTo>
                    <a:pt x="3390392" y="9144"/>
                  </a:lnTo>
                  <a:lnTo>
                    <a:pt x="3399536" y="9144"/>
                  </a:lnTo>
                  <a:lnTo>
                    <a:pt x="3399536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6635" y="163195"/>
            <a:ext cx="4322445" cy="7292975"/>
          </a:xfrm>
          <a:custGeom>
            <a:avLst/>
            <a:gdLst/>
            <a:ahLst/>
            <a:cxnLst/>
            <a:rect l="l" t="t" r="r" b="b"/>
            <a:pathLst>
              <a:path w="4322445" h="7292975">
                <a:moveTo>
                  <a:pt x="4322445" y="0"/>
                </a:moveTo>
                <a:lnTo>
                  <a:pt x="0" y="0"/>
                </a:lnTo>
                <a:lnTo>
                  <a:pt x="0" y="7292975"/>
                </a:lnTo>
                <a:lnTo>
                  <a:pt x="4322445" y="7292975"/>
                </a:lnTo>
                <a:lnTo>
                  <a:pt x="432244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327" y="180340"/>
            <a:ext cx="4131310" cy="7221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&lt;title&gt;Input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Mahasiswa&lt;/title&gt;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&lt;body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bgcolor="green"&gt;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&lt;form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action="tampilmahasiswa.php"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method="post"&gt;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&lt;b&gt;Pengelolaan</a:t>
            </a:r>
            <a:r>
              <a:rPr sz="1200" dirty="0">
                <a:latin typeface="Times New Roman"/>
                <a:cs typeface="Times New Roman"/>
              </a:rPr>
              <a:t> Data </a:t>
            </a:r>
            <a:r>
              <a:rPr sz="1200" spc="-10" dirty="0">
                <a:latin typeface="Times New Roman"/>
                <a:cs typeface="Times New Roman"/>
              </a:rPr>
              <a:t>Mahasiswa&lt;/b&gt;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&lt;br&gt;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&lt;pre&gt;</a:t>
            </a:r>
            <a:endParaRPr sz="1200">
              <a:latin typeface="Times New Roman"/>
              <a:cs typeface="Times New Roman"/>
            </a:endParaRPr>
          </a:p>
          <a:p>
            <a:pPr marL="12700" marR="96266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type="text"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name="nama"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size="25" maxlength="50"&gt;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Alamat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type="text"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name="alamat"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size="25"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maxlength="50"&gt;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&lt;/pre&gt;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Kelamin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17526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type="radio"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name="jeniskel" value="Laki-</a:t>
            </a:r>
            <a:r>
              <a:rPr sz="1200" dirty="0">
                <a:latin typeface="Times New Roman"/>
                <a:cs typeface="Times New Roman"/>
              </a:rPr>
              <a:t>Laki"&gt;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Laki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- </a:t>
            </a:r>
            <a:r>
              <a:rPr sz="1200" spc="-20" dirty="0">
                <a:latin typeface="Times New Roman"/>
                <a:cs typeface="Times New Roman"/>
              </a:rPr>
              <a:t>Laki</a:t>
            </a:r>
            <a:endParaRPr sz="1200">
              <a:latin typeface="Times New Roman"/>
              <a:cs typeface="Times New Roman"/>
            </a:endParaRPr>
          </a:p>
          <a:p>
            <a:pPr marL="12700" marR="50482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&lt;input type="radio"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name="jeniskel"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value="Perempuan"&gt; Perempuan</a:t>
            </a:r>
            <a:endParaRPr sz="1200">
              <a:latin typeface="Times New Roman"/>
              <a:cs typeface="Times New Roman"/>
            </a:endParaRPr>
          </a:p>
          <a:p>
            <a:pPr marL="12700" marR="3439160">
              <a:lnSpc>
                <a:spcPts val="1380"/>
              </a:lnSpc>
              <a:spcBef>
                <a:spcPts val="5"/>
              </a:spcBef>
            </a:pPr>
            <a:r>
              <a:rPr sz="1200" spc="-25" dirty="0">
                <a:latin typeface="Times New Roman"/>
                <a:cs typeface="Times New Roman"/>
              </a:rPr>
              <a:t>&lt;p&gt; </a:t>
            </a:r>
            <a:r>
              <a:rPr sz="1200" spc="-10" dirty="0">
                <a:latin typeface="Times New Roman"/>
                <a:cs typeface="Times New Roman"/>
              </a:rPr>
              <a:t>Pekerjaan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20"/>
              </a:lnSpc>
            </a:pPr>
            <a:r>
              <a:rPr sz="1200" spc="-10" dirty="0">
                <a:latin typeface="Times New Roman"/>
                <a:cs typeface="Times New Roman"/>
              </a:rPr>
              <a:t>&lt;select name="pekerjaan"&gt;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value="-Pilih-</a:t>
            </a:r>
            <a:r>
              <a:rPr sz="1200" spc="-25" dirty="0">
                <a:latin typeface="Times New Roman"/>
                <a:cs typeface="Times New Roman"/>
              </a:rPr>
              <a:t>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value="Pelajar"&gt;Pelajar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value="Karyawan"&gt;Karyawan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value="Wirausaha"&gt;Wirausaha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&lt;option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value="Lain-lain"&gt;Lain-</a:t>
            </a:r>
            <a:r>
              <a:rPr sz="1200" spc="-20" dirty="0">
                <a:latin typeface="Times New Roman"/>
                <a:cs typeface="Times New Roman"/>
              </a:rPr>
              <a:t>lain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&lt;/select&gt;</a:t>
            </a:r>
            <a:endParaRPr sz="1200">
              <a:latin typeface="Times New Roman"/>
              <a:cs typeface="Times New Roman"/>
            </a:endParaRPr>
          </a:p>
          <a:p>
            <a:pPr marL="12700" marR="3735070">
              <a:lnSpc>
                <a:spcPts val="1380"/>
              </a:lnSpc>
              <a:spcBef>
                <a:spcPts val="65"/>
              </a:spcBef>
            </a:pPr>
            <a:r>
              <a:rPr sz="1200" spc="-25" dirty="0">
                <a:latin typeface="Times New Roman"/>
                <a:cs typeface="Times New Roman"/>
              </a:rPr>
              <a:t>&lt;p&gt; </a:t>
            </a:r>
            <a:r>
              <a:rPr sz="1200" dirty="0">
                <a:latin typeface="Times New Roman"/>
                <a:cs typeface="Times New Roman"/>
              </a:rPr>
              <a:t>Hobi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1710689">
              <a:lnSpc>
                <a:spcPts val="138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&lt;input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type="checkbox"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name="hobi1" value="Olahraga"&gt;Olahraga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type="checkbox"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name="hobi2"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value="Musik"&gt;Musik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&lt;input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type="checkbox"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name="hobi3"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value="Jalan-Jalan"&gt;Jalan- Jalan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spc="-25" dirty="0">
                <a:latin typeface="Times New Roman"/>
                <a:cs typeface="Times New Roman"/>
              </a:rPr>
              <a:t>&lt;p&gt;</a:t>
            </a:r>
            <a:endParaRPr sz="1200">
              <a:latin typeface="Times New Roman"/>
              <a:cs typeface="Times New Roman"/>
            </a:endParaRPr>
          </a:p>
          <a:p>
            <a:pPr marL="12700" marR="57912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&lt;input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type="submit"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value="Kirim"&gt;&lt;input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type="reset" value="Batal"&gt;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&lt;/form&gt;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7925" y="1007110"/>
            <a:ext cx="4579620" cy="6251575"/>
          </a:xfrm>
          <a:custGeom>
            <a:avLst/>
            <a:gdLst/>
            <a:ahLst/>
            <a:cxnLst/>
            <a:rect l="l" t="t" r="r" b="b"/>
            <a:pathLst>
              <a:path w="4579620" h="6251575">
                <a:moveTo>
                  <a:pt x="4579620" y="0"/>
                </a:moveTo>
                <a:lnTo>
                  <a:pt x="0" y="0"/>
                </a:lnTo>
                <a:lnTo>
                  <a:pt x="0" y="6251575"/>
                </a:lnTo>
                <a:lnTo>
                  <a:pt x="4579620" y="6251575"/>
                </a:lnTo>
                <a:lnTo>
                  <a:pt x="457962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68717" y="568959"/>
            <a:ext cx="4309745" cy="658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tampilmahasiswa.php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6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48514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Mahasiswa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&lt;/title&gt;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10"/>
              </a:lnSpc>
              <a:spcBef>
                <a:spcPts val="1325"/>
              </a:spcBef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$nama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=$_POST['nama'];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$alamat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=$_POST['alamat'];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$jeniskel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=$_POST['jeniskel'];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$pekerjaan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=$_POST['pekerjaan'];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$hobi1=$_POST['hobi1'];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$hobi2=$_POST['hobi2'];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$hobi3=$_POST['hobi3'];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1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10"/>
              </a:lnSpc>
              <a:spcBef>
                <a:spcPts val="1320"/>
              </a:spcBef>
            </a:pPr>
            <a:r>
              <a:rPr sz="1200" dirty="0">
                <a:latin typeface="Times New Roman"/>
                <a:cs typeface="Times New Roman"/>
              </a:rPr>
              <a:t>&lt;table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border=1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bgcolor="Cyan"&gt;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&lt;tr&gt;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&lt;td colspan=2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align="center"&gt;&lt;b&gt;Data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Mahasiswa&lt;/b&gt;&lt;/td&gt;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&lt;tr&gt;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&lt;td&gt;Nama&lt;/td&gt;&lt;td&gt;&lt;?php</a:t>
            </a:r>
            <a:r>
              <a:rPr sz="1200" dirty="0">
                <a:latin typeface="Times New Roman"/>
                <a:cs typeface="Times New Roman"/>
              </a:rPr>
              <a:t> echo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$nama;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?&gt;&lt;/td&gt;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&lt;td&gt;Alamat&lt;/td&gt;&lt;td&gt;&lt;?php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$alamat;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?&gt;&lt;/td&gt;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65"/>
              </a:lnSpc>
            </a:pPr>
            <a:r>
              <a:rPr sz="1200" dirty="0">
                <a:latin typeface="Times New Roman"/>
                <a:cs typeface="Times New Roman"/>
              </a:rPr>
              <a:t>&lt;td&gt;Jenis</a:t>
            </a:r>
            <a:r>
              <a:rPr sz="1200" spc="-10" dirty="0">
                <a:latin typeface="Times New Roman"/>
                <a:cs typeface="Times New Roman"/>
              </a:rPr>
              <a:t> Kelamin&lt;/td&gt;&lt;td&gt;&lt;?php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$jeniskel;</a:t>
            </a:r>
            <a:r>
              <a:rPr sz="1200" spc="-10" dirty="0">
                <a:latin typeface="Times New Roman"/>
                <a:cs typeface="Times New Roman"/>
              </a:rPr>
              <a:t> ?&gt;&lt;/td&gt;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70"/>
              </a:lnSpc>
            </a:pPr>
            <a:r>
              <a:rPr sz="1200" spc="-10" dirty="0">
                <a:latin typeface="Times New Roman"/>
                <a:cs typeface="Times New Roman"/>
              </a:rPr>
              <a:t>&lt;/tr&gt;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&lt;td&gt;Pekerjaan&lt;/td&gt;&lt;td&gt;&lt;?php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$pekerjaan;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?&gt;&lt;/td&gt;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&lt;/tr&gt;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&lt;td&gt;Hobi&lt;/td&gt;&lt;td&gt;&lt;?php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$hobi1,",",$hobi2,",",$hobi3;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?&gt;&lt;/td&gt;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&lt;/tr&gt;&lt;/table&gt;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&lt;a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href="forminputmahasiswa.php"&gt;INPUT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LAGI&lt;/a&gt;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35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27305">
              <a:lnSpc>
                <a:spcPts val="143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480059"/>
            <a:ext cx="4706620" cy="7221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8620" marR="1668780" indent="11430" algn="ctr">
              <a:lnSpc>
                <a:spcPct val="1435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BAB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VI </a:t>
            </a:r>
            <a:r>
              <a:rPr sz="1400" b="1" spc="-20" dirty="0">
                <a:latin typeface="Times New Roman"/>
                <a:cs typeface="Times New Roman"/>
              </a:rPr>
              <a:t>PERCABANGAN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Deskripsi: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spc="-10" dirty="0">
                <a:latin typeface="Times New Roman"/>
                <a:cs typeface="Times New Roman"/>
              </a:rPr>
              <a:t>Membahas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Tujuan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Pembelajaran:</a:t>
            </a:r>
            <a:endParaRPr sz="1200">
              <a:latin typeface="Times New Roman"/>
              <a:cs typeface="Times New Roman"/>
            </a:endParaRPr>
          </a:p>
          <a:p>
            <a:pPr marL="12700" marR="165735">
              <a:lnSpc>
                <a:spcPts val="207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memahami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pokok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bab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diharapkan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mahasiswa mampu:</a:t>
            </a: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28448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tunggal</a:t>
            </a: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28448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else</a:t>
            </a: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8448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percabangan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majemuk</a:t>
            </a: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28448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switch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6.1</a:t>
            </a:r>
            <a:r>
              <a:rPr sz="1200" b="1" spc="280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Pernyataan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Seleksi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ts val="207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Sebagian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besar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mengandung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pernyataan </a:t>
            </a:r>
            <a:r>
              <a:rPr sz="1200" dirty="0">
                <a:latin typeface="Times New Roman"/>
                <a:cs typeface="Times New Roman"/>
              </a:rPr>
              <a:t>seleksi.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dasarnya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seleksi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mekanisme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menjelaskan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apakah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dikerjakan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tidak,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hal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ini </a:t>
            </a:r>
            <a:r>
              <a:rPr sz="1200" dirty="0">
                <a:latin typeface="Times New Roman"/>
                <a:cs typeface="Times New Roman"/>
              </a:rPr>
              <a:t>tergantung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dirumuskan.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PHP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seleksi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diterapkan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Switch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buAutoNum type="alphaLcPeriod"/>
              <a:tabLst>
                <a:tab pos="284480" algn="l"/>
              </a:tabLst>
            </a:pPr>
            <a:r>
              <a:rPr sz="1200" b="1" dirty="0">
                <a:latin typeface="Times New Roman"/>
                <a:cs typeface="Times New Roman"/>
              </a:rPr>
              <a:t>Statement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35" dirty="0">
                <a:latin typeface="Times New Roman"/>
                <a:cs typeface="Times New Roman"/>
              </a:rPr>
              <a:t>IF</a:t>
            </a:r>
            <a:endParaRPr sz="1200">
              <a:latin typeface="Times New Roman"/>
              <a:cs typeface="Times New Roman"/>
            </a:endParaRPr>
          </a:p>
          <a:p>
            <a:pPr marL="284480" lvl="1" indent="-27178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84480" algn="l"/>
              </a:tabLst>
            </a:pP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Tunggal</a:t>
            </a:r>
            <a:endParaRPr sz="1200">
              <a:latin typeface="Times New Roman"/>
              <a:cs typeface="Times New Roman"/>
            </a:endParaRPr>
          </a:p>
          <a:p>
            <a:pPr marL="12700" marR="7620" indent="457200">
              <a:lnSpc>
                <a:spcPts val="206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penting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pasti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terdapat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semua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pemrograman.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berguna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membuat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spc="-10" dirty="0">
                <a:latin typeface="Times New Roman"/>
                <a:cs typeface="Times New Roman"/>
              </a:rPr>
              <a:t>percabangan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berdasarkan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tertentu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dipenuhi.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8717" y="7756842"/>
            <a:ext cx="8870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umun: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7420" y="7766869"/>
            <a:ext cx="1151255" cy="7715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305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65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statement;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1580" y="4610100"/>
            <a:ext cx="4207510" cy="2980055"/>
          </a:xfrm>
          <a:custGeom>
            <a:avLst/>
            <a:gdLst/>
            <a:ahLst/>
            <a:cxnLst/>
            <a:rect l="l" t="t" r="r" b="b"/>
            <a:pathLst>
              <a:path w="4207510" h="2980054">
                <a:moveTo>
                  <a:pt x="4207510" y="0"/>
                </a:moveTo>
                <a:lnTo>
                  <a:pt x="0" y="0"/>
                </a:lnTo>
                <a:lnTo>
                  <a:pt x="0" y="2980055"/>
                </a:lnTo>
                <a:lnTo>
                  <a:pt x="4207510" y="2980055"/>
                </a:lnTo>
                <a:lnTo>
                  <a:pt x="420751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1200" y="4250054"/>
            <a:ext cx="4561205" cy="300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  <a:p>
            <a:pPr marL="518159">
              <a:lnSpc>
                <a:spcPts val="1400"/>
              </a:lnSpc>
              <a:spcBef>
                <a:spcPts val="120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518159">
              <a:lnSpc>
                <a:spcPts val="136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97536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ELSE&lt;/title&gt;</a:t>
            </a:r>
            <a:endParaRPr sz="1200">
              <a:latin typeface="Times New Roman"/>
              <a:cs typeface="Times New Roman"/>
            </a:endParaRPr>
          </a:p>
          <a:p>
            <a:pPr marL="518159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518159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74676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$nilai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40;</a:t>
            </a:r>
            <a:endParaRPr sz="1200">
              <a:latin typeface="Times New Roman"/>
              <a:cs typeface="Times New Roman"/>
            </a:endParaRPr>
          </a:p>
          <a:p>
            <a:pPr marL="70866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($nilai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&gt;=</a:t>
            </a:r>
            <a:r>
              <a:rPr sz="1200" spc="-25" dirty="0">
                <a:latin typeface="Times New Roman"/>
                <a:cs typeface="Times New Roman"/>
              </a:rPr>
              <a:t> 60)</a:t>
            </a:r>
            <a:endParaRPr sz="1200">
              <a:latin typeface="Times New Roman"/>
              <a:cs typeface="Times New Roman"/>
            </a:endParaRPr>
          </a:p>
          <a:p>
            <a:pPr marL="670560" marR="394970" indent="38100">
              <a:lnSpc>
                <a:spcPts val="1380"/>
              </a:lnSpc>
              <a:spcBef>
                <a:spcPts val="65"/>
              </a:spcBef>
              <a:tabLst>
                <a:tab pos="971550" algn="l"/>
              </a:tabLst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r>
              <a:rPr sz="1200" dirty="0">
                <a:latin typeface="Times New Roman"/>
                <a:cs typeface="Times New Roman"/>
              </a:rPr>
              <a:t>	echo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"Nilai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$nilai.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Selamat,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Lulus"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 </a:t>
            </a:r>
            <a:r>
              <a:rPr sz="1200" spc="-20" dirty="0">
                <a:latin typeface="Times New Roman"/>
                <a:cs typeface="Times New Roman"/>
              </a:rPr>
              <a:t>else</a:t>
            </a:r>
            <a:endParaRPr sz="1200">
              <a:latin typeface="Times New Roman"/>
              <a:cs typeface="Times New Roman"/>
            </a:endParaRPr>
          </a:p>
          <a:p>
            <a:pPr marL="708660">
              <a:lnSpc>
                <a:spcPts val="1325"/>
              </a:lnSpc>
              <a:tabLst>
                <a:tab pos="971550" algn="l"/>
                <a:tab pos="3947795" algn="l"/>
              </a:tabLst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r>
              <a:rPr sz="1200" dirty="0">
                <a:latin typeface="Times New Roman"/>
                <a:cs typeface="Times New Roman"/>
              </a:rPr>
              <a:t>	echo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$nilai.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Sorry,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-20" dirty="0">
                <a:latin typeface="Times New Roman"/>
                <a:cs typeface="Times New Roman"/>
              </a:rPr>
              <a:t> Tidak</a:t>
            </a:r>
            <a:r>
              <a:rPr sz="1200" dirty="0">
                <a:latin typeface="Times New Roman"/>
                <a:cs typeface="Times New Roman"/>
              </a:rPr>
              <a:t>	Lulus"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594360">
              <a:lnSpc>
                <a:spcPts val="141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518159">
              <a:lnSpc>
                <a:spcPts val="143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518159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490219"/>
            <a:ext cx="4704715" cy="1863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57200" algn="just">
              <a:lnSpc>
                <a:spcPct val="1435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Prinsip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kerjanya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dikerjakan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apabila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bernilai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benar,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sedangkan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salah/FALSE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dikerjakan.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2.</a:t>
            </a:r>
            <a:r>
              <a:rPr sz="1200" b="1" spc="140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Pernyataan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b="1" spc="2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Else</a:t>
            </a:r>
            <a:endParaRPr sz="1200">
              <a:latin typeface="Times New Roman"/>
              <a:cs typeface="Times New Roman"/>
            </a:endParaRPr>
          </a:p>
          <a:p>
            <a:pPr marL="12700" marR="6350" indent="457200" algn="just">
              <a:lnSpc>
                <a:spcPts val="207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ELSE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if.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Else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memberikan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alternatif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apabila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bernilai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2326893"/>
            <a:ext cx="1430020" cy="5537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salah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FALSE.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7589" y="2453513"/>
            <a:ext cx="1635760" cy="150749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290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65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7561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statement_1;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else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75615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statement_2;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485" y="869543"/>
            <a:ext cx="4677410" cy="105323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23900" y="860424"/>
            <a:ext cx="4696460" cy="1190625"/>
          </a:xfrm>
          <a:custGeom>
            <a:avLst/>
            <a:gdLst/>
            <a:ahLst/>
            <a:cxnLst/>
            <a:rect l="l" t="t" r="r" b="b"/>
            <a:pathLst>
              <a:path w="4696460" h="1190625">
                <a:moveTo>
                  <a:pt x="4687189" y="635"/>
                </a:moveTo>
                <a:lnTo>
                  <a:pt x="0" y="635"/>
                </a:lnTo>
                <a:lnTo>
                  <a:pt x="0" y="9525"/>
                </a:lnTo>
                <a:lnTo>
                  <a:pt x="0" y="1181735"/>
                </a:lnTo>
                <a:lnTo>
                  <a:pt x="0" y="1190625"/>
                </a:lnTo>
                <a:lnTo>
                  <a:pt x="4687189" y="1190625"/>
                </a:lnTo>
                <a:lnTo>
                  <a:pt x="4687189" y="1181735"/>
                </a:lnTo>
                <a:lnTo>
                  <a:pt x="9144" y="1181735"/>
                </a:lnTo>
                <a:lnTo>
                  <a:pt x="9144" y="9525"/>
                </a:lnTo>
                <a:lnTo>
                  <a:pt x="4687189" y="9525"/>
                </a:lnTo>
                <a:lnTo>
                  <a:pt x="4687189" y="635"/>
                </a:lnTo>
                <a:close/>
              </a:path>
              <a:path w="4696460" h="1190625">
                <a:moveTo>
                  <a:pt x="4696460" y="0"/>
                </a:moveTo>
                <a:lnTo>
                  <a:pt x="4687316" y="0"/>
                </a:lnTo>
                <a:lnTo>
                  <a:pt x="4687316" y="1190244"/>
                </a:lnTo>
                <a:lnTo>
                  <a:pt x="4696460" y="1190244"/>
                </a:lnTo>
                <a:lnTo>
                  <a:pt x="4696460" y="0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1200" y="568959"/>
            <a:ext cx="2787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2024506"/>
            <a:ext cx="4705985" cy="13455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12268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6.1.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10" dirty="0">
                <a:latin typeface="Times New Roman"/>
                <a:cs typeface="Times New Roman"/>
              </a:rPr>
              <a:t> pernyataan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else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284480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3.</a:t>
            </a:r>
            <a:r>
              <a:rPr sz="1200" b="1" dirty="0">
                <a:latin typeface="Times New Roman"/>
                <a:cs typeface="Times New Roman"/>
              </a:rPr>
              <a:t>	Pernyataan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Majemuk</a:t>
            </a:r>
            <a:endParaRPr sz="1200">
              <a:latin typeface="Times New Roman"/>
              <a:cs typeface="Times New Roman"/>
            </a:endParaRPr>
          </a:p>
          <a:p>
            <a:pPr marL="12700" indent="457200">
              <a:lnSpc>
                <a:spcPct val="100000"/>
              </a:lnSpc>
              <a:spcBef>
                <a:spcPts val="590"/>
              </a:spcBef>
            </a:pP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else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memberikan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alternatif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pilihan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kedua,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maka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ElseIf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merumuskan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banyak alternatif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pilihan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(lebih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pilihan).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8717" y="3425571"/>
            <a:ext cx="972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953" y="6317995"/>
            <a:ext cx="3623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majemuk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500" y="3491103"/>
            <a:ext cx="2407285" cy="281432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300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10" dirty="0">
                <a:latin typeface="Times New Roman"/>
                <a:cs typeface="Times New Roman"/>
              </a:rPr>
              <a:t> kondisi_1)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65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statement_1;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elseif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kondisi_2)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statement_2;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elseif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kondisi_3)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statement_3;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8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else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statement_n;</a:t>
            </a:r>
            <a:endParaRPr sz="1200">
              <a:latin typeface="Times New Roman"/>
              <a:cs typeface="Times New Roman"/>
            </a:endParaRPr>
          </a:p>
          <a:p>
            <a:pPr marL="47498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2029" y="7205319"/>
            <a:ext cx="2400300" cy="92011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3020" rIns="0" bIns="0" rtlCol="0">
            <a:spAutoFit/>
          </a:bodyPr>
          <a:lstStyle/>
          <a:p>
            <a:pPr marL="168275" algn="just">
              <a:lnSpc>
                <a:spcPts val="1405"/>
              </a:lnSpc>
              <a:spcBef>
                <a:spcPts val="260"/>
              </a:spcBef>
            </a:pPr>
            <a:r>
              <a:rPr sz="1200" dirty="0">
                <a:latin typeface="Times New Roman"/>
                <a:cs typeface="Times New Roman"/>
              </a:rPr>
              <a:t>switch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nilai_ekspresi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){</a:t>
            </a:r>
            <a:endParaRPr sz="1200">
              <a:latin typeface="Times New Roman"/>
              <a:cs typeface="Times New Roman"/>
            </a:endParaRPr>
          </a:p>
          <a:p>
            <a:pPr marL="168275" marR="185420" algn="just">
              <a:lnSpc>
                <a:spcPct val="969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nilai_1: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statement_1;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nilai_2: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statement_2;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default: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statement_n;</a:t>
            </a:r>
            <a:r>
              <a:rPr sz="1200" spc="-50" dirty="0">
                <a:latin typeface="Times New Roman"/>
                <a:cs typeface="Times New Roman"/>
              </a:rPr>
              <a:t> }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3900" y="4526915"/>
            <a:ext cx="4734560" cy="1304925"/>
            <a:chOff x="723900" y="4526915"/>
            <a:chExt cx="4734560" cy="1304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85" y="4535424"/>
              <a:ext cx="4715510" cy="11330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3900" y="4526914"/>
              <a:ext cx="4734560" cy="1304925"/>
            </a:xfrm>
            <a:custGeom>
              <a:avLst/>
              <a:gdLst/>
              <a:ahLst/>
              <a:cxnLst/>
              <a:rect l="l" t="t" r="r" b="b"/>
              <a:pathLst>
                <a:path w="4734560" h="1304925">
                  <a:moveTo>
                    <a:pt x="4725289" y="1296035"/>
                  </a:moveTo>
                  <a:lnTo>
                    <a:pt x="9144" y="1296035"/>
                  </a:lnTo>
                  <a:lnTo>
                    <a:pt x="9144" y="9525"/>
                  </a:lnTo>
                  <a:lnTo>
                    <a:pt x="0" y="9525"/>
                  </a:lnTo>
                  <a:lnTo>
                    <a:pt x="0" y="1296035"/>
                  </a:lnTo>
                  <a:lnTo>
                    <a:pt x="0" y="1304925"/>
                  </a:lnTo>
                  <a:lnTo>
                    <a:pt x="4725289" y="1304925"/>
                  </a:lnTo>
                  <a:lnTo>
                    <a:pt x="4725289" y="1296035"/>
                  </a:lnTo>
                  <a:close/>
                </a:path>
                <a:path w="4734560" h="1304925">
                  <a:moveTo>
                    <a:pt x="4725289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725289" y="9144"/>
                  </a:lnTo>
                  <a:lnTo>
                    <a:pt x="4725289" y="0"/>
                  </a:lnTo>
                  <a:close/>
                </a:path>
                <a:path w="4734560" h="1304925">
                  <a:moveTo>
                    <a:pt x="4734560" y="9271"/>
                  </a:moveTo>
                  <a:lnTo>
                    <a:pt x="4725416" y="9271"/>
                  </a:lnTo>
                  <a:lnTo>
                    <a:pt x="4725416" y="1304925"/>
                  </a:lnTo>
                  <a:lnTo>
                    <a:pt x="4734560" y="1304925"/>
                  </a:lnTo>
                  <a:lnTo>
                    <a:pt x="4734560" y="9271"/>
                  </a:lnTo>
                  <a:close/>
                </a:path>
                <a:path w="4734560" h="1304925">
                  <a:moveTo>
                    <a:pt x="4734560" y="0"/>
                  </a:moveTo>
                  <a:lnTo>
                    <a:pt x="4725416" y="0"/>
                  </a:lnTo>
                  <a:lnTo>
                    <a:pt x="4725416" y="9144"/>
                  </a:lnTo>
                  <a:lnTo>
                    <a:pt x="4734560" y="9144"/>
                  </a:lnTo>
                  <a:lnTo>
                    <a:pt x="4734560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1200" y="4236084"/>
            <a:ext cx="3838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majemuk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5805932"/>
            <a:ext cx="4706620" cy="13455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085850" algn="just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6.2.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pernyataan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majemuk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70"/>
              </a:spcBef>
            </a:pPr>
            <a:r>
              <a:rPr sz="1200" b="1" dirty="0">
                <a:latin typeface="Times New Roman"/>
                <a:cs typeface="Times New Roman"/>
              </a:rPr>
              <a:t>b.</a:t>
            </a:r>
            <a:r>
              <a:rPr sz="1200" b="1" spc="265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Statement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Switch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ts val="207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pengatur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alur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berikutnya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switch. </a:t>
            </a:r>
            <a:r>
              <a:rPr sz="1200" dirty="0">
                <a:latin typeface="Times New Roman"/>
                <a:cs typeface="Times New Roman"/>
              </a:rPr>
              <a:t>Salah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keuntungan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switch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langsung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mengevaluasi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satu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memerintahkan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jumlah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banyak.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8717" y="7206868"/>
            <a:ext cx="972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6989" y="203200"/>
            <a:ext cx="3286760" cy="390969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29209" rIns="0" bIns="0" rtlCol="0">
            <a:spAutoFit/>
          </a:bodyPr>
          <a:lstStyle/>
          <a:p>
            <a:pPr marL="91440">
              <a:lnSpc>
                <a:spcPts val="1410"/>
              </a:lnSpc>
              <a:spcBef>
                <a:spcPts val="229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864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Majemuk&lt;/title&gt;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41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410"/>
              </a:lnSpc>
              <a:spcBef>
                <a:spcPts val="1310"/>
              </a:spcBef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3200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$nilai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90;</a:t>
            </a:r>
            <a:endParaRPr sz="1200">
              <a:latin typeface="Times New Roman"/>
              <a:cs typeface="Times New Roman"/>
            </a:endParaRPr>
          </a:p>
          <a:p>
            <a:pPr marL="129539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(($nilai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0)&amp;&amp;($nilai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50))</a:t>
            </a:r>
            <a:endParaRPr sz="1200">
              <a:latin typeface="Times New Roman"/>
              <a:cs typeface="Times New Roman"/>
            </a:endParaRPr>
          </a:p>
          <a:p>
            <a:pPr marL="2819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$grade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="E";}</a:t>
            </a:r>
            <a:endParaRPr sz="1200">
              <a:latin typeface="Times New Roman"/>
              <a:cs typeface="Times New Roman"/>
            </a:endParaRPr>
          </a:p>
          <a:p>
            <a:pPr marL="12953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elseif(($nilai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50)&amp;&amp;($nilai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60))</a:t>
            </a:r>
            <a:endParaRPr sz="1200">
              <a:latin typeface="Times New Roman"/>
              <a:cs typeface="Times New Roman"/>
            </a:endParaRPr>
          </a:p>
          <a:p>
            <a:pPr marL="2819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$grade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="D";}</a:t>
            </a:r>
            <a:endParaRPr sz="1200">
              <a:latin typeface="Times New Roman"/>
              <a:cs typeface="Times New Roman"/>
            </a:endParaRPr>
          </a:p>
          <a:p>
            <a:pPr marL="129539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elseif(($nilai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60)&amp;&amp;($nilai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75))</a:t>
            </a:r>
            <a:endParaRPr sz="1200">
              <a:latin typeface="Times New Roman"/>
              <a:cs typeface="Times New Roman"/>
            </a:endParaRPr>
          </a:p>
          <a:p>
            <a:pPr marL="28194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$grade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="C";}</a:t>
            </a:r>
            <a:endParaRPr sz="1200">
              <a:latin typeface="Times New Roman"/>
              <a:cs typeface="Times New Roman"/>
            </a:endParaRPr>
          </a:p>
          <a:p>
            <a:pPr marL="12953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elseif(($nilai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75)&amp;&amp;($nilai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85))</a:t>
            </a:r>
            <a:endParaRPr sz="1200">
              <a:latin typeface="Times New Roman"/>
              <a:cs typeface="Times New Roman"/>
            </a:endParaRPr>
          </a:p>
          <a:p>
            <a:pPr marL="2819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$grade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="B";}</a:t>
            </a:r>
            <a:endParaRPr sz="1200">
              <a:latin typeface="Times New Roman"/>
              <a:cs typeface="Times New Roman"/>
            </a:endParaRPr>
          </a:p>
          <a:p>
            <a:pPr marL="12953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elseif(($nilai</a:t>
            </a:r>
            <a:r>
              <a:rPr sz="1200" dirty="0">
                <a:latin typeface="Times New Roman"/>
                <a:cs typeface="Times New Roman"/>
              </a:rPr>
              <a:t> &gt;=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85)&amp;&amp;($nilai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100))</a:t>
            </a:r>
            <a:endParaRPr sz="1200">
              <a:latin typeface="Times New Roman"/>
              <a:cs typeface="Times New Roman"/>
            </a:endParaRPr>
          </a:p>
          <a:p>
            <a:pPr marL="129539" marR="2016125" indent="15240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{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$grade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="A";} </a:t>
            </a:r>
            <a:r>
              <a:rPr sz="1200" spc="-20" dirty="0">
                <a:latin typeface="Times New Roman"/>
                <a:cs typeface="Times New Roman"/>
              </a:rPr>
              <a:t>else</a:t>
            </a:r>
            <a:endParaRPr sz="1200">
              <a:latin typeface="Times New Roman"/>
              <a:cs typeface="Times New Roman"/>
            </a:endParaRPr>
          </a:p>
          <a:p>
            <a:pPr marL="91440" marR="407034" indent="1524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{$grade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"Nilai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luar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jangkauan";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$nilai,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dikonversi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menjadi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35"/>
              </a:lnSpc>
            </a:pPr>
            <a:r>
              <a:rPr sz="1200" spc="-10" dirty="0">
                <a:latin typeface="Times New Roman"/>
                <a:cs typeface="Times New Roman"/>
              </a:rPr>
              <a:t>$grade";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43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2429" y="766444"/>
            <a:ext cx="3990975" cy="4505325"/>
          </a:xfrm>
          <a:custGeom>
            <a:avLst/>
            <a:gdLst/>
            <a:ahLst/>
            <a:cxnLst/>
            <a:rect l="l" t="t" r="r" b="b"/>
            <a:pathLst>
              <a:path w="3990975" h="4505325">
                <a:moveTo>
                  <a:pt x="3990975" y="0"/>
                </a:moveTo>
                <a:lnTo>
                  <a:pt x="0" y="0"/>
                </a:lnTo>
                <a:lnTo>
                  <a:pt x="0" y="4505325"/>
                </a:lnTo>
                <a:lnTo>
                  <a:pt x="3990975" y="4505325"/>
                </a:lnTo>
                <a:lnTo>
                  <a:pt x="399097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76" y="5601258"/>
            <a:ext cx="4392295" cy="7761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54710" y="5593079"/>
            <a:ext cx="4411980" cy="838200"/>
          </a:xfrm>
          <a:custGeom>
            <a:avLst/>
            <a:gdLst/>
            <a:ahLst/>
            <a:cxnLst/>
            <a:rect l="l" t="t" r="r" b="b"/>
            <a:pathLst>
              <a:path w="4411980" h="838200">
                <a:moveTo>
                  <a:pt x="4402201" y="0"/>
                </a:moveTo>
                <a:lnTo>
                  <a:pt x="0" y="0"/>
                </a:lnTo>
                <a:lnTo>
                  <a:pt x="0" y="8890"/>
                </a:lnTo>
                <a:lnTo>
                  <a:pt x="0" y="829310"/>
                </a:lnTo>
                <a:lnTo>
                  <a:pt x="0" y="838200"/>
                </a:lnTo>
                <a:lnTo>
                  <a:pt x="4402201" y="838200"/>
                </a:lnTo>
                <a:lnTo>
                  <a:pt x="4402201" y="829310"/>
                </a:lnTo>
                <a:lnTo>
                  <a:pt x="9144" y="829310"/>
                </a:lnTo>
                <a:lnTo>
                  <a:pt x="9144" y="8890"/>
                </a:lnTo>
                <a:lnTo>
                  <a:pt x="4402201" y="8890"/>
                </a:lnTo>
                <a:lnTo>
                  <a:pt x="4402201" y="0"/>
                </a:lnTo>
                <a:close/>
              </a:path>
              <a:path w="4411980" h="838200">
                <a:moveTo>
                  <a:pt x="4411472" y="0"/>
                </a:moveTo>
                <a:lnTo>
                  <a:pt x="4402328" y="0"/>
                </a:lnTo>
                <a:lnTo>
                  <a:pt x="4402328" y="838200"/>
                </a:lnTo>
                <a:lnTo>
                  <a:pt x="4411472" y="838200"/>
                </a:lnTo>
                <a:lnTo>
                  <a:pt x="4411472" y="0"/>
                </a:lnTo>
                <a:close/>
              </a:path>
            </a:pathLst>
          </a:custGeom>
          <a:solidFill>
            <a:srgbClr val="006E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1200" y="537209"/>
            <a:ext cx="4695190" cy="49726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Switch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410"/>
              </a:lnSpc>
              <a:spcBef>
                <a:spcPts val="25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14998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Majemuk&lt;/title&gt;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1271270" marR="237553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$angka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6; </a:t>
            </a:r>
            <a:r>
              <a:rPr sz="1200" spc="-10" dirty="0">
                <a:latin typeface="Times New Roman"/>
                <a:cs typeface="Times New Roman"/>
              </a:rPr>
              <a:t>switch($angka)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138557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"NOL";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</a:t>
            </a:r>
            <a:endParaRPr sz="1200">
              <a:latin typeface="Times New Roman"/>
              <a:cs typeface="Times New Roman"/>
            </a:endParaRPr>
          </a:p>
          <a:p>
            <a:pPr marL="1385570" marR="947419">
              <a:lnSpc>
                <a:spcPct val="958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"SATU";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"DUA";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"TIGA";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"EMPAT";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"LIMA";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"ENAM";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"TUJUH";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</a:t>
            </a:r>
            <a:endParaRPr sz="1200">
              <a:latin typeface="Times New Roman"/>
              <a:cs typeface="Times New Roman"/>
            </a:endParaRPr>
          </a:p>
          <a:p>
            <a:pPr marL="1385570" marR="671830">
              <a:lnSpc>
                <a:spcPts val="1370"/>
              </a:lnSpc>
              <a:spcBef>
                <a:spcPts val="55"/>
              </a:spcBef>
            </a:pP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"DELAPAN";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"SEMBILAN";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</a:t>
            </a:r>
            <a:endParaRPr sz="1200">
              <a:latin typeface="Times New Roman"/>
              <a:cs typeface="Times New Roman"/>
            </a:endParaRPr>
          </a:p>
          <a:p>
            <a:pPr marL="138557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"Nilai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luar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jangkauan";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"Bentuk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Terbilang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$angka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$terbilang";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38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042669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switch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930" y="6408292"/>
            <a:ext cx="3833495" cy="10795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99210">
              <a:lnSpc>
                <a:spcPct val="100000"/>
              </a:lnSpc>
              <a:spcBef>
                <a:spcPts val="745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6.3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switch</a:t>
            </a:r>
            <a:endParaRPr sz="12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50"/>
              </a:spcBef>
            </a:pPr>
            <a:r>
              <a:rPr sz="1200" b="1" spc="-10" dirty="0">
                <a:latin typeface="Times New Roman"/>
                <a:cs typeface="Times New Roman"/>
              </a:rPr>
              <a:t>Latihan</a:t>
            </a:r>
            <a:endParaRPr sz="1200">
              <a:latin typeface="Times New Roman"/>
              <a:cs typeface="Times New Roman"/>
            </a:endParaRPr>
          </a:p>
          <a:p>
            <a:pPr marL="193040" marR="5080" indent="-180975">
              <a:lnSpc>
                <a:spcPts val="2070"/>
              </a:lnSpc>
              <a:spcBef>
                <a:spcPts val="80"/>
              </a:spcBef>
            </a:pPr>
            <a:r>
              <a:rPr sz="1200" spc="-10" dirty="0">
                <a:latin typeface="Times New Roman"/>
                <a:cs typeface="Times New Roman"/>
              </a:rPr>
              <a:t>Buatlah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skrip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mendapatkan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Tampilan</a:t>
            </a:r>
            <a:r>
              <a:rPr sz="1200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input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0587" y="2350007"/>
            <a:ext cx="371094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87400">
              <a:lnSpc>
                <a:spcPct val="1437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6.4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Rancangan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Latihan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Tampilan</a:t>
            </a:r>
            <a:r>
              <a:rPr sz="1200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020829"/>
            <a:ext cx="4501515" cy="151828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85420" algn="ctr">
              <a:lnSpc>
                <a:spcPct val="100000"/>
              </a:lnSpc>
              <a:spcBef>
                <a:spcPts val="83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6.5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Rancangan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Latihan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100" b="1" spc="-10" dirty="0">
                <a:latin typeface="Arial"/>
                <a:cs typeface="Arial"/>
              </a:rPr>
              <a:t>Ketentuan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Soal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469900" marR="5080" indent="-33020">
              <a:lnSpc>
                <a:spcPts val="1900"/>
              </a:lnSpc>
              <a:spcBef>
                <a:spcPts val="160"/>
              </a:spcBef>
            </a:pPr>
            <a:r>
              <a:rPr sz="1100" dirty="0">
                <a:latin typeface="Arial MT"/>
                <a:cs typeface="Arial MT"/>
              </a:rPr>
              <a:t>Jika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ipk&gt;=3.0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keterangannya=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mendapat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beasiswa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sebesar </a:t>
            </a:r>
            <a:r>
              <a:rPr sz="1100" dirty="0">
                <a:latin typeface="Arial MT"/>
                <a:cs typeface="Arial MT"/>
              </a:rPr>
              <a:t>Rp.1000.000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“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sz="1100" spc="-10" dirty="0">
                <a:latin typeface="Arial MT"/>
                <a:cs typeface="Arial MT"/>
              </a:rPr>
              <a:t>Selain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tidak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10" dirty="0">
                <a:latin typeface="Arial MT"/>
                <a:cs typeface="Arial MT"/>
              </a:rPr>
              <a:t> beasiswa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1100" dirty="0">
                <a:latin typeface="Arial MT"/>
                <a:cs typeface="Arial MT"/>
              </a:rPr>
              <a:t>Jika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klik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Kembali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Awal</a:t>
            </a:r>
            <a:r>
              <a:rPr sz="1100" b="1" spc="3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kembali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halaman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input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864" y="5670043"/>
            <a:ext cx="114298" cy="1066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6392670"/>
            <a:ext cx="113623" cy="10604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03605" y="596900"/>
            <a:ext cx="4505960" cy="1790064"/>
            <a:chOff x="903605" y="596900"/>
            <a:chExt cx="4505960" cy="179006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698" y="606171"/>
              <a:ext cx="4486275" cy="17175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03605" y="596899"/>
              <a:ext cx="4505960" cy="1790064"/>
            </a:xfrm>
            <a:custGeom>
              <a:avLst/>
              <a:gdLst/>
              <a:ahLst/>
              <a:cxnLst/>
              <a:rect l="l" t="t" r="r" b="b"/>
              <a:pathLst>
                <a:path w="4505960" h="1790064">
                  <a:moveTo>
                    <a:pt x="449668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80540"/>
                  </a:lnTo>
                  <a:lnTo>
                    <a:pt x="0" y="1789430"/>
                  </a:lnTo>
                  <a:lnTo>
                    <a:pt x="4496689" y="1789430"/>
                  </a:lnTo>
                  <a:lnTo>
                    <a:pt x="4496689" y="1780540"/>
                  </a:lnTo>
                  <a:lnTo>
                    <a:pt x="9144" y="1780540"/>
                  </a:lnTo>
                  <a:lnTo>
                    <a:pt x="9144" y="8890"/>
                  </a:lnTo>
                  <a:lnTo>
                    <a:pt x="4496689" y="8890"/>
                  </a:lnTo>
                  <a:lnTo>
                    <a:pt x="4496689" y="0"/>
                  </a:lnTo>
                  <a:close/>
                </a:path>
                <a:path w="4505960" h="1790064">
                  <a:moveTo>
                    <a:pt x="4505960" y="0"/>
                  </a:moveTo>
                  <a:lnTo>
                    <a:pt x="4496816" y="0"/>
                  </a:lnTo>
                  <a:lnTo>
                    <a:pt x="4496816" y="1789811"/>
                  </a:lnTo>
                  <a:lnTo>
                    <a:pt x="4505960" y="1789811"/>
                  </a:lnTo>
                  <a:lnTo>
                    <a:pt x="4505960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68680" y="2985770"/>
            <a:ext cx="4385945" cy="2085339"/>
            <a:chOff x="868680" y="2985770"/>
            <a:chExt cx="4385945" cy="208533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265" y="2994533"/>
              <a:ext cx="4366259" cy="19196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8680" y="2985769"/>
              <a:ext cx="4385945" cy="2085339"/>
            </a:xfrm>
            <a:custGeom>
              <a:avLst/>
              <a:gdLst/>
              <a:ahLst/>
              <a:cxnLst/>
              <a:rect l="l" t="t" r="r" b="b"/>
              <a:pathLst>
                <a:path w="4385945" h="2085339">
                  <a:moveTo>
                    <a:pt x="9131" y="0"/>
                  </a:moveTo>
                  <a:lnTo>
                    <a:pt x="0" y="0"/>
                  </a:lnTo>
                  <a:lnTo>
                    <a:pt x="0" y="2085086"/>
                  </a:lnTo>
                  <a:lnTo>
                    <a:pt x="9131" y="2085086"/>
                  </a:lnTo>
                  <a:lnTo>
                    <a:pt x="9131" y="0"/>
                  </a:lnTo>
                  <a:close/>
                </a:path>
                <a:path w="4385945" h="2085339">
                  <a:moveTo>
                    <a:pt x="4376293" y="2075942"/>
                  </a:moveTo>
                  <a:lnTo>
                    <a:pt x="9144" y="2075942"/>
                  </a:lnTo>
                  <a:lnTo>
                    <a:pt x="9144" y="2085086"/>
                  </a:lnTo>
                  <a:lnTo>
                    <a:pt x="4376293" y="2085086"/>
                  </a:lnTo>
                  <a:lnTo>
                    <a:pt x="4376293" y="2075942"/>
                  </a:lnTo>
                  <a:close/>
                </a:path>
                <a:path w="4385945" h="2085339">
                  <a:moveTo>
                    <a:pt x="4376293" y="0"/>
                  </a:moveTo>
                  <a:lnTo>
                    <a:pt x="9144" y="0"/>
                  </a:lnTo>
                  <a:lnTo>
                    <a:pt x="9144" y="9144"/>
                  </a:lnTo>
                  <a:lnTo>
                    <a:pt x="4376293" y="9144"/>
                  </a:lnTo>
                  <a:lnTo>
                    <a:pt x="4376293" y="0"/>
                  </a:lnTo>
                  <a:close/>
                </a:path>
                <a:path w="4385945" h="2085339">
                  <a:moveTo>
                    <a:pt x="4385564" y="0"/>
                  </a:moveTo>
                  <a:lnTo>
                    <a:pt x="4376420" y="0"/>
                  </a:lnTo>
                  <a:lnTo>
                    <a:pt x="4376420" y="2085086"/>
                  </a:lnTo>
                  <a:lnTo>
                    <a:pt x="4385564" y="2085086"/>
                  </a:lnTo>
                  <a:lnTo>
                    <a:pt x="4385564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34" y="5199379"/>
            <a:ext cx="1898650" cy="24663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075">
              <a:lnSpc>
                <a:spcPts val="1410"/>
              </a:lnSpc>
              <a:spcBef>
                <a:spcPts val="254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3587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&lt;title&gt;Beasiswa&lt;/title&gt;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2075" marR="363855" indent="19050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&lt;h2&gt;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Penerima Beasiswa&lt;/h2&gt;</a:t>
            </a:r>
            <a:endParaRPr sz="1200">
              <a:latin typeface="Times New Roman"/>
              <a:cs typeface="Times New Roman"/>
            </a:endParaRPr>
          </a:p>
          <a:p>
            <a:pPr marL="130175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&lt;pre&gt;</a:t>
            </a:r>
            <a:endParaRPr sz="1200">
              <a:latin typeface="Times New Roman"/>
              <a:cs typeface="Times New Roman"/>
            </a:endParaRPr>
          </a:p>
          <a:p>
            <a:pPr marL="1301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1301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$nama=$_POST["nama"];</a:t>
            </a:r>
            <a:endParaRPr sz="1200">
              <a:latin typeface="Times New Roman"/>
              <a:cs typeface="Times New Roman"/>
            </a:endParaRPr>
          </a:p>
          <a:p>
            <a:pPr marL="1301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$nim=$_POST["nim"];</a:t>
            </a:r>
            <a:endParaRPr sz="1200">
              <a:latin typeface="Times New Roman"/>
              <a:cs typeface="Times New Roman"/>
            </a:endParaRPr>
          </a:p>
          <a:p>
            <a:pPr marL="130175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$kelas=$_POST["kelas"];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425"/>
              </a:lnSpc>
              <a:spcBef>
                <a:spcPts val="1120"/>
              </a:spcBef>
            </a:pPr>
            <a:r>
              <a:rPr sz="1200" spc="-10" dirty="0">
                <a:latin typeface="Times New Roman"/>
                <a:cs typeface="Times New Roman"/>
              </a:rPr>
              <a:t>$jurusan=$_POST["jurusan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490219"/>
            <a:ext cx="1412240" cy="5486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Jawaban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latihan: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Tampilan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input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0117" y="4892675"/>
            <a:ext cx="1668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140" y="1033780"/>
            <a:ext cx="3902075" cy="383032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ts val="1405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35814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&lt;title&gt;Info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Beasiswa&lt;/title&gt;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2438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&lt;form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action="beasiswa_output.php"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method="post"&gt;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&lt;h2&gt;PENERIMAAN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BEASISWA&lt;/h2&gt;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&lt;pre&gt;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  <a:tabLst>
                <a:tab pos="1463040" algn="l"/>
              </a:tabLst>
            </a:pPr>
            <a:r>
              <a:rPr sz="1200" spc="-20" dirty="0">
                <a:latin typeface="Times New Roman"/>
                <a:cs typeface="Times New Roman"/>
              </a:rPr>
              <a:t>Nama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type="text"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name="nama"&gt;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  <a:tabLst>
                <a:tab pos="1463040" algn="l"/>
              </a:tabLst>
            </a:pPr>
            <a:r>
              <a:rPr sz="1200" spc="-25" dirty="0">
                <a:latin typeface="Times New Roman"/>
                <a:cs typeface="Times New Roman"/>
              </a:rPr>
              <a:t>NIM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type="text"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name="nim"&gt;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  <a:tabLst>
                <a:tab pos="1463040" algn="l"/>
              </a:tabLst>
            </a:pPr>
            <a:r>
              <a:rPr sz="1200" spc="-10" dirty="0">
                <a:latin typeface="Times New Roman"/>
                <a:cs typeface="Times New Roman"/>
              </a:rPr>
              <a:t>Kelas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type="text"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name="kelas"&gt;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  <a:tabLst>
                <a:tab pos="1463040" algn="l"/>
              </a:tabLst>
            </a:pPr>
            <a:r>
              <a:rPr sz="1200" spc="-10" dirty="0">
                <a:latin typeface="Times New Roman"/>
                <a:cs typeface="Times New Roman"/>
              </a:rPr>
              <a:t>Jurusan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&lt;Select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name=jurusan&gt;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value=Sistem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Informasi&gt;SI&lt;/option&gt;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value=Tehnik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Informatika&gt;TI&lt;/option&gt;</a:t>
            </a:r>
            <a:endParaRPr sz="1200">
              <a:latin typeface="Times New Roman"/>
              <a:cs typeface="Times New Roman"/>
            </a:endParaRPr>
          </a:p>
          <a:p>
            <a:pPr marL="2057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&lt;/select&gt;</a:t>
            </a:r>
            <a:endParaRPr sz="1200">
              <a:latin typeface="Times New Roman"/>
              <a:cs typeface="Times New Roman"/>
            </a:endParaRPr>
          </a:p>
          <a:p>
            <a:pPr marL="91440" marR="452755" indent="114300">
              <a:lnSpc>
                <a:spcPts val="1380"/>
              </a:lnSpc>
              <a:spcBef>
                <a:spcPts val="70"/>
              </a:spcBef>
              <a:tabLst>
                <a:tab pos="1463040" algn="l"/>
              </a:tabLst>
            </a:pPr>
            <a:r>
              <a:rPr sz="1200" dirty="0">
                <a:latin typeface="Times New Roman"/>
                <a:cs typeface="Times New Roman"/>
              </a:rPr>
              <a:t>Jenis </a:t>
            </a:r>
            <a:r>
              <a:rPr sz="1200" spc="-10" dirty="0">
                <a:latin typeface="Times New Roman"/>
                <a:cs typeface="Times New Roman"/>
              </a:rPr>
              <a:t>Kelamin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&lt;input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type="radio"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value=Pria name="jekel"&gt;Pria</a:t>
            </a:r>
            <a:endParaRPr sz="1200">
              <a:latin typeface="Times New Roman"/>
              <a:cs typeface="Times New Roman"/>
            </a:endParaRPr>
          </a:p>
          <a:p>
            <a:pPr marL="1539240">
              <a:lnSpc>
                <a:spcPts val="1320"/>
              </a:lnSpc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type="radio"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value=Wanita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name="jekel"&gt;Wanita</a:t>
            </a:r>
            <a:endParaRPr sz="1200">
              <a:latin typeface="Times New Roman"/>
              <a:cs typeface="Times New Roman"/>
            </a:endParaRPr>
          </a:p>
          <a:p>
            <a:pPr marL="91440" marR="801370" indent="114300">
              <a:lnSpc>
                <a:spcPts val="1410"/>
              </a:lnSpc>
              <a:spcBef>
                <a:spcPts val="40"/>
              </a:spcBef>
              <a:tabLst>
                <a:tab pos="1463040" algn="l"/>
              </a:tabLst>
            </a:pPr>
            <a:r>
              <a:rPr sz="1200" spc="-25" dirty="0">
                <a:latin typeface="Times New Roman"/>
                <a:cs typeface="Times New Roman"/>
              </a:rPr>
              <a:t>IPK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&lt;input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type="text"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size=4 name="ipk"&gt;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6695" y="4929475"/>
            <a:ext cx="3162300" cy="368871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>
              <a:lnSpc>
                <a:spcPts val="1410"/>
              </a:lnSpc>
              <a:spcBef>
                <a:spcPts val="250"/>
              </a:spcBef>
            </a:pPr>
            <a:r>
              <a:rPr sz="1200" spc="-10" dirty="0">
                <a:latin typeface="Times New Roman"/>
                <a:cs typeface="Times New Roman"/>
              </a:rPr>
              <a:t>if($ipk&gt;=3.0)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92710" marR="795655" indent="19050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$ket="Mendapat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beasiswa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sebesar Rp.1.000.000";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2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75"/>
              </a:lnSpc>
            </a:pPr>
            <a:r>
              <a:rPr sz="1200" spc="-20" dirty="0">
                <a:latin typeface="Times New Roman"/>
                <a:cs typeface="Times New Roman"/>
              </a:rPr>
              <a:t>else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9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283210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$ket="Tidak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beasiswa";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2710">
              <a:lnSpc>
                <a:spcPts val="1365"/>
              </a:lnSpc>
              <a:tabLst>
                <a:tab pos="1921510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"Nama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$nama&lt;br&gt;";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65"/>
              </a:lnSpc>
              <a:tabLst>
                <a:tab pos="1921510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"Nim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$nim&lt;br&gt;";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80"/>
              </a:lnSpc>
              <a:tabLst>
                <a:tab pos="1921510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"Kelas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$kelas&lt;br&gt;";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80"/>
              </a:lnSpc>
              <a:tabLst>
                <a:tab pos="1921510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"Jurusan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$jurusan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&lt;br&gt;";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80"/>
              </a:lnSpc>
              <a:tabLst>
                <a:tab pos="1921510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"Jenis</a:t>
            </a:r>
            <a:r>
              <a:rPr sz="1200" spc="-10" dirty="0">
                <a:latin typeface="Times New Roman"/>
                <a:cs typeface="Times New Roman"/>
              </a:rPr>
              <a:t> kelamin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$jekel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&lt;br&gt;";</a:t>
            </a:r>
            <a:endParaRPr sz="1200">
              <a:latin typeface="Times New Roman"/>
              <a:cs typeface="Times New Roman"/>
            </a:endParaRPr>
          </a:p>
          <a:p>
            <a:pPr marL="130810" marR="478155">
              <a:lnSpc>
                <a:spcPts val="1380"/>
              </a:lnSpc>
              <a:spcBef>
                <a:spcPts val="65"/>
              </a:spcBef>
              <a:tabLst>
                <a:tab pos="1921510" algn="l"/>
              </a:tabLst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"IPK</a:t>
            </a:r>
            <a:r>
              <a:rPr sz="1200" dirty="0">
                <a:latin typeface="Times New Roman"/>
                <a:cs typeface="Times New Roman"/>
              </a:rPr>
              <a:t>	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$ipk&lt;br&gt;"; </a:t>
            </a: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"Menyatakan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$nama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$ket";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25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&lt;br&gt;</a:t>
            </a:r>
            <a:endParaRPr sz="1200">
              <a:latin typeface="Times New Roman"/>
              <a:cs typeface="Times New Roman"/>
            </a:endParaRPr>
          </a:p>
          <a:p>
            <a:pPr marL="13081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href=beasiswa_input.php&gt;Kembali&lt;/a&gt;</a:t>
            </a:r>
            <a:endParaRPr sz="1200">
              <a:latin typeface="Times New Roman"/>
              <a:cs typeface="Times New Roman"/>
            </a:endParaRPr>
          </a:p>
          <a:p>
            <a:pPr marL="20701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&lt;/pre&gt;</a:t>
            </a:r>
            <a:endParaRPr sz="1200">
              <a:latin typeface="Times New Roman"/>
              <a:cs typeface="Times New Roman"/>
            </a:endParaRPr>
          </a:p>
          <a:p>
            <a:pPr marL="92710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&lt;/body&gt;&lt;/html&gt;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2207</Words>
  <Application>Microsoft Office PowerPoint</Application>
  <PresentationFormat>Custom</PresentationFormat>
  <Paragraphs>369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2025-02-18T13:43:01Z</dcterms:created>
  <dcterms:modified xsi:type="dcterms:W3CDTF">2025-02-24T07:07:30Z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2025-02-18T00:00:00Z</vt:filetime>
  </property>
  <property fmtid="{D5CDD505-2E9C-101B-9397-08002B2CF9AE}" pid="4" name="Producer">
    <vt:lpwstr>iLovePDF</vt:lpwstr>
  </property>
</Properties>
</file>